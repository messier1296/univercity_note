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0"/>
  <c:style val="2"/>
  <c:chart>
    <c:autoTitleDeleted val="1"/>
    <c:plotArea>
      <c:layout/>
      <c:scatterChart>
        <c:scatterStyle val="lineMarker"/>
        <c:varyColors val="1"/>
        <c:ser>
          <c:idx val="0"/>
          <c:order val="0"/>
          <c:tx>
            <c:v>産業</c:v>
          </c:tx>
          <c:spPr>
            <a:ln w="0">
              <a:noFill/>
              <a:prstDash val="solid"/>
            </a:ln>
          </c:spPr>
          <c:marker>
            <c:symbol val="circle"/>
            <c:size val="7"/>
          </c:marker>
          <c:xVal>
            <c:numLit>
              <c:formatCode>General</c:formatCode>
              <c:ptCount val="17"/>
              <c:pt idx="0">
                <c:v>5.2834899999999996</c:v>
              </c:pt>
              <c:pt idx="1">
                <c:v>5.3455300000000001</c:v>
              </c:pt>
              <c:pt idx="2">
                <c:v>4.8542399999999999</c:v>
              </c:pt>
              <c:pt idx="3">
                <c:v>6.0768500000000003</c:v>
              </c:pt>
              <c:pt idx="4">
                <c:v>6.0494700000000003</c:v>
              </c:pt>
              <c:pt idx="5">
                <c:v>5.4817900000000002</c:v>
              </c:pt>
              <c:pt idx="6">
                <c:v>5.6341099999999997</c:v>
              </c:pt>
              <c:pt idx="7">
                <c:v>5.1128900000000002</c:v>
              </c:pt>
              <c:pt idx="8">
                <c:v>6.0047699999999997</c:v>
              </c:pt>
              <c:pt idx="9">
                <c:v>6.3065899999999999</c:v>
              </c:pt>
              <c:pt idx="10">
                <c:v>6.5282600000000004</c:v>
              </c:pt>
              <c:pt idx="11">
                <c:v>5.7297599999999997</c:v>
              </c:pt>
              <c:pt idx="12">
                <c:v>5.42509</c:v>
              </c:pt>
              <c:pt idx="13">
                <c:v>5.5494899999999996</c:v>
              </c:pt>
              <c:pt idx="14">
                <c:v>4.3246500000000001</c:v>
              </c:pt>
              <c:pt idx="15">
                <c:v>5.13774</c:v>
              </c:pt>
              <c:pt idx="16">
                <c:v>6.5306199999999999</c:v>
              </c:pt>
            </c:numLit>
          </c:xVal>
          <c:yVal>
            <c:numLit>
              <c:formatCode>General</c:formatCode>
              <c:ptCount val="17"/>
              <c:pt idx="0">
                <c:v>3.59273</c:v>
              </c:pt>
              <c:pt idx="1">
                <c:v>3.2887</c:v>
              </c:pt>
              <c:pt idx="2">
                <c:v>3.3963700000000001</c:v>
              </c:pt>
              <c:pt idx="3">
                <c:v>2.8432300000000001</c:v>
              </c:pt>
              <c:pt idx="4">
                <c:v>4.2252299999999998</c:v>
              </c:pt>
              <c:pt idx="5">
                <c:v>3.8902000000000001</c:v>
              </c:pt>
              <c:pt idx="6">
                <c:v>3.7892999999999999</c:v>
              </c:pt>
              <c:pt idx="7">
                <c:v>3.3932199999999999</c:v>
              </c:pt>
              <c:pt idx="8">
                <c:v>3.9534199999999999</c:v>
              </c:pt>
              <c:pt idx="9">
                <c:v>4.6186699999999998</c:v>
              </c:pt>
              <c:pt idx="10">
                <c:v>4.3046800000000003</c:v>
              </c:pt>
              <c:pt idx="11">
                <c:v>4.0836800000000002</c:v>
              </c:pt>
              <c:pt idx="12">
                <c:v>4.1643499999999998</c:v>
              </c:pt>
              <c:pt idx="13">
                <c:v>3.4807299999999999</c:v>
              </c:pt>
              <c:pt idx="14">
                <c:v>2.7902900000000002</c:v>
              </c:pt>
              <c:pt idx="15">
                <c:v>4.3779599999999999</c:v>
              </c:pt>
              <c:pt idx="16">
                <c:v>3.9294699999999998</c:v>
              </c:pt>
            </c:numLit>
          </c:yVal>
          <c:smooth val="1"/>
          <c:extLst>
            <c:ext xmlns:c16="http://schemas.microsoft.com/office/drawing/2014/chart" uri="{C3380CC4-5D6E-409C-BE32-E72D297353CC}">
              <c16:uniqueId val="{00000000-368C-424A-A896-6077B20FABB5}"/>
            </c:ext>
          </c:extLst>
        </c:ser>
        <c:ser>
          <c:idx val="1"/>
          <c:order val="1"/>
          <c:tx>
            <c:v>回帰直線</c:v>
          </c:tx>
          <c:spPr>
            <a:ln w="28575">
              <a:solidFill>
                <a:srgbClr val="D9472B"/>
              </a:solidFill>
              <a:prstDash val="solid"/>
            </a:ln>
          </c:spPr>
          <c:marker>
            <c:symbol val="none"/>
          </c:marker>
          <c:xVal>
            <c:numLit>
              <c:formatCode>General</c:formatCode>
              <c:ptCount val="2"/>
              <c:pt idx="0">
                <c:v>4.32</c:v>
              </c:pt>
              <c:pt idx="1">
                <c:v>6.54</c:v>
              </c:pt>
            </c:numLit>
          </c:xVal>
          <c:yVal>
            <c:numLit>
              <c:formatCode>General</c:formatCode>
              <c:ptCount val="2"/>
              <c:pt idx="0">
                <c:v>3.167179863126484</c:v>
              </c:pt>
              <c:pt idx="1">
                <c:v>4.2076006788443046</c:v>
              </c:pt>
            </c:numLit>
          </c:yVal>
          <c:smooth val="1"/>
          <c:extLst>
            <c:ext xmlns:c16="http://schemas.microsoft.com/office/drawing/2014/chart" uri="{C3380CC4-5D6E-409C-BE32-E72D297353CC}">
              <c16:uniqueId val="{00000001-368C-424A-A896-6077B20FABB5}"/>
            </c:ext>
          </c:extLst>
        </c:ser>
        <c:dLbls>
          <c:showLegendKey val="0"/>
          <c:showVal val="0"/>
          <c:showCatName val="0"/>
          <c:showSerName val="0"/>
          <c:showPercent val="0"/>
          <c:showBubbleSize val="0"/>
        </c:dLbls>
        <c:axId val="48650112"/>
        <c:axId val="48672768"/>
      </c:scatterChart>
      <c:valAx>
        <c:axId val="48672768"/>
        <c:scaling>
          <c:orientation val="minMax"/>
          <c:max val="4.75"/>
          <c:min val="2.7"/>
        </c:scaling>
        <c:delete val="0"/>
        <c:axPos val="l"/>
        <c:majorGridlines>
          <c:spPr>
            <a:ln w="9525">
              <a:solidFill>
                <a:srgbClr val="E2E6EC"/>
              </a:solidFill>
              <a:prstDash val="solid"/>
            </a:ln>
          </c:spPr>
        </c:majorGridlines>
        <c:title>
          <c:tx>
            <c:rich>
              <a:bodyPr/>
              <a:lstStyle/>
              <a:p>
                <a:r>
                  <a:rPr lang="en-US" altLang="zh-CN" sz="1050">
                    <a:solidFill>
                      <a:srgbClr val="4B5563"/>
                    </a:solidFill>
                  </a:rPr>
                  <a:t>log10(</a:t>
                </a:r>
                <a:r>
                  <a:rPr lang="zh-CN" altLang="en-US" sz="1050">
                    <a:solidFill>
                      <a:srgbClr val="4B5563"/>
                    </a:solidFill>
                  </a:rPr>
                  <a:t>国内特許出願件数</a:t>
                </a:r>
                <a:r>
                  <a:rPr lang="en-US" altLang="zh-CN" sz="1050">
                    <a:solidFill>
                      <a:srgbClr val="4B5563"/>
                    </a:solidFill>
                  </a:rPr>
                  <a:t>)</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00">
                <a:solidFill>
                  <a:srgbClr val="4B5563"/>
                </a:solidFill>
              </a:defRPr>
            </a:pPr>
            <a:endParaRPr lang="ja-JP"/>
          </a:p>
        </c:txPr>
        <c:crossAx val="48650112"/>
        <c:crosses val="autoZero"/>
        <c:crossBetween val="midCat"/>
      </c:valAx>
      <c:valAx>
        <c:axId val="48650112"/>
        <c:scaling>
          <c:orientation val="minMax"/>
        </c:scaling>
        <c:delete val="0"/>
        <c:axPos val="b"/>
        <c:majorGridlines>
          <c:spPr>
            <a:ln w="9525">
              <a:solidFill>
                <a:srgbClr val="E2E6EC"/>
              </a:solidFill>
              <a:prstDash val="solid"/>
            </a:ln>
          </c:spPr>
        </c:majorGridlines>
        <c:title>
          <c:tx>
            <c:rich>
              <a:bodyPr/>
              <a:lstStyle/>
              <a:p>
                <a:r>
                  <a:rPr lang="en-US" sz="1050">
                    <a:solidFill>
                      <a:srgbClr val="4B5563"/>
                    </a:solidFill>
                  </a:rPr>
                  <a:t>log10(</a:t>
                </a:r>
                <a:r>
                  <a:rPr lang="ja-JP" altLang="en-US" sz="1050">
                    <a:solidFill>
                      <a:srgbClr val="4B5563"/>
                    </a:solidFill>
                  </a:rPr>
                  <a:t>研究費</a:t>
                </a:r>
                <a:r>
                  <a:rPr lang="en-US" altLang="ja-JP" sz="1050">
                    <a:solidFill>
                      <a:srgbClr val="4B5563"/>
                    </a:solidFill>
                  </a:rPr>
                  <a:t>)</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00">
                <a:solidFill>
                  <a:srgbClr val="4B5563"/>
                </a:solidFill>
              </a:defRPr>
            </a:pPr>
            <a:endParaRPr lang="ja-JP"/>
          </a:p>
        </c:txPr>
        <c:crossAx val="48672768"/>
        <c:crosses val="autoZero"/>
        <c:crossBetween val="midCat"/>
      </c:valAx>
    </c:plotArea>
    <c:plotVisOnly val="1"/>
    <c:dispBlanksAs val="zero"/>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0"/>
  <c:style val="2"/>
  <c:chart>
    <c:autoTitleDeleted val="1"/>
    <c:plotArea>
      <c:layout/>
      <c:barChart>
        <c:barDir val="bar"/>
        <c:grouping val="clustered"/>
        <c:varyColors val="0"/>
        <c:ser>
          <c:idx val="0"/>
          <c:order val="0"/>
          <c:tx>
            <c:v>研究費1億円あたり出願件数</c:v>
          </c:tx>
          <c:spPr>
            <a:solidFill>
              <a:srgbClr val="2F8F6F"/>
            </a:solidFill>
          </c:spPr>
          <c:invertIfNegative val="1"/>
          <c:dLbls>
            <c:delete val="1"/>
          </c:dLbls>
          <c:cat>
            <c:strLit>
              <c:ptCount val="8"/>
              <c:pt idx="0">
                <c:v>その他の非製造業</c:v>
              </c:pt>
              <c:pt idx="1">
                <c:v>その他の製造業</c:v>
              </c:pt>
              <c:pt idx="2">
                <c:v>繊維・パルプ・紙</c:v>
              </c:pt>
              <c:pt idx="3">
                <c:v>電気機械</c:v>
              </c:pt>
              <c:pt idx="4">
                <c:v>化学工業</c:v>
              </c:pt>
              <c:pt idx="5">
                <c:v>輸送機械</c:v>
              </c:pt>
              <c:pt idx="6">
                <c:v>教育・TLO等</c:v>
              </c:pt>
              <c:pt idx="7">
                <c:v>医薬品</c:v>
              </c:pt>
            </c:strLit>
          </c:cat>
          <c:val>
            <c:numLit>
              <c:formatCode>General</c:formatCode>
              <c:ptCount val="8"/>
              <c:pt idx="0">
                <c:v>17.39</c:v>
              </c:pt>
              <c:pt idx="1">
                <c:v>5.49</c:v>
              </c:pt>
              <c:pt idx="2">
                <c:v>3.48</c:v>
              </c:pt>
              <c:pt idx="3">
                <c:v>2.0499999999999998</c:v>
              </c:pt>
              <c:pt idx="4">
                <c:v>1.5</c:v>
              </c:pt>
              <c:pt idx="5">
                <c:v>0.6</c:v>
              </c:pt>
              <c:pt idx="6">
                <c:v>0.25</c:v>
              </c:pt>
              <c:pt idx="7">
                <c:v>0.06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7BC-4933-BA22-D5CA29E023AB}"/>
            </c:ext>
          </c:extLst>
        </c:ser>
        <c:dLbls>
          <c:dLblPos val="outEnd"/>
          <c:showLegendKey val="0"/>
          <c:showVal val="1"/>
          <c:showCatName val="0"/>
          <c:showSerName val="0"/>
          <c:showPercent val="0"/>
          <c:showBubbleSize val="0"/>
        </c:dLbls>
        <c:gapWidth val="35"/>
        <c:axId val="48650112"/>
        <c:axId val="48672768"/>
      </c:barChart>
      <c:catAx>
        <c:axId val="48650112"/>
        <c:scaling>
          <c:orientation val="minMax"/>
        </c:scaling>
        <c:delete val="0"/>
        <c:axPos val="l"/>
        <c:majorGridlines>
          <c:spPr>
            <a:ln w="9525">
              <a:solidFill>
                <a:srgbClr val="E2E6EC"/>
              </a:solidFill>
              <a:prstDash val="solid"/>
            </a:ln>
          </c:spPr>
        </c:majorGridlines>
        <c:title>
          <c:tx>
            <c:rich>
              <a:bodyPr/>
              <a:lstStyle/>
              <a:p>
                <a:r>
                  <a:rPr lang="ja-JP" altLang="en-US" sz="975">
                    <a:solidFill>
                      <a:srgbClr val="4B5563"/>
                    </a:solidFill>
                  </a:rPr>
                  <a:t>研究費</a:t>
                </a:r>
                <a:r>
                  <a:rPr lang="en-US" altLang="ja-JP" sz="975">
                    <a:solidFill>
                      <a:srgbClr val="4B5563"/>
                    </a:solidFill>
                  </a:rPr>
                  <a:t>1</a:t>
                </a:r>
                <a:r>
                  <a:rPr lang="ja-JP" altLang="en-US" sz="975">
                    <a:solidFill>
                      <a:srgbClr val="4B5563"/>
                    </a:solidFill>
                  </a:rPr>
                  <a:t>億円あたりの国内特許出願件数</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825">
                <a:solidFill>
                  <a:srgbClr val="4B5563"/>
                </a:solidFill>
              </a:defRPr>
            </a:pPr>
            <a:endParaRPr lang="ja-JP"/>
          </a:p>
        </c:txPr>
        <c:crossAx val="48672768"/>
        <c:crosses val="autoZero"/>
        <c:auto val="1"/>
        <c:lblAlgn val="ctr"/>
        <c:lblOffset val="100"/>
        <c:noMultiLvlLbl val="0"/>
      </c:catAx>
      <c:valAx>
        <c:axId val="48672768"/>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111827"/>
                </a:solidFill>
              </a:defRPr>
            </a:pPr>
            <a:endParaRPr lang="ja-JP"/>
          </a:p>
        </c:txPr>
        <c:crossAx val="48650112"/>
        <c:crosses val="autoZero"/>
        <c:crossBetween val="between"/>
      </c:valAx>
    </c:plotArea>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これから、産業別にみた研究開発費と特許出願数の関係について発表します。</a:t>
            </a:r>
          </a:p>
          <a:p>
            <a:r>
              <a:t>テーマは、研究開発投資は特許出願数をどの程度説明するか、です。</a:t>
            </a:r>
          </a:p>
          <a:p>
            <a:r>
              <a:t>分析では、特許庁の知的財産活動調査を使い、産業別の研究費と国内特許出願件数を比較しました。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先行研究では、研究開発と特許には正の関係があるとされています。</a:t>
            </a:r>
          </a:p>
          <a:p>
            <a:r>
              <a:t>ただし、特許出願数は研究開発成果を完全に表すものではありません。</a:t>
            </a:r>
          </a:p>
          <a:p>
            <a:r>
              <a:t>産業によって、特許を重視する程度や、成果が特許になるまでの時間差が違います。</a:t>
            </a:r>
          </a:p>
          <a:p>
            <a:r>
              <a:t>そこで本分析では、日本の産業別データを使って、研究費だけで特許出願数をどこまで説明できるかを調べました。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データは、特許庁の令和7年度知的財産活動調査です。</a:t>
            </a:r>
          </a:p>
          <a:p>
            <a:r>
              <a:t>研究費と国内特許出願件数を、同じ業種分類で取れる点がこのデータの利点です。</a:t>
            </a:r>
          </a:p>
          <a:p>
            <a:r>
              <a:t>全体と、研究費が欠損していた個人・その他を除き、17産業を分析対象にしました。</a:t>
            </a:r>
          </a:p>
          <a:p>
            <a:r>
              <a:t>産業間では規模差が大きいため、主要分析では研究費と特許出願件数を常用対数に変換して単回帰分析を行いました。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結果です。対数変換後の単回帰では、決定係数は .286、p値は .027 でした。</a:t>
            </a:r>
          </a:p>
          <a:p>
            <a:r>
              <a:t>したがって、研究費は国内特許出願件数を有意に説明していました。</a:t>
            </a:r>
          </a:p>
          <a:p>
            <a:r>
              <a:t>ただし、説明できたのは約29%です。残りの約71%は研究費以外の要因によると考えられます。</a:t>
            </a:r>
          </a:p>
          <a:p>
            <a:r>
              <a:t>また、回帰係数から見ると、研究費が10倍の産業でも、特許出願件数は平均して約2.94倍です。つまり比例的に増えるわけではありません。</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次に産業差です。研究費1億円あたりの出願件数を見ると、その他の非製造業が非常に高く、医薬品や教育・TLO等は低くなりました。</a:t>
            </a:r>
          </a:p>
          <a:p>
            <a:r>
              <a:t>回帰モデルの予測値から見ても、電気機械製造業やその他の製造業は予測より出願件数が多く、医薬品製造業は大幅に少ない結果でした。</a:t>
            </a:r>
          </a:p>
          <a:p>
            <a:r>
              <a:t>これは、産業によって特許出願の戦略や、研究開発成果が特許になるまでの時間が違うためだと考えられます。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まとめです。第一に、研究開発費は国内特許出願件数を有意に説明しました。</a:t>
            </a:r>
          </a:p>
          <a:p>
            <a:r>
              <a:t>第二に、決定係数は約29%であり、研究費だけで十分に説明できるわけではありません。</a:t>
            </a:r>
          </a:p>
          <a:p>
            <a:r>
              <a:t>第三に、特許出願数を理解するには、産業ごとの技術特性や知的財産戦略を合わせて見る必要があります。</a:t>
            </a:r>
          </a:p>
          <a:p>
            <a:r>
              <a:t>今後は、企業単位のデータや複数年データを使い、研究開発から特許出願までの時間差や、特許の質も考慮した分析が必要です。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555FED8D-662B-4C41-8532-1B331F60DA72}"/>
              </a:ext>
            </a:extLst>
          </p:cNvPr>
          <p:cNvSpPr>
            <a:spLocks noGrp="1"/>
          </p:cNvSpPr>
          <p:nvPr/>
        </p:nvSpPr>
        <p:spPr>
          <a:xfrm>
            <a:off x="400050" y="400050"/>
            <a:ext cx="2857500" cy="381000"/>
          </a:xfrm>
          <a:prstGeom prst="rect">
            <a:avLst/>
          </a:prstGeom>
          <a:noFill/>
          <a:ln w="0">
            <a:noFill/>
            <a:prstDash val="solid"/>
          </a:ln>
        </p:spPr>
        <p:txBody>
          <a:bodyPr/>
          <a:lstStyle/>
          <a:p>
            <a:pPr algn="l">
              <a:defRPr sz="1800" b="0">
                <a:solidFill>
                  <a:srgbClr val="4B5563"/>
                </a:solidFill>
              </a:defRPr>
            </a:pPr>
            <a:r>
              <a:rPr sz="1800" b="0">
                <a:solidFill>
                  <a:srgbClr val="4B5563"/>
                </a:solidFill>
              </a:rPr>
              <a:t>Final report</a:t>
            </a:r>
          </a:p>
        </p:txBody>
      </p:sp>
      <p:sp>
        <p:nvSpPr>
          <p:cNvPr id="2" name="正方形/長方形 1">
            <a:extLst>
              <a:ext uri="{FF2B5EF4-FFF2-40B4-BE49-F238E27FC236}">
                <a16:creationId xmlns:a16="http://schemas.microsoft.com/office/drawing/2014/main" id="{74AB53C2-EA3A-4CBD-903B-BB258DE29687}"/>
              </a:ext>
            </a:extLst>
          </p:cNvPr>
          <p:cNvSpPr>
            <a:spLocks noGrp="1"/>
          </p:cNvSpPr>
          <p:nvPr/>
        </p:nvSpPr>
        <p:spPr>
          <a:xfrm>
            <a:off x="8191500" y="400050"/>
            <a:ext cx="3600450" cy="381000"/>
          </a:xfrm>
          <a:prstGeom prst="rect">
            <a:avLst/>
          </a:prstGeom>
          <a:noFill/>
          <a:ln w="0">
            <a:noFill/>
            <a:prstDash val="solid"/>
          </a:ln>
        </p:spPr>
        <p:txBody>
          <a:bodyPr/>
          <a:lstStyle/>
          <a:p>
            <a:pPr algn="r">
              <a:defRPr sz="1650" b="0">
                <a:solidFill>
                  <a:srgbClr val="4B5563"/>
                </a:solidFill>
              </a:defRPr>
            </a:pPr>
            <a:r>
              <a:rPr sz="1650" b="0">
                <a:solidFill>
                  <a:srgbClr val="4B5563"/>
                </a:solidFill>
              </a:rPr>
              <a:t>202410178　今村隼人</a:t>
            </a:r>
          </a:p>
        </p:txBody>
      </p:sp>
      <p:sp>
        <p:nvSpPr>
          <p:cNvPr id="3" name="正方形/長方形 2">
            <a:extLst>
              <a:ext uri="{FF2B5EF4-FFF2-40B4-BE49-F238E27FC236}">
                <a16:creationId xmlns:a16="http://schemas.microsoft.com/office/drawing/2014/main" id="{A5450027-4DEB-4992-88B3-FA3F1562A570}"/>
              </a:ext>
            </a:extLst>
          </p:cNvPr>
          <p:cNvSpPr>
            <a:spLocks noGrp="1"/>
          </p:cNvSpPr>
          <p:nvPr/>
        </p:nvSpPr>
        <p:spPr>
          <a:xfrm>
            <a:off x="400050" y="1952625"/>
            <a:ext cx="8572500" cy="2381250"/>
          </a:xfrm>
          <a:prstGeom prst="rect">
            <a:avLst/>
          </a:prstGeom>
          <a:noFill/>
          <a:ln w="0">
            <a:noFill/>
            <a:prstDash val="solid"/>
          </a:ln>
        </p:spPr>
        <p:txBody>
          <a:bodyPr/>
          <a:lstStyle/>
          <a:p>
            <a:pPr algn="l">
              <a:defRPr sz="4350" b="1">
                <a:solidFill>
                  <a:srgbClr val="111827"/>
                </a:solidFill>
              </a:defRPr>
            </a:pPr>
            <a:r>
              <a:rPr sz="4350" b="1">
                <a:solidFill>
                  <a:srgbClr val="111827"/>
                </a:solidFill>
              </a:rPr>
              <a:t>産業別にみた</a:t>
            </a:r>
          </a:p>
          <a:p>
            <a:pPr algn="l">
              <a:defRPr sz="4350" b="1">
                <a:solidFill>
                  <a:srgbClr val="111827"/>
                </a:solidFill>
              </a:defRPr>
            </a:pPr>
            <a:r>
              <a:rPr sz="4350" b="1">
                <a:solidFill>
                  <a:srgbClr val="111827"/>
                </a:solidFill>
              </a:rPr>
              <a:t>研究開発費と</a:t>
            </a:r>
          </a:p>
          <a:p>
            <a:pPr algn="l">
              <a:defRPr sz="4350" b="1">
                <a:solidFill>
                  <a:srgbClr val="111827"/>
                </a:solidFill>
              </a:defRPr>
            </a:pPr>
            <a:r>
              <a:rPr sz="4350" b="1">
                <a:solidFill>
                  <a:srgbClr val="111827"/>
                </a:solidFill>
              </a:rPr>
              <a:t>特許出願数の関係</a:t>
            </a:r>
          </a:p>
        </p:txBody>
      </p:sp>
      <p:sp>
        <p:nvSpPr>
          <p:cNvPr id="4" name="正方形/長方形 3">
            <a:extLst>
              <a:ext uri="{FF2B5EF4-FFF2-40B4-BE49-F238E27FC236}">
                <a16:creationId xmlns:a16="http://schemas.microsoft.com/office/drawing/2014/main" id="{C36506AD-370B-4652-AC00-521B7C659E4D}"/>
              </a:ext>
            </a:extLst>
          </p:cNvPr>
          <p:cNvSpPr>
            <a:spLocks noGrp="1"/>
          </p:cNvSpPr>
          <p:nvPr/>
        </p:nvSpPr>
        <p:spPr>
          <a:xfrm>
            <a:off x="400050" y="4953000"/>
            <a:ext cx="7239000" cy="438150"/>
          </a:xfrm>
          <a:prstGeom prst="rect">
            <a:avLst/>
          </a:prstGeom>
          <a:noFill/>
          <a:ln w="0">
            <a:noFill/>
            <a:prstDash val="solid"/>
          </a:ln>
        </p:spPr>
        <p:txBody>
          <a:bodyPr/>
          <a:lstStyle/>
          <a:p>
            <a:pPr algn="l">
              <a:defRPr sz="1950" b="0">
                <a:solidFill>
                  <a:srgbClr val="4B5563"/>
                </a:solidFill>
              </a:defRPr>
            </a:pPr>
            <a:r>
              <a:rPr sz="1950" b="0">
                <a:solidFill>
                  <a:srgbClr val="4B5563"/>
                </a:solidFill>
              </a:rPr>
              <a:t>研究開発投資は特許出願数をどの程度説明するか</a:t>
            </a:r>
          </a:p>
        </p:txBody>
      </p:sp>
      <p:sp>
        <p:nvSpPr>
          <p:cNvPr id="5" name="正方形/長方形 4">
            <a:extLst>
              <a:ext uri="{FF2B5EF4-FFF2-40B4-BE49-F238E27FC236}">
                <a16:creationId xmlns:a16="http://schemas.microsoft.com/office/drawing/2014/main" id="{88DE34E2-804B-4F42-A293-0860D516B588}"/>
              </a:ext>
            </a:extLst>
          </p:cNvPr>
          <p:cNvSpPr>
            <a:spLocks noGrp="1"/>
          </p:cNvSpPr>
          <p:nvPr/>
        </p:nvSpPr>
        <p:spPr>
          <a:xfrm>
            <a:off x="9429750" y="2114550"/>
            <a:ext cx="1466850" cy="1466850"/>
          </a:xfrm>
          <a:prstGeom prst="rect">
            <a:avLst/>
          </a:prstGeom>
          <a:solidFill>
            <a:srgbClr val="EEF0F2"/>
          </a:solidFill>
          <a:ln w="0">
            <a:noFill/>
            <a:prstDash val="solid"/>
          </a:ln>
        </p:spPr>
        <p:txBody>
          <a:bodyPr/>
          <a:lstStyle/>
          <a:p>
            <a:endParaRPr lang="ja-JP" altLang="en-US"/>
          </a:p>
        </p:txBody>
      </p:sp>
      <p:sp>
        <p:nvSpPr>
          <p:cNvPr id="6" name="正方形/長方形 5">
            <a:extLst>
              <a:ext uri="{FF2B5EF4-FFF2-40B4-BE49-F238E27FC236}">
                <a16:creationId xmlns:a16="http://schemas.microsoft.com/office/drawing/2014/main" id="{67E49BBA-D2C7-49F8-82A4-9E89EE99ECA6}"/>
              </a:ext>
            </a:extLst>
          </p:cNvPr>
          <p:cNvSpPr>
            <a:spLocks noGrp="1"/>
          </p:cNvSpPr>
          <p:nvPr/>
        </p:nvSpPr>
        <p:spPr>
          <a:xfrm>
            <a:off x="9658350" y="2514600"/>
            <a:ext cx="1047750" cy="400050"/>
          </a:xfrm>
          <a:prstGeom prst="rect">
            <a:avLst/>
          </a:prstGeom>
          <a:noFill/>
          <a:ln w="0">
            <a:noFill/>
            <a:prstDash val="solid"/>
          </a:ln>
        </p:spPr>
        <p:txBody>
          <a:bodyPr/>
          <a:lstStyle/>
          <a:p>
            <a:pPr algn="ctr">
              <a:defRPr sz="2250" b="1">
                <a:solidFill>
                  <a:srgbClr val="111827"/>
                </a:solidFill>
              </a:defRPr>
            </a:pPr>
            <a:r>
              <a:rPr sz="2250" b="1">
                <a:solidFill>
                  <a:srgbClr val="111827"/>
                </a:solidFill>
              </a:rPr>
              <a:t>R&amp;D</a:t>
            </a:r>
          </a:p>
        </p:txBody>
      </p:sp>
      <p:sp>
        <p:nvSpPr>
          <p:cNvPr id="7" name="正方形/長方形 6">
            <a:extLst>
              <a:ext uri="{FF2B5EF4-FFF2-40B4-BE49-F238E27FC236}">
                <a16:creationId xmlns:a16="http://schemas.microsoft.com/office/drawing/2014/main" id="{990269A4-6968-42EA-A558-E4E6059219BC}"/>
              </a:ext>
            </a:extLst>
          </p:cNvPr>
          <p:cNvSpPr>
            <a:spLocks noGrp="1"/>
          </p:cNvSpPr>
          <p:nvPr/>
        </p:nvSpPr>
        <p:spPr>
          <a:xfrm>
            <a:off x="9858375" y="3238500"/>
            <a:ext cx="666750" cy="438150"/>
          </a:xfrm>
          <a:prstGeom prst="rect">
            <a:avLst/>
          </a:prstGeom>
          <a:noFill/>
          <a:ln w="0">
            <a:noFill/>
            <a:prstDash val="solid"/>
          </a:ln>
        </p:spPr>
        <p:txBody>
          <a:bodyPr/>
          <a:lstStyle/>
          <a:p>
            <a:pPr algn="ctr">
              <a:defRPr sz="3150" b="0">
                <a:solidFill>
                  <a:srgbClr val="D9472B"/>
                </a:solidFill>
              </a:defRPr>
            </a:pPr>
            <a:r>
              <a:rPr sz="3150" b="0">
                <a:solidFill>
                  <a:srgbClr val="D9472B"/>
                </a:solidFill>
              </a:rPr>
              <a:t>→</a:t>
            </a:r>
          </a:p>
        </p:txBody>
      </p:sp>
      <p:sp>
        <p:nvSpPr>
          <p:cNvPr id="8" name="正方形/長方形 7">
            <a:extLst>
              <a:ext uri="{FF2B5EF4-FFF2-40B4-BE49-F238E27FC236}">
                <a16:creationId xmlns:a16="http://schemas.microsoft.com/office/drawing/2014/main" id="{C6E5523C-4670-4C24-8487-1566C421AE95}"/>
              </a:ext>
            </a:extLst>
          </p:cNvPr>
          <p:cNvSpPr>
            <a:spLocks noGrp="1"/>
          </p:cNvSpPr>
          <p:nvPr/>
        </p:nvSpPr>
        <p:spPr>
          <a:xfrm>
            <a:off x="9429750" y="3924300"/>
            <a:ext cx="1466850" cy="1466850"/>
          </a:xfrm>
          <a:prstGeom prst="rect">
            <a:avLst/>
          </a:prstGeom>
          <a:solidFill>
            <a:srgbClr val="EEF0F2"/>
          </a:solidFill>
          <a:ln w="0">
            <a:noFill/>
            <a:prstDash val="solid"/>
          </a:ln>
        </p:spPr>
        <p:txBody>
          <a:bodyPr/>
          <a:lstStyle/>
          <a:p>
            <a:endParaRPr lang="ja-JP" altLang="en-US"/>
          </a:p>
        </p:txBody>
      </p:sp>
      <p:sp>
        <p:nvSpPr>
          <p:cNvPr id="9" name="正方形/長方形 8">
            <a:extLst>
              <a:ext uri="{FF2B5EF4-FFF2-40B4-BE49-F238E27FC236}">
                <a16:creationId xmlns:a16="http://schemas.microsoft.com/office/drawing/2014/main" id="{F8A06354-940A-410E-9CE4-111AE354893E}"/>
              </a:ext>
            </a:extLst>
          </p:cNvPr>
          <p:cNvSpPr>
            <a:spLocks noGrp="1"/>
          </p:cNvSpPr>
          <p:nvPr/>
        </p:nvSpPr>
        <p:spPr>
          <a:xfrm>
            <a:off x="9572625" y="4324350"/>
            <a:ext cx="1181100" cy="400050"/>
          </a:xfrm>
          <a:prstGeom prst="rect">
            <a:avLst/>
          </a:prstGeom>
          <a:noFill/>
          <a:ln w="0">
            <a:noFill/>
            <a:prstDash val="solid"/>
          </a:ln>
        </p:spPr>
        <p:txBody>
          <a:bodyPr/>
          <a:lstStyle/>
          <a:p>
            <a:pPr algn="ctr">
              <a:defRPr sz="2100" b="1">
                <a:solidFill>
                  <a:srgbClr val="111827"/>
                </a:solidFill>
              </a:defRPr>
            </a:pPr>
            <a:r>
              <a:rPr sz="2100" b="1">
                <a:solidFill>
                  <a:srgbClr val="111827"/>
                </a:solidFill>
              </a:rPr>
              <a:t>Patent</a:t>
            </a:r>
          </a:p>
        </p:txBody>
      </p:sp>
      <p:sp>
        <p:nvSpPr>
          <p:cNvPr id="10" name="正方形/長方形 9">
            <a:extLst>
              <a:ext uri="{FF2B5EF4-FFF2-40B4-BE49-F238E27FC236}">
                <a16:creationId xmlns:a16="http://schemas.microsoft.com/office/drawing/2014/main" id="{E0677F3A-228C-4552-9043-42D263EBAB3A}"/>
              </a:ext>
            </a:extLst>
          </p:cNvPr>
          <p:cNvSpPr>
            <a:spLocks noGrp="1"/>
          </p:cNvSpPr>
          <p:nvPr/>
        </p:nvSpPr>
        <p:spPr>
          <a:xfrm>
            <a:off x="400050" y="6286500"/>
            <a:ext cx="4095750" cy="266700"/>
          </a:xfrm>
          <a:prstGeom prst="rect">
            <a:avLst/>
          </a:prstGeom>
          <a:noFill/>
          <a:ln w="0">
            <a:noFill/>
            <a:prstDash val="solid"/>
          </a:ln>
        </p:spPr>
        <p:txBody>
          <a:bodyPr/>
          <a:lstStyle/>
          <a:p>
            <a:pPr algn="l">
              <a:defRPr sz="1125" b="0">
                <a:solidFill>
                  <a:srgbClr val="8A94A6"/>
                </a:solidFill>
              </a:defRPr>
            </a:pPr>
            <a:r>
              <a:rPr sz="1125" b="0">
                <a:solidFill>
                  <a:srgbClr val="8A94A6"/>
                </a:solidFill>
              </a:rPr>
              <a:t>戦略行動システム演習 最終レポート</a:t>
            </a:r>
          </a:p>
        </p:txBody>
      </p:sp>
      <p:sp>
        <p:nvSpPr>
          <p:cNvPr id="11" name="正方形/長方形 10">
            <a:extLst>
              <a:ext uri="{FF2B5EF4-FFF2-40B4-BE49-F238E27FC236}">
                <a16:creationId xmlns:a16="http://schemas.microsoft.com/office/drawing/2014/main" id="{548F678B-69EF-4443-85B6-8E41FD3B6771}"/>
              </a:ext>
            </a:extLst>
          </p:cNvPr>
          <p:cNvSpPr>
            <a:spLocks noGrp="1"/>
          </p:cNvSpPr>
          <p:nvPr/>
        </p:nvSpPr>
        <p:spPr>
          <a:xfrm>
            <a:off x="11201400" y="6286500"/>
            <a:ext cx="590550" cy="266700"/>
          </a:xfrm>
          <a:prstGeom prst="rect">
            <a:avLst/>
          </a:prstGeom>
          <a:noFill/>
          <a:ln w="0">
            <a:noFill/>
            <a:prstDash val="solid"/>
          </a:ln>
        </p:spPr>
        <p:txBody>
          <a:bodyPr/>
          <a:lstStyle/>
          <a:p>
            <a:pPr algn="r">
              <a:defRPr sz="1125" b="0">
                <a:solidFill>
                  <a:srgbClr val="8A94A6"/>
                </a:solidFill>
              </a:defRPr>
            </a:pPr>
            <a:r>
              <a:rPr sz="1125" b="0">
                <a:solidFill>
                  <a:srgbClr val="8A94A6"/>
                </a:solidFill>
              </a:rPr>
              <a:t>1</a:t>
            </a:r>
          </a:p>
        </p:txBody>
      </p:sp>
    </p:spTree>
    <p:extLst>
      <p:ext uri="{BB962C8B-B14F-4D97-AF65-F5344CB8AC3E}">
        <p14:creationId xmlns:p14="http://schemas.microsoft.com/office/powerpoint/2010/main" val="590305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21F39538-6806-4612-92B8-9CA581705A97}"/>
              </a:ext>
            </a:extLst>
          </p:cNvPr>
          <p:cNvSpPr>
            <a:spLocks noGrp="1"/>
          </p:cNvSpPr>
          <p:nvPr/>
        </p:nvSpPr>
        <p:spPr>
          <a:xfrm>
            <a:off x="400050" y="361950"/>
            <a:ext cx="8191500" cy="533400"/>
          </a:xfrm>
          <a:prstGeom prst="rect">
            <a:avLst/>
          </a:prstGeom>
          <a:noFill/>
          <a:ln w="0">
            <a:noFill/>
            <a:prstDash val="solid"/>
          </a:ln>
        </p:spPr>
        <p:txBody>
          <a:bodyPr/>
          <a:lstStyle/>
          <a:p>
            <a:pPr algn="l">
              <a:defRPr sz="3000" b="1">
                <a:solidFill>
                  <a:srgbClr val="111827"/>
                </a:solidFill>
              </a:defRPr>
            </a:pPr>
            <a:r>
              <a:rPr sz="3000" b="1">
                <a:solidFill>
                  <a:srgbClr val="111827"/>
                </a:solidFill>
              </a:rPr>
              <a:t>研究の問い</a:t>
            </a:r>
          </a:p>
        </p:txBody>
      </p:sp>
      <p:sp>
        <p:nvSpPr>
          <p:cNvPr id="2" name="正方形/長方形 1">
            <a:extLst>
              <a:ext uri="{FF2B5EF4-FFF2-40B4-BE49-F238E27FC236}">
                <a16:creationId xmlns:a16="http://schemas.microsoft.com/office/drawing/2014/main" id="{793D8E30-7F56-4E5E-A402-EE6EA7E8C998}"/>
              </a:ext>
            </a:extLst>
          </p:cNvPr>
          <p:cNvSpPr>
            <a:spLocks noGrp="1"/>
          </p:cNvSpPr>
          <p:nvPr/>
        </p:nvSpPr>
        <p:spPr>
          <a:xfrm>
            <a:off x="400050" y="990600"/>
            <a:ext cx="8953500" cy="400050"/>
          </a:xfrm>
          <a:prstGeom prst="rect">
            <a:avLst/>
          </a:prstGeom>
          <a:noFill/>
          <a:ln w="0">
            <a:noFill/>
            <a:prstDash val="solid"/>
          </a:ln>
        </p:spPr>
        <p:txBody>
          <a:bodyPr/>
          <a:lstStyle/>
          <a:p>
            <a:pPr algn="l">
              <a:defRPr sz="1500" b="0">
                <a:solidFill>
                  <a:srgbClr val="4B5563"/>
                </a:solidFill>
              </a:defRPr>
            </a:pPr>
            <a:r>
              <a:rPr sz="1500" b="0">
                <a:solidFill>
                  <a:srgbClr val="4B5563"/>
                </a:solidFill>
              </a:rPr>
              <a:t>研究費が多い産業ほど、特許出願も多いのか</a:t>
            </a:r>
          </a:p>
        </p:txBody>
      </p:sp>
      <p:sp>
        <p:nvSpPr>
          <p:cNvPr id="3" name="正方形/長方形 2">
            <a:extLst>
              <a:ext uri="{FF2B5EF4-FFF2-40B4-BE49-F238E27FC236}">
                <a16:creationId xmlns:a16="http://schemas.microsoft.com/office/drawing/2014/main" id="{6ED5DE2A-F623-40F1-B1BB-EA2958311434}"/>
              </a:ext>
            </a:extLst>
          </p:cNvPr>
          <p:cNvSpPr>
            <a:spLocks noGrp="1"/>
          </p:cNvSpPr>
          <p:nvPr/>
        </p:nvSpPr>
        <p:spPr>
          <a:xfrm>
            <a:off x="400050" y="6286500"/>
            <a:ext cx="4095750" cy="266700"/>
          </a:xfrm>
          <a:prstGeom prst="rect">
            <a:avLst/>
          </a:prstGeom>
          <a:noFill/>
          <a:ln w="0">
            <a:noFill/>
            <a:prstDash val="solid"/>
          </a:ln>
        </p:spPr>
        <p:txBody>
          <a:bodyPr/>
          <a:lstStyle/>
          <a:p>
            <a:pPr algn="l">
              <a:defRPr sz="1125" b="0">
                <a:solidFill>
                  <a:srgbClr val="8A94A6"/>
                </a:solidFill>
              </a:defRPr>
            </a:pPr>
            <a:r>
              <a:rPr sz="1125" b="0">
                <a:solidFill>
                  <a:srgbClr val="8A94A6"/>
                </a:solidFill>
              </a:rPr>
              <a:t>戦略行動システム演習 最終レポート</a:t>
            </a:r>
          </a:p>
        </p:txBody>
      </p:sp>
      <p:sp>
        <p:nvSpPr>
          <p:cNvPr id="4" name="正方形/長方形 3">
            <a:extLst>
              <a:ext uri="{FF2B5EF4-FFF2-40B4-BE49-F238E27FC236}">
                <a16:creationId xmlns:a16="http://schemas.microsoft.com/office/drawing/2014/main" id="{1FA87663-3E37-4E5D-9470-C73A45C31F17}"/>
              </a:ext>
            </a:extLst>
          </p:cNvPr>
          <p:cNvSpPr>
            <a:spLocks noGrp="1"/>
          </p:cNvSpPr>
          <p:nvPr/>
        </p:nvSpPr>
        <p:spPr>
          <a:xfrm>
            <a:off x="11201400" y="6286500"/>
            <a:ext cx="590550" cy="266700"/>
          </a:xfrm>
          <a:prstGeom prst="rect">
            <a:avLst/>
          </a:prstGeom>
          <a:noFill/>
          <a:ln w="0">
            <a:noFill/>
            <a:prstDash val="solid"/>
          </a:ln>
        </p:spPr>
        <p:txBody>
          <a:bodyPr/>
          <a:lstStyle/>
          <a:p>
            <a:pPr algn="r">
              <a:defRPr sz="1125" b="0">
                <a:solidFill>
                  <a:srgbClr val="8A94A6"/>
                </a:solidFill>
              </a:defRPr>
            </a:pPr>
            <a:r>
              <a:rPr sz="1125" b="0">
                <a:solidFill>
                  <a:srgbClr val="8A94A6"/>
                </a:solidFill>
              </a:rPr>
              <a:t>2</a:t>
            </a:r>
          </a:p>
        </p:txBody>
      </p:sp>
      <p:sp>
        <p:nvSpPr>
          <p:cNvPr id="5" name="正方形/長方形 4">
            <a:extLst>
              <a:ext uri="{FF2B5EF4-FFF2-40B4-BE49-F238E27FC236}">
                <a16:creationId xmlns:a16="http://schemas.microsoft.com/office/drawing/2014/main" id="{84172764-4814-4B74-97CE-D58DF6B8E826}"/>
              </a:ext>
            </a:extLst>
          </p:cNvPr>
          <p:cNvSpPr>
            <a:spLocks noGrp="1"/>
          </p:cNvSpPr>
          <p:nvPr/>
        </p:nvSpPr>
        <p:spPr>
          <a:xfrm>
            <a:off x="400050" y="2000250"/>
            <a:ext cx="3486150" cy="2952750"/>
          </a:xfrm>
          <a:prstGeom prst="rect">
            <a:avLst/>
          </a:prstGeom>
          <a:solidFill>
            <a:srgbClr val="EEF0F2"/>
          </a:solidFill>
          <a:ln w="11430">
            <a:solidFill>
              <a:srgbClr val="C8CDD5"/>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052077D6-CB3D-46F5-800E-70FD31C3F893}"/>
              </a:ext>
            </a:extLst>
          </p:cNvPr>
          <p:cNvSpPr>
            <a:spLocks noGrp="1"/>
          </p:cNvSpPr>
          <p:nvPr/>
        </p:nvSpPr>
        <p:spPr>
          <a:xfrm>
            <a:off x="647700" y="2266950"/>
            <a:ext cx="2990850" cy="457200"/>
          </a:xfrm>
          <a:prstGeom prst="rect">
            <a:avLst/>
          </a:prstGeom>
          <a:noFill/>
          <a:ln w="0">
            <a:noFill/>
            <a:prstDash val="solid"/>
          </a:ln>
        </p:spPr>
        <p:txBody>
          <a:bodyPr/>
          <a:lstStyle/>
          <a:p>
            <a:pPr algn="l">
              <a:defRPr sz="1800" b="1">
                <a:solidFill>
                  <a:srgbClr val="111827"/>
                </a:solidFill>
              </a:defRPr>
            </a:pPr>
            <a:r>
              <a:rPr sz="1800" b="1">
                <a:solidFill>
                  <a:srgbClr val="111827"/>
                </a:solidFill>
              </a:rPr>
              <a:t>先行研究</a:t>
            </a:r>
          </a:p>
        </p:txBody>
      </p:sp>
      <p:sp>
        <p:nvSpPr>
          <p:cNvPr id="7" name="正方形/長方形 6">
            <a:extLst>
              <a:ext uri="{FF2B5EF4-FFF2-40B4-BE49-F238E27FC236}">
                <a16:creationId xmlns:a16="http://schemas.microsoft.com/office/drawing/2014/main" id="{EF1EC9E8-36C0-4C05-872A-B45636321D7F}"/>
              </a:ext>
            </a:extLst>
          </p:cNvPr>
          <p:cNvSpPr>
            <a:spLocks noGrp="1"/>
          </p:cNvSpPr>
          <p:nvPr/>
        </p:nvSpPr>
        <p:spPr>
          <a:xfrm>
            <a:off x="647700" y="3143250"/>
            <a:ext cx="2990850" cy="895350"/>
          </a:xfrm>
          <a:prstGeom prst="rect">
            <a:avLst/>
          </a:prstGeom>
          <a:noFill/>
          <a:ln w="0">
            <a:noFill/>
            <a:prstDash val="solid"/>
          </a:ln>
        </p:spPr>
        <p:txBody>
          <a:bodyPr/>
          <a:lstStyle/>
          <a:p>
            <a:pPr algn="l">
              <a:defRPr sz="4500" b="1">
                <a:solidFill>
                  <a:srgbClr val="111827"/>
                </a:solidFill>
              </a:defRPr>
            </a:pPr>
            <a:r>
              <a:rPr sz="4500" b="1">
                <a:solidFill>
                  <a:srgbClr val="111827"/>
                </a:solidFill>
              </a:rPr>
              <a:t>正の関係</a:t>
            </a:r>
          </a:p>
        </p:txBody>
      </p:sp>
      <p:sp>
        <p:nvSpPr>
          <p:cNvPr id="8" name="正方形/長方形 7">
            <a:extLst>
              <a:ext uri="{FF2B5EF4-FFF2-40B4-BE49-F238E27FC236}">
                <a16:creationId xmlns:a16="http://schemas.microsoft.com/office/drawing/2014/main" id="{5009BD65-285B-4C16-AFCE-9D2886967E33}"/>
              </a:ext>
            </a:extLst>
          </p:cNvPr>
          <p:cNvSpPr>
            <a:spLocks noGrp="1"/>
          </p:cNvSpPr>
          <p:nvPr/>
        </p:nvSpPr>
        <p:spPr>
          <a:xfrm>
            <a:off x="647700" y="4324350"/>
            <a:ext cx="2990850" cy="819150"/>
          </a:xfrm>
          <a:prstGeom prst="rect">
            <a:avLst/>
          </a:prstGeom>
          <a:noFill/>
          <a:ln w="0">
            <a:noFill/>
            <a:prstDash val="solid"/>
          </a:ln>
        </p:spPr>
        <p:txBody>
          <a:bodyPr/>
          <a:lstStyle/>
          <a:p>
            <a:pPr algn="l">
              <a:defRPr sz="1425" b="0">
                <a:solidFill>
                  <a:srgbClr val="4B5563"/>
                </a:solidFill>
              </a:defRPr>
            </a:pPr>
            <a:r>
              <a:rPr sz="1425" b="0">
                <a:solidFill>
                  <a:srgbClr val="4B5563"/>
                </a:solidFill>
              </a:rPr>
              <a:t>研究開発活動と特許には関係があるとされる</a:t>
            </a:r>
          </a:p>
        </p:txBody>
      </p:sp>
      <p:sp>
        <p:nvSpPr>
          <p:cNvPr id="9" name="正方形/長方形 8">
            <a:extLst>
              <a:ext uri="{FF2B5EF4-FFF2-40B4-BE49-F238E27FC236}">
                <a16:creationId xmlns:a16="http://schemas.microsoft.com/office/drawing/2014/main" id="{686E5465-4D5E-4441-9B47-EF6CC76C5996}"/>
              </a:ext>
            </a:extLst>
          </p:cNvPr>
          <p:cNvSpPr>
            <a:spLocks noGrp="1"/>
          </p:cNvSpPr>
          <p:nvPr/>
        </p:nvSpPr>
        <p:spPr>
          <a:xfrm>
            <a:off x="4352925" y="2000250"/>
            <a:ext cx="3486150" cy="2952750"/>
          </a:xfrm>
          <a:prstGeom prst="rect">
            <a:avLst/>
          </a:prstGeom>
          <a:solidFill>
            <a:srgbClr val="EEF0F2"/>
          </a:solidFill>
          <a:ln w="11430">
            <a:solidFill>
              <a:srgbClr val="C8CDD5"/>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524F9B1F-3799-4BD4-B00F-FED21CE52253}"/>
              </a:ext>
            </a:extLst>
          </p:cNvPr>
          <p:cNvSpPr>
            <a:spLocks noGrp="1"/>
          </p:cNvSpPr>
          <p:nvPr/>
        </p:nvSpPr>
        <p:spPr>
          <a:xfrm>
            <a:off x="4600575" y="2266950"/>
            <a:ext cx="2990850" cy="457200"/>
          </a:xfrm>
          <a:prstGeom prst="rect">
            <a:avLst/>
          </a:prstGeom>
          <a:noFill/>
          <a:ln w="0">
            <a:noFill/>
            <a:prstDash val="solid"/>
          </a:ln>
        </p:spPr>
        <p:txBody>
          <a:bodyPr/>
          <a:lstStyle/>
          <a:p>
            <a:pPr algn="l">
              <a:defRPr sz="1800" b="1">
                <a:solidFill>
                  <a:srgbClr val="111827"/>
                </a:solidFill>
              </a:defRPr>
            </a:pPr>
            <a:r>
              <a:rPr sz="1800" b="1">
                <a:solidFill>
                  <a:srgbClr val="111827"/>
                </a:solidFill>
              </a:rPr>
              <a:t>ただし</a:t>
            </a:r>
          </a:p>
        </p:txBody>
      </p:sp>
      <p:sp>
        <p:nvSpPr>
          <p:cNvPr id="11" name="正方形/長方形 10">
            <a:extLst>
              <a:ext uri="{FF2B5EF4-FFF2-40B4-BE49-F238E27FC236}">
                <a16:creationId xmlns:a16="http://schemas.microsoft.com/office/drawing/2014/main" id="{FBAA9786-9C3C-42DE-A492-9F2A83EB2623}"/>
              </a:ext>
            </a:extLst>
          </p:cNvPr>
          <p:cNvSpPr>
            <a:spLocks noGrp="1"/>
          </p:cNvSpPr>
          <p:nvPr/>
        </p:nvSpPr>
        <p:spPr>
          <a:xfrm>
            <a:off x="4600575" y="3143250"/>
            <a:ext cx="2990850" cy="895350"/>
          </a:xfrm>
          <a:prstGeom prst="rect">
            <a:avLst/>
          </a:prstGeom>
          <a:noFill/>
          <a:ln w="0">
            <a:noFill/>
            <a:prstDash val="solid"/>
          </a:ln>
        </p:spPr>
        <p:txBody>
          <a:bodyPr/>
          <a:lstStyle/>
          <a:p>
            <a:pPr algn="l">
              <a:defRPr sz="4500" b="1">
                <a:solidFill>
                  <a:srgbClr val="111827"/>
                </a:solidFill>
              </a:defRPr>
            </a:pPr>
            <a:r>
              <a:rPr sz="4500" b="1">
                <a:solidFill>
                  <a:srgbClr val="111827"/>
                </a:solidFill>
              </a:rPr>
              <a:t>産業差</a:t>
            </a:r>
          </a:p>
        </p:txBody>
      </p:sp>
      <p:sp>
        <p:nvSpPr>
          <p:cNvPr id="12" name="正方形/長方形 11">
            <a:extLst>
              <a:ext uri="{FF2B5EF4-FFF2-40B4-BE49-F238E27FC236}">
                <a16:creationId xmlns:a16="http://schemas.microsoft.com/office/drawing/2014/main" id="{F75A1E5D-162B-4F04-8DDA-14291291B73D}"/>
              </a:ext>
            </a:extLst>
          </p:cNvPr>
          <p:cNvSpPr>
            <a:spLocks noGrp="1"/>
          </p:cNvSpPr>
          <p:nvPr/>
        </p:nvSpPr>
        <p:spPr>
          <a:xfrm>
            <a:off x="4600575" y="4324350"/>
            <a:ext cx="2990850" cy="819150"/>
          </a:xfrm>
          <a:prstGeom prst="rect">
            <a:avLst/>
          </a:prstGeom>
          <a:noFill/>
          <a:ln w="0">
            <a:noFill/>
            <a:prstDash val="solid"/>
          </a:ln>
        </p:spPr>
        <p:txBody>
          <a:bodyPr/>
          <a:lstStyle/>
          <a:p>
            <a:pPr algn="l">
              <a:defRPr sz="1425" b="0">
                <a:solidFill>
                  <a:srgbClr val="4B5563"/>
                </a:solidFill>
              </a:defRPr>
            </a:pPr>
            <a:r>
              <a:rPr sz="1425" b="0">
                <a:solidFill>
                  <a:srgbClr val="4B5563"/>
                </a:solidFill>
              </a:rPr>
              <a:t>すべての発明が特許化されるわけではない</a:t>
            </a:r>
          </a:p>
        </p:txBody>
      </p:sp>
      <p:sp>
        <p:nvSpPr>
          <p:cNvPr id="13" name="正方形/長方形 12">
            <a:extLst>
              <a:ext uri="{FF2B5EF4-FFF2-40B4-BE49-F238E27FC236}">
                <a16:creationId xmlns:a16="http://schemas.microsoft.com/office/drawing/2014/main" id="{ECF3FB4F-335D-4903-B305-D57ECA27D239}"/>
              </a:ext>
            </a:extLst>
          </p:cNvPr>
          <p:cNvSpPr>
            <a:spLocks noGrp="1"/>
          </p:cNvSpPr>
          <p:nvPr/>
        </p:nvSpPr>
        <p:spPr>
          <a:xfrm>
            <a:off x="8305800" y="2000250"/>
            <a:ext cx="3486150" cy="2952750"/>
          </a:xfrm>
          <a:prstGeom prst="rect">
            <a:avLst/>
          </a:prstGeom>
          <a:solidFill>
            <a:srgbClr val="EEF0F2"/>
          </a:solidFill>
          <a:ln w="11430">
            <a:solidFill>
              <a:srgbClr val="C8CDD5"/>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06B42260-5756-45F6-82AF-EFA1F4AA9A2E}"/>
              </a:ext>
            </a:extLst>
          </p:cNvPr>
          <p:cNvSpPr>
            <a:spLocks noGrp="1"/>
          </p:cNvSpPr>
          <p:nvPr/>
        </p:nvSpPr>
        <p:spPr>
          <a:xfrm>
            <a:off x="8553450" y="2266950"/>
            <a:ext cx="2990850" cy="457200"/>
          </a:xfrm>
          <a:prstGeom prst="rect">
            <a:avLst/>
          </a:prstGeom>
          <a:noFill/>
          <a:ln w="0">
            <a:noFill/>
            <a:prstDash val="solid"/>
          </a:ln>
        </p:spPr>
        <p:txBody>
          <a:bodyPr/>
          <a:lstStyle/>
          <a:p>
            <a:pPr algn="l">
              <a:defRPr sz="1800" b="1">
                <a:solidFill>
                  <a:srgbClr val="111827"/>
                </a:solidFill>
              </a:defRPr>
            </a:pPr>
            <a:r>
              <a:rPr sz="1800" b="1">
                <a:solidFill>
                  <a:srgbClr val="111827"/>
                </a:solidFill>
              </a:rPr>
              <a:t>本分析</a:t>
            </a:r>
          </a:p>
        </p:txBody>
      </p:sp>
      <p:sp>
        <p:nvSpPr>
          <p:cNvPr id="15" name="正方形/長方形 14">
            <a:extLst>
              <a:ext uri="{FF2B5EF4-FFF2-40B4-BE49-F238E27FC236}">
                <a16:creationId xmlns:a16="http://schemas.microsoft.com/office/drawing/2014/main" id="{DD39F4A0-3CE5-40FA-B70A-282B2FD84017}"/>
              </a:ext>
            </a:extLst>
          </p:cNvPr>
          <p:cNvSpPr>
            <a:spLocks noGrp="1"/>
          </p:cNvSpPr>
          <p:nvPr/>
        </p:nvSpPr>
        <p:spPr>
          <a:xfrm>
            <a:off x="8553450" y="3143250"/>
            <a:ext cx="2990850" cy="895350"/>
          </a:xfrm>
          <a:prstGeom prst="rect">
            <a:avLst/>
          </a:prstGeom>
          <a:noFill/>
          <a:ln w="0">
            <a:noFill/>
            <a:prstDash val="solid"/>
          </a:ln>
        </p:spPr>
        <p:txBody>
          <a:bodyPr/>
          <a:lstStyle/>
          <a:p>
            <a:pPr algn="l">
              <a:defRPr sz="4500" b="1">
                <a:solidFill>
                  <a:srgbClr val="111827"/>
                </a:solidFill>
              </a:defRPr>
            </a:pPr>
            <a:r>
              <a:rPr sz="4500" b="1">
                <a:solidFill>
                  <a:srgbClr val="111827"/>
                </a:solidFill>
              </a:rPr>
              <a:t>説明力</a:t>
            </a:r>
          </a:p>
        </p:txBody>
      </p:sp>
      <p:sp>
        <p:nvSpPr>
          <p:cNvPr id="16" name="正方形/長方形 15">
            <a:extLst>
              <a:ext uri="{FF2B5EF4-FFF2-40B4-BE49-F238E27FC236}">
                <a16:creationId xmlns:a16="http://schemas.microsoft.com/office/drawing/2014/main" id="{4FB573D5-D169-452F-9E37-185BE12F092F}"/>
              </a:ext>
            </a:extLst>
          </p:cNvPr>
          <p:cNvSpPr>
            <a:spLocks noGrp="1"/>
          </p:cNvSpPr>
          <p:nvPr/>
        </p:nvSpPr>
        <p:spPr>
          <a:xfrm>
            <a:off x="8553450" y="4324350"/>
            <a:ext cx="2990850" cy="819150"/>
          </a:xfrm>
          <a:prstGeom prst="rect">
            <a:avLst/>
          </a:prstGeom>
          <a:noFill/>
          <a:ln w="0">
            <a:noFill/>
            <a:prstDash val="solid"/>
          </a:ln>
        </p:spPr>
        <p:txBody>
          <a:bodyPr/>
          <a:lstStyle/>
          <a:p>
            <a:pPr algn="l">
              <a:defRPr sz="1425" b="0">
                <a:solidFill>
                  <a:srgbClr val="4B5563"/>
                </a:solidFill>
              </a:defRPr>
            </a:pPr>
            <a:r>
              <a:rPr sz="1425" b="0">
                <a:solidFill>
                  <a:srgbClr val="4B5563"/>
                </a:solidFill>
              </a:rPr>
              <a:t>研究費だけでどこまで説明できるかを確認</a:t>
            </a:r>
          </a:p>
        </p:txBody>
      </p:sp>
    </p:spTree>
    <p:extLst>
      <p:ext uri="{BB962C8B-B14F-4D97-AF65-F5344CB8AC3E}">
        <p14:creationId xmlns:p14="http://schemas.microsoft.com/office/powerpoint/2010/main" val="2112904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2FDE8D31-DF69-4451-A8B4-EE9256762D7B}"/>
              </a:ext>
            </a:extLst>
          </p:cNvPr>
          <p:cNvSpPr>
            <a:spLocks noGrp="1"/>
          </p:cNvSpPr>
          <p:nvPr/>
        </p:nvSpPr>
        <p:spPr>
          <a:xfrm>
            <a:off x="400050" y="361950"/>
            <a:ext cx="8191500" cy="533400"/>
          </a:xfrm>
          <a:prstGeom prst="rect">
            <a:avLst/>
          </a:prstGeom>
          <a:noFill/>
          <a:ln w="0">
            <a:noFill/>
            <a:prstDash val="solid"/>
          </a:ln>
        </p:spPr>
        <p:txBody>
          <a:bodyPr/>
          <a:lstStyle/>
          <a:p>
            <a:pPr algn="l">
              <a:defRPr sz="3000" b="1">
                <a:solidFill>
                  <a:srgbClr val="111827"/>
                </a:solidFill>
              </a:defRPr>
            </a:pPr>
            <a:r>
              <a:rPr sz="3000" b="1" dirty="0" err="1">
                <a:solidFill>
                  <a:srgbClr val="111827"/>
                </a:solidFill>
              </a:rPr>
              <a:t>データと</a:t>
            </a:r>
            <a:r>
              <a:rPr lang="ja-JP" altLang="en-US" sz="3000" b="1" dirty="0">
                <a:solidFill>
                  <a:srgbClr val="111827"/>
                </a:solidFill>
              </a:rPr>
              <a:t>分析</a:t>
            </a:r>
            <a:r>
              <a:rPr sz="3000" b="1" dirty="0" err="1">
                <a:solidFill>
                  <a:srgbClr val="111827"/>
                </a:solidFill>
              </a:rPr>
              <a:t>方法</a:t>
            </a:r>
            <a:endParaRPr sz="3000" b="1" dirty="0">
              <a:solidFill>
                <a:srgbClr val="111827"/>
              </a:solidFill>
            </a:endParaRPr>
          </a:p>
        </p:txBody>
      </p:sp>
      <p:sp>
        <p:nvSpPr>
          <p:cNvPr id="3" name="正方形/長方形 2">
            <a:extLst>
              <a:ext uri="{FF2B5EF4-FFF2-40B4-BE49-F238E27FC236}">
                <a16:creationId xmlns:a16="http://schemas.microsoft.com/office/drawing/2014/main" id="{4BFE6085-E878-4CD7-BB6A-CDC751085E41}"/>
              </a:ext>
            </a:extLst>
          </p:cNvPr>
          <p:cNvSpPr>
            <a:spLocks noGrp="1"/>
          </p:cNvSpPr>
          <p:nvPr/>
        </p:nvSpPr>
        <p:spPr>
          <a:xfrm>
            <a:off x="400050" y="6286500"/>
            <a:ext cx="4095750" cy="266700"/>
          </a:xfrm>
          <a:prstGeom prst="rect">
            <a:avLst/>
          </a:prstGeom>
          <a:noFill/>
          <a:ln w="0">
            <a:noFill/>
            <a:prstDash val="solid"/>
          </a:ln>
        </p:spPr>
        <p:txBody>
          <a:bodyPr/>
          <a:lstStyle/>
          <a:p>
            <a:pPr algn="l">
              <a:defRPr sz="1125" b="0">
                <a:solidFill>
                  <a:srgbClr val="8A94A6"/>
                </a:solidFill>
              </a:defRPr>
            </a:pPr>
            <a:r>
              <a:rPr sz="1125" b="0">
                <a:solidFill>
                  <a:srgbClr val="8A94A6"/>
                </a:solidFill>
              </a:rPr>
              <a:t>戦略行動システム演習 最終レポート</a:t>
            </a:r>
          </a:p>
        </p:txBody>
      </p:sp>
      <p:sp>
        <p:nvSpPr>
          <p:cNvPr id="4" name="正方形/長方形 3">
            <a:extLst>
              <a:ext uri="{FF2B5EF4-FFF2-40B4-BE49-F238E27FC236}">
                <a16:creationId xmlns:a16="http://schemas.microsoft.com/office/drawing/2014/main" id="{2975853C-C0B4-4CF6-8FDC-463A9FBE0FF6}"/>
              </a:ext>
            </a:extLst>
          </p:cNvPr>
          <p:cNvSpPr>
            <a:spLocks noGrp="1"/>
          </p:cNvSpPr>
          <p:nvPr/>
        </p:nvSpPr>
        <p:spPr>
          <a:xfrm>
            <a:off x="11201400" y="6286500"/>
            <a:ext cx="590550" cy="266700"/>
          </a:xfrm>
          <a:prstGeom prst="rect">
            <a:avLst/>
          </a:prstGeom>
          <a:noFill/>
          <a:ln w="0">
            <a:noFill/>
            <a:prstDash val="solid"/>
          </a:ln>
        </p:spPr>
        <p:txBody>
          <a:bodyPr/>
          <a:lstStyle/>
          <a:p>
            <a:pPr algn="r">
              <a:defRPr sz="1125" b="0">
                <a:solidFill>
                  <a:srgbClr val="8A94A6"/>
                </a:solidFill>
              </a:defRPr>
            </a:pPr>
            <a:r>
              <a:rPr sz="1125" b="0">
                <a:solidFill>
                  <a:srgbClr val="8A94A6"/>
                </a:solidFill>
              </a:rPr>
              <a:t>3</a:t>
            </a:r>
          </a:p>
        </p:txBody>
      </p:sp>
      <p:sp>
        <p:nvSpPr>
          <p:cNvPr id="5" name="正方形/長方形 4">
            <a:extLst>
              <a:ext uri="{FF2B5EF4-FFF2-40B4-BE49-F238E27FC236}">
                <a16:creationId xmlns:a16="http://schemas.microsoft.com/office/drawing/2014/main" id="{300C48D6-6F52-42CD-A269-7B3B7BE251B2}"/>
              </a:ext>
            </a:extLst>
          </p:cNvPr>
          <p:cNvSpPr>
            <a:spLocks noGrp="1"/>
          </p:cNvSpPr>
          <p:nvPr/>
        </p:nvSpPr>
        <p:spPr>
          <a:xfrm>
            <a:off x="400050" y="1809750"/>
            <a:ext cx="5334000" cy="2667000"/>
          </a:xfrm>
          <a:prstGeom prst="rect">
            <a:avLst/>
          </a:prstGeom>
          <a:solidFill>
            <a:srgbClr val="F7F8FA"/>
          </a:solidFill>
          <a:ln w="11430">
            <a:solidFill>
              <a:srgbClr val="C8CDD5"/>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AAA5ED7F-B885-48E9-9E76-64AC89A145EB}"/>
              </a:ext>
            </a:extLst>
          </p:cNvPr>
          <p:cNvSpPr>
            <a:spLocks noGrp="1"/>
          </p:cNvSpPr>
          <p:nvPr/>
        </p:nvSpPr>
        <p:spPr>
          <a:xfrm>
            <a:off x="685800" y="2095500"/>
            <a:ext cx="4762500" cy="381000"/>
          </a:xfrm>
          <a:prstGeom prst="rect">
            <a:avLst/>
          </a:prstGeom>
          <a:noFill/>
          <a:ln w="0">
            <a:noFill/>
            <a:prstDash val="solid"/>
          </a:ln>
        </p:spPr>
        <p:txBody>
          <a:bodyPr/>
          <a:lstStyle/>
          <a:p>
            <a:pPr algn="l">
              <a:defRPr sz="2100" b="1">
                <a:solidFill>
                  <a:srgbClr val="111827"/>
                </a:solidFill>
              </a:defRPr>
            </a:pPr>
            <a:r>
              <a:rPr sz="2100" b="1">
                <a:solidFill>
                  <a:srgbClr val="111827"/>
                </a:solidFill>
              </a:rPr>
              <a:t>データ</a:t>
            </a:r>
          </a:p>
        </p:txBody>
      </p:sp>
      <p:sp>
        <p:nvSpPr>
          <p:cNvPr id="7" name="正方形/長方形 6">
            <a:extLst>
              <a:ext uri="{FF2B5EF4-FFF2-40B4-BE49-F238E27FC236}">
                <a16:creationId xmlns:a16="http://schemas.microsoft.com/office/drawing/2014/main" id="{7961E79F-5888-4A99-B781-F469C8930F96}"/>
              </a:ext>
            </a:extLst>
          </p:cNvPr>
          <p:cNvSpPr>
            <a:spLocks noGrp="1"/>
          </p:cNvSpPr>
          <p:nvPr/>
        </p:nvSpPr>
        <p:spPr>
          <a:xfrm>
            <a:off x="685800" y="2819400"/>
            <a:ext cx="85725" cy="85725"/>
          </a:xfrm>
          <a:prstGeom prst="rect">
            <a:avLst/>
          </a:prstGeom>
          <a:solidFill>
            <a:srgbClr val="276FBF"/>
          </a:solidFill>
          <a:ln w="11430">
            <a:solidFill>
              <a:srgbClr val="276FBF"/>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C9F06722-415D-401D-AB4B-A652CB7322E6}"/>
              </a:ext>
            </a:extLst>
          </p:cNvPr>
          <p:cNvSpPr>
            <a:spLocks noGrp="1"/>
          </p:cNvSpPr>
          <p:nvPr/>
        </p:nvSpPr>
        <p:spPr>
          <a:xfrm>
            <a:off x="914400" y="2743200"/>
            <a:ext cx="4343400" cy="400050"/>
          </a:xfrm>
          <a:prstGeom prst="rect">
            <a:avLst/>
          </a:prstGeom>
          <a:noFill/>
          <a:ln w="0">
            <a:noFill/>
            <a:prstDash val="solid"/>
          </a:ln>
        </p:spPr>
        <p:txBody>
          <a:bodyPr/>
          <a:lstStyle/>
          <a:p>
            <a:pPr algn="l">
              <a:defRPr sz="1650" b="0">
                <a:solidFill>
                  <a:srgbClr val="111827"/>
                </a:solidFill>
              </a:defRPr>
            </a:pPr>
            <a:r>
              <a:rPr sz="1650" b="0">
                <a:solidFill>
                  <a:srgbClr val="111827"/>
                </a:solidFill>
              </a:rPr>
              <a:t>令和7年度 知的財産活動調査</a:t>
            </a:r>
          </a:p>
        </p:txBody>
      </p:sp>
      <p:sp>
        <p:nvSpPr>
          <p:cNvPr id="9" name="正方形/長方形 8">
            <a:extLst>
              <a:ext uri="{FF2B5EF4-FFF2-40B4-BE49-F238E27FC236}">
                <a16:creationId xmlns:a16="http://schemas.microsoft.com/office/drawing/2014/main" id="{11A146EA-6F6B-4DAE-8405-54459FB0E5C4}"/>
              </a:ext>
            </a:extLst>
          </p:cNvPr>
          <p:cNvSpPr>
            <a:spLocks noGrp="1"/>
          </p:cNvSpPr>
          <p:nvPr/>
        </p:nvSpPr>
        <p:spPr>
          <a:xfrm>
            <a:off x="685800" y="3371850"/>
            <a:ext cx="85725" cy="85725"/>
          </a:xfrm>
          <a:prstGeom prst="rect">
            <a:avLst/>
          </a:prstGeom>
          <a:solidFill>
            <a:srgbClr val="276FBF"/>
          </a:solidFill>
          <a:ln w="11430">
            <a:solidFill>
              <a:srgbClr val="276FBF"/>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2BD49057-47CB-4CEE-8F7C-9DEBE585AF73}"/>
              </a:ext>
            </a:extLst>
          </p:cNvPr>
          <p:cNvSpPr>
            <a:spLocks noGrp="1"/>
          </p:cNvSpPr>
          <p:nvPr/>
        </p:nvSpPr>
        <p:spPr>
          <a:xfrm>
            <a:off x="914400" y="3295650"/>
            <a:ext cx="4343400" cy="400050"/>
          </a:xfrm>
          <a:prstGeom prst="rect">
            <a:avLst/>
          </a:prstGeom>
          <a:noFill/>
          <a:ln w="0">
            <a:noFill/>
            <a:prstDash val="solid"/>
          </a:ln>
        </p:spPr>
        <p:txBody>
          <a:bodyPr/>
          <a:lstStyle/>
          <a:p>
            <a:pPr algn="l">
              <a:defRPr sz="1650" b="0">
                <a:solidFill>
                  <a:srgbClr val="111827"/>
                </a:solidFill>
              </a:defRPr>
            </a:pPr>
            <a:r>
              <a:rPr sz="1650" b="0">
                <a:solidFill>
                  <a:srgbClr val="111827"/>
                </a:solidFill>
              </a:rPr>
              <a:t>研究費：第1-1表「研究費」</a:t>
            </a:r>
          </a:p>
        </p:txBody>
      </p:sp>
      <p:sp>
        <p:nvSpPr>
          <p:cNvPr id="11" name="正方形/長方形 10">
            <a:extLst>
              <a:ext uri="{FF2B5EF4-FFF2-40B4-BE49-F238E27FC236}">
                <a16:creationId xmlns:a16="http://schemas.microsoft.com/office/drawing/2014/main" id="{856F2593-D547-4461-B249-701E2ADB6A27}"/>
              </a:ext>
            </a:extLst>
          </p:cNvPr>
          <p:cNvSpPr>
            <a:spLocks noGrp="1"/>
          </p:cNvSpPr>
          <p:nvPr/>
        </p:nvSpPr>
        <p:spPr>
          <a:xfrm>
            <a:off x="685800" y="3924300"/>
            <a:ext cx="85725" cy="85725"/>
          </a:xfrm>
          <a:prstGeom prst="rect">
            <a:avLst/>
          </a:prstGeom>
          <a:solidFill>
            <a:srgbClr val="276FBF"/>
          </a:solidFill>
          <a:ln w="11430">
            <a:solidFill>
              <a:srgbClr val="276FBF"/>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A3EB8058-05C9-40C2-BE03-BCAE19FEDC0F}"/>
              </a:ext>
            </a:extLst>
          </p:cNvPr>
          <p:cNvSpPr>
            <a:spLocks noGrp="1"/>
          </p:cNvSpPr>
          <p:nvPr/>
        </p:nvSpPr>
        <p:spPr>
          <a:xfrm>
            <a:off x="914400" y="3848100"/>
            <a:ext cx="4343400" cy="400050"/>
          </a:xfrm>
          <a:prstGeom prst="rect">
            <a:avLst/>
          </a:prstGeom>
          <a:noFill/>
          <a:ln w="0">
            <a:noFill/>
            <a:prstDash val="solid"/>
          </a:ln>
        </p:spPr>
        <p:txBody>
          <a:bodyPr/>
          <a:lstStyle/>
          <a:p>
            <a:pPr algn="l">
              <a:defRPr sz="1650" b="0">
                <a:solidFill>
                  <a:srgbClr val="111827"/>
                </a:solidFill>
              </a:defRPr>
            </a:pPr>
            <a:r>
              <a:rPr sz="1650" b="0">
                <a:solidFill>
                  <a:srgbClr val="111827"/>
                </a:solidFill>
              </a:rPr>
              <a:t>特許：第1-8表「国内出願件数 2024年実績」</a:t>
            </a:r>
          </a:p>
        </p:txBody>
      </p:sp>
      <p:sp>
        <p:nvSpPr>
          <p:cNvPr id="13" name="正方形/長方形 12">
            <a:extLst>
              <a:ext uri="{FF2B5EF4-FFF2-40B4-BE49-F238E27FC236}">
                <a16:creationId xmlns:a16="http://schemas.microsoft.com/office/drawing/2014/main" id="{416347B6-B234-4B53-AD73-F08674437F72}"/>
              </a:ext>
            </a:extLst>
          </p:cNvPr>
          <p:cNvSpPr>
            <a:spLocks noGrp="1"/>
          </p:cNvSpPr>
          <p:nvPr/>
        </p:nvSpPr>
        <p:spPr>
          <a:xfrm>
            <a:off x="6324600" y="1809750"/>
            <a:ext cx="5467350" cy="2667000"/>
          </a:xfrm>
          <a:prstGeom prst="rect">
            <a:avLst/>
          </a:prstGeom>
          <a:solidFill>
            <a:srgbClr val="F7F8FA"/>
          </a:solidFill>
          <a:ln w="11430">
            <a:solidFill>
              <a:srgbClr val="C8CDD5"/>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F66823AE-6A60-49FF-855B-C01CF57E66C7}"/>
              </a:ext>
            </a:extLst>
          </p:cNvPr>
          <p:cNvSpPr>
            <a:spLocks noGrp="1"/>
          </p:cNvSpPr>
          <p:nvPr/>
        </p:nvSpPr>
        <p:spPr>
          <a:xfrm>
            <a:off x="6610350" y="2095500"/>
            <a:ext cx="4762500" cy="381000"/>
          </a:xfrm>
          <a:prstGeom prst="rect">
            <a:avLst/>
          </a:prstGeom>
          <a:noFill/>
          <a:ln w="0">
            <a:noFill/>
            <a:prstDash val="solid"/>
          </a:ln>
        </p:spPr>
        <p:txBody>
          <a:bodyPr/>
          <a:lstStyle/>
          <a:p>
            <a:pPr algn="l">
              <a:defRPr sz="2100" b="1">
                <a:solidFill>
                  <a:srgbClr val="111827"/>
                </a:solidFill>
              </a:defRPr>
            </a:pPr>
            <a:r>
              <a:rPr sz="2100" b="1">
                <a:solidFill>
                  <a:srgbClr val="111827"/>
                </a:solidFill>
              </a:rPr>
              <a:t>分析</a:t>
            </a:r>
          </a:p>
        </p:txBody>
      </p:sp>
      <p:sp>
        <p:nvSpPr>
          <p:cNvPr id="15" name="正方形/長方形 14">
            <a:extLst>
              <a:ext uri="{FF2B5EF4-FFF2-40B4-BE49-F238E27FC236}">
                <a16:creationId xmlns:a16="http://schemas.microsoft.com/office/drawing/2014/main" id="{13D8DABE-74F8-47E1-AEE3-21FDE514E78F}"/>
              </a:ext>
            </a:extLst>
          </p:cNvPr>
          <p:cNvSpPr>
            <a:spLocks noGrp="1"/>
          </p:cNvSpPr>
          <p:nvPr/>
        </p:nvSpPr>
        <p:spPr>
          <a:xfrm>
            <a:off x="6610350" y="2819400"/>
            <a:ext cx="85725" cy="85725"/>
          </a:xfrm>
          <a:prstGeom prst="rect">
            <a:avLst/>
          </a:prstGeom>
          <a:solidFill>
            <a:srgbClr val="2F8F6F"/>
          </a:solidFill>
          <a:ln w="11430">
            <a:solidFill>
              <a:srgbClr val="2F8F6F"/>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D09B6B26-AFAA-4C9F-87D1-9366476BA7C9}"/>
              </a:ext>
            </a:extLst>
          </p:cNvPr>
          <p:cNvSpPr>
            <a:spLocks noGrp="1"/>
          </p:cNvSpPr>
          <p:nvPr/>
        </p:nvSpPr>
        <p:spPr>
          <a:xfrm>
            <a:off x="6838950" y="2743200"/>
            <a:ext cx="4438650" cy="400050"/>
          </a:xfrm>
          <a:prstGeom prst="rect">
            <a:avLst/>
          </a:prstGeom>
          <a:noFill/>
          <a:ln w="0">
            <a:noFill/>
            <a:prstDash val="solid"/>
          </a:ln>
        </p:spPr>
        <p:txBody>
          <a:bodyPr/>
          <a:lstStyle/>
          <a:p>
            <a:pPr algn="l">
              <a:defRPr sz="1650" b="0">
                <a:solidFill>
                  <a:srgbClr val="111827"/>
                </a:solidFill>
              </a:defRPr>
            </a:pPr>
            <a:r>
              <a:rPr sz="1650" b="0">
                <a:solidFill>
                  <a:srgbClr val="111827"/>
                </a:solidFill>
              </a:rPr>
              <a:t>分析対象：17産業</a:t>
            </a:r>
          </a:p>
        </p:txBody>
      </p:sp>
      <p:sp>
        <p:nvSpPr>
          <p:cNvPr id="17" name="正方形/長方形 16">
            <a:extLst>
              <a:ext uri="{FF2B5EF4-FFF2-40B4-BE49-F238E27FC236}">
                <a16:creationId xmlns:a16="http://schemas.microsoft.com/office/drawing/2014/main" id="{54A6803D-81E2-47F4-BC6C-C4EB3212E892}"/>
              </a:ext>
            </a:extLst>
          </p:cNvPr>
          <p:cNvSpPr>
            <a:spLocks noGrp="1"/>
          </p:cNvSpPr>
          <p:nvPr/>
        </p:nvSpPr>
        <p:spPr>
          <a:xfrm>
            <a:off x="6610350" y="3371850"/>
            <a:ext cx="85725" cy="85725"/>
          </a:xfrm>
          <a:prstGeom prst="rect">
            <a:avLst/>
          </a:prstGeom>
          <a:solidFill>
            <a:srgbClr val="2F8F6F"/>
          </a:solidFill>
          <a:ln w="11430">
            <a:solidFill>
              <a:srgbClr val="2F8F6F"/>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A64F40A8-ADE8-4B93-9AFC-2DB906E9520C}"/>
              </a:ext>
            </a:extLst>
          </p:cNvPr>
          <p:cNvSpPr>
            <a:spLocks noGrp="1"/>
          </p:cNvSpPr>
          <p:nvPr/>
        </p:nvSpPr>
        <p:spPr>
          <a:xfrm>
            <a:off x="6838950" y="3295650"/>
            <a:ext cx="4438650" cy="400050"/>
          </a:xfrm>
          <a:prstGeom prst="rect">
            <a:avLst/>
          </a:prstGeom>
          <a:noFill/>
          <a:ln w="0">
            <a:noFill/>
            <a:prstDash val="solid"/>
          </a:ln>
        </p:spPr>
        <p:txBody>
          <a:bodyPr/>
          <a:lstStyle/>
          <a:p>
            <a:pPr algn="l">
              <a:defRPr sz="1650" b="0">
                <a:solidFill>
                  <a:srgbClr val="111827"/>
                </a:solidFill>
              </a:defRPr>
            </a:pPr>
            <a:r>
              <a:rPr sz="1650" b="0">
                <a:solidFill>
                  <a:srgbClr val="111827"/>
                </a:solidFill>
              </a:rPr>
              <a:t>主要分析：対数変換後の単回帰</a:t>
            </a:r>
          </a:p>
        </p:txBody>
      </p:sp>
      <p:sp>
        <p:nvSpPr>
          <p:cNvPr id="19" name="正方形/長方形 18">
            <a:extLst>
              <a:ext uri="{FF2B5EF4-FFF2-40B4-BE49-F238E27FC236}">
                <a16:creationId xmlns:a16="http://schemas.microsoft.com/office/drawing/2014/main" id="{D2F99FDD-35CA-400A-AB98-E512A7A14F6C}"/>
              </a:ext>
            </a:extLst>
          </p:cNvPr>
          <p:cNvSpPr>
            <a:spLocks noGrp="1"/>
          </p:cNvSpPr>
          <p:nvPr/>
        </p:nvSpPr>
        <p:spPr>
          <a:xfrm>
            <a:off x="6610350" y="3924300"/>
            <a:ext cx="85725" cy="85725"/>
          </a:xfrm>
          <a:prstGeom prst="rect">
            <a:avLst/>
          </a:prstGeom>
          <a:solidFill>
            <a:srgbClr val="2F8F6F"/>
          </a:solidFill>
          <a:ln w="11430">
            <a:solidFill>
              <a:srgbClr val="2F8F6F"/>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FF0E99F5-10D8-4F41-BC03-67998D49B7E2}"/>
              </a:ext>
            </a:extLst>
          </p:cNvPr>
          <p:cNvSpPr>
            <a:spLocks noGrp="1"/>
          </p:cNvSpPr>
          <p:nvPr/>
        </p:nvSpPr>
        <p:spPr>
          <a:xfrm>
            <a:off x="6838950" y="3848100"/>
            <a:ext cx="4438650" cy="400050"/>
          </a:xfrm>
          <a:prstGeom prst="rect">
            <a:avLst/>
          </a:prstGeom>
          <a:noFill/>
          <a:ln w="0">
            <a:noFill/>
            <a:prstDash val="solid"/>
          </a:ln>
        </p:spPr>
        <p:txBody>
          <a:bodyPr/>
          <a:lstStyle/>
          <a:p>
            <a:pPr algn="l">
              <a:defRPr sz="1650" b="0">
                <a:solidFill>
                  <a:srgbClr val="111827"/>
                </a:solidFill>
              </a:defRPr>
            </a:pPr>
            <a:r>
              <a:rPr sz="1650" b="0">
                <a:solidFill>
                  <a:srgbClr val="111827"/>
                </a:solidFill>
              </a:rPr>
              <a:t>目的変数：国内特許出願件数</a:t>
            </a:r>
          </a:p>
        </p:txBody>
      </p:sp>
      <p:sp>
        <p:nvSpPr>
          <p:cNvPr id="21" name="正方形/長方形 20">
            <a:extLst>
              <a:ext uri="{FF2B5EF4-FFF2-40B4-BE49-F238E27FC236}">
                <a16:creationId xmlns:a16="http://schemas.microsoft.com/office/drawing/2014/main" id="{518A3187-B929-469F-A9AC-D42609698595}"/>
              </a:ext>
            </a:extLst>
          </p:cNvPr>
          <p:cNvSpPr>
            <a:spLocks noGrp="1"/>
          </p:cNvSpPr>
          <p:nvPr/>
        </p:nvSpPr>
        <p:spPr>
          <a:xfrm>
            <a:off x="1162050" y="5095875"/>
            <a:ext cx="9867900" cy="495300"/>
          </a:xfrm>
          <a:prstGeom prst="rect">
            <a:avLst/>
          </a:prstGeom>
          <a:noFill/>
          <a:ln w="0">
            <a:noFill/>
            <a:prstDash val="solid"/>
          </a:ln>
        </p:spPr>
        <p:txBody>
          <a:bodyPr/>
          <a:lstStyle/>
          <a:p>
            <a:pPr algn="ctr">
              <a:defRPr sz="2250" b="1">
                <a:solidFill>
                  <a:srgbClr val="111827"/>
                </a:solidFill>
              </a:defRPr>
            </a:pPr>
            <a:r>
              <a:rPr sz="2250" b="1">
                <a:solidFill>
                  <a:srgbClr val="111827"/>
                </a:solidFill>
              </a:rPr>
              <a:t>log10(特許出願件数) = β0 + β1 log10(研究費) + ε</a:t>
            </a:r>
          </a:p>
        </p:txBody>
      </p:sp>
    </p:spTree>
    <p:extLst>
      <p:ext uri="{BB962C8B-B14F-4D97-AF65-F5344CB8AC3E}">
        <p14:creationId xmlns:p14="http://schemas.microsoft.com/office/powerpoint/2010/main" val="1762795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12C51D96-CF6D-4B5F-ACAB-0C42BA80D534}"/>
              </a:ext>
            </a:extLst>
          </p:cNvPr>
          <p:cNvSpPr>
            <a:spLocks noGrp="1"/>
          </p:cNvSpPr>
          <p:nvPr/>
        </p:nvSpPr>
        <p:spPr>
          <a:xfrm>
            <a:off x="400050" y="361950"/>
            <a:ext cx="8191500" cy="533400"/>
          </a:xfrm>
          <a:prstGeom prst="rect">
            <a:avLst/>
          </a:prstGeom>
          <a:noFill/>
          <a:ln w="0">
            <a:noFill/>
            <a:prstDash val="solid"/>
          </a:ln>
        </p:spPr>
        <p:txBody>
          <a:bodyPr/>
          <a:lstStyle/>
          <a:p>
            <a:pPr algn="l">
              <a:defRPr sz="3000" b="1">
                <a:solidFill>
                  <a:srgbClr val="111827"/>
                </a:solidFill>
              </a:defRPr>
            </a:pPr>
            <a:r>
              <a:rPr sz="3000" b="1">
                <a:solidFill>
                  <a:srgbClr val="111827"/>
                </a:solidFill>
              </a:rPr>
              <a:t>研究費は特許出願数を有意に説明した</a:t>
            </a:r>
          </a:p>
        </p:txBody>
      </p:sp>
      <p:sp>
        <p:nvSpPr>
          <p:cNvPr id="2" name="正方形/長方形 1">
            <a:extLst>
              <a:ext uri="{FF2B5EF4-FFF2-40B4-BE49-F238E27FC236}">
                <a16:creationId xmlns:a16="http://schemas.microsoft.com/office/drawing/2014/main" id="{F3F10C11-6085-403D-B946-B287775C80C2}"/>
              </a:ext>
            </a:extLst>
          </p:cNvPr>
          <p:cNvSpPr>
            <a:spLocks noGrp="1"/>
          </p:cNvSpPr>
          <p:nvPr/>
        </p:nvSpPr>
        <p:spPr>
          <a:xfrm>
            <a:off x="400050" y="990600"/>
            <a:ext cx="8953500" cy="400050"/>
          </a:xfrm>
          <a:prstGeom prst="rect">
            <a:avLst/>
          </a:prstGeom>
          <a:noFill/>
          <a:ln w="0">
            <a:noFill/>
            <a:prstDash val="solid"/>
          </a:ln>
        </p:spPr>
        <p:txBody>
          <a:bodyPr/>
          <a:lstStyle/>
          <a:p>
            <a:pPr algn="l">
              <a:defRPr sz="1500" b="0">
                <a:solidFill>
                  <a:srgbClr val="4B5563"/>
                </a:solidFill>
              </a:defRPr>
            </a:pPr>
            <a:r>
              <a:rPr sz="1500" b="0">
                <a:solidFill>
                  <a:srgbClr val="4B5563"/>
                </a:solidFill>
              </a:rPr>
              <a:t>ただし、説明できたのは全体の約29%にとどまる</a:t>
            </a:r>
          </a:p>
        </p:txBody>
      </p:sp>
      <p:sp>
        <p:nvSpPr>
          <p:cNvPr id="3" name="正方形/長方形 2">
            <a:extLst>
              <a:ext uri="{FF2B5EF4-FFF2-40B4-BE49-F238E27FC236}">
                <a16:creationId xmlns:a16="http://schemas.microsoft.com/office/drawing/2014/main" id="{6CA4D06A-5D38-4E96-A4F7-E1AC237B6A18}"/>
              </a:ext>
            </a:extLst>
          </p:cNvPr>
          <p:cNvSpPr>
            <a:spLocks noGrp="1"/>
          </p:cNvSpPr>
          <p:nvPr/>
        </p:nvSpPr>
        <p:spPr>
          <a:xfrm>
            <a:off x="400050" y="6286500"/>
            <a:ext cx="4095750" cy="266700"/>
          </a:xfrm>
          <a:prstGeom prst="rect">
            <a:avLst/>
          </a:prstGeom>
          <a:noFill/>
          <a:ln w="0">
            <a:noFill/>
            <a:prstDash val="solid"/>
          </a:ln>
        </p:spPr>
        <p:txBody>
          <a:bodyPr/>
          <a:lstStyle/>
          <a:p>
            <a:pPr algn="l">
              <a:defRPr sz="1125" b="0">
                <a:solidFill>
                  <a:srgbClr val="8A94A6"/>
                </a:solidFill>
              </a:defRPr>
            </a:pPr>
            <a:r>
              <a:rPr sz="1125" b="0">
                <a:solidFill>
                  <a:srgbClr val="8A94A6"/>
                </a:solidFill>
              </a:rPr>
              <a:t>戦略行動システム演習 最終レポート</a:t>
            </a:r>
          </a:p>
        </p:txBody>
      </p:sp>
      <p:sp>
        <p:nvSpPr>
          <p:cNvPr id="4" name="正方形/長方形 3">
            <a:extLst>
              <a:ext uri="{FF2B5EF4-FFF2-40B4-BE49-F238E27FC236}">
                <a16:creationId xmlns:a16="http://schemas.microsoft.com/office/drawing/2014/main" id="{EF022BBA-27E2-43AB-9457-1399D55FCDBC}"/>
              </a:ext>
            </a:extLst>
          </p:cNvPr>
          <p:cNvSpPr>
            <a:spLocks noGrp="1"/>
          </p:cNvSpPr>
          <p:nvPr/>
        </p:nvSpPr>
        <p:spPr>
          <a:xfrm>
            <a:off x="11201400" y="6286500"/>
            <a:ext cx="590550" cy="266700"/>
          </a:xfrm>
          <a:prstGeom prst="rect">
            <a:avLst/>
          </a:prstGeom>
          <a:noFill/>
          <a:ln w="0">
            <a:noFill/>
            <a:prstDash val="solid"/>
          </a:ln>
        </p:spPr>
        <p:txBody>
          <a:bodyPr/>
          <a:lstStyle/>
          <a:p>
            <a:pPr algn="r">
              <a:defRPr sz="1125" b="0">
                <a:solidFill>
                  <a:srgbClr val="8A94A6"/>
                </a:solidFill>
              </a:defRPr>
            </a:pPr>
            <a:r>
              <a:rPr sz="1125" b="0">
                <a:solidFill>
                  <a:srgbClr val="8A94A6"/>
                </a:solidFill>
              </a:rPr>
              <a:t>4</a:t>
            </a:r>
          </a:p>
        </p:txBody>
      </p:sp>
      <p:graphicFrame>
        <p:nvGraphicFramePr>
          <p:cNvPr id="24" name="Chart"/>
          <p:cNvGraphicFramePr/>
          <p:nvPr/>
        </p:nvGraphicFramePr>
        <p:xfrm>
          <a:off x="533400" y="1695450"/>
          <a:ext cx="7143750" cy="3857625"/>
        </p:xfrm>
        <a:graphic>
          <a:graphicData uri="http://schemas.openxmlformats.org/drawingml/2006/chart">
            <c:chart xmlns:c="http://schemas.openxmlformats.org/drawingml/2006/chart" xmlns:r="http://schemas.openxmlformats.org/officeDocument/2006/relationships" r:id="rId3"/>
          </a:graphicData>
        </a:graphic>
      </p:graphicFrame>
      <p:sp>
        <p:nvSpPr>
          <p:cNvPr id="6" name="フリーフォーム: 図形 5">
            <a:extLst>
              <a:ext uri="{FF2B5EF4-FFF2-40B4-BE49-F238E27FC236}">
                <a16:creationId xmlns:a16="http://schemas.microsoft.com/office/drawing/2014/main" id="{658BA2DC-F889-4F25-882E-E1F0F3D8586C}"/>
              </a:ext>
            </a:extLst>
          </p:cNvPr>
          <p:cNvSpPr>
            <a:spLocks noGrp="1"/>
          </p:cNvSpPr>
          <p:nvPr/>
        </p:nvSpPr>
        <p:spPr>
          <a:xfrm>
            <a:off x="1409700" y="2647950"/>
            <a:ext cx="5600700" cy="1695450"/>
          </a:xfrm>
          <a:custGeom>
            <a:avLst/>
            <a:gdLst/>
            <a:ahLst/>
            <a:cxnLst/>
            <a:rect l="0" t="0" r="0" b="0"/>
            <a:pathLst>
              <a:path w="5600700" h="1695450">
                <a:moveTo>
                  <a:pt x="0" y="1695450"/>
                </a:moveTo>
                <a:lnTo>
                  <a:pt x="5600700" y="0"/>
                </a:lnTo>
              </a:path>
            </a:pathLst>
          </a:custGeom>
          <a:noFill/>
          <a:ln w="28575">
            <a:solidFill>
              <a:srgbClr val="D9472B"/>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759FAABA-7372-40DE-A507-F347E8418B03}"/>
              </a:ext>
            </a:extLst>
          </p:cNvPr>
          <p:cNvSpPr>
            <a:spLocks noGrp="1"/>
          </p:cNvSpPr>
          <p:nvPr/>
        </p:nvSpPr>
        <p:spPr>
          <a:xfrm>
            <a:off x="8191500" y="1695450"/>
            <a:ext cx="1695450" cy="1428750"/>
          </a:xfrm>
          <a:prstGeom prst="rect">
            <a:avLst/>
          </a:prstGeom>
          <a:solidFill>
            <a:srgbClr val="EEF0F2"/>
          </a:solidFill>
          <a:ln w="11430">
            <a:solidFill>
              <a:srgbClr val="C8CDD5"/>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57670402-BA5B-46DE-A2B6-9D4256F1B1C7}"/>
              </a:ext>
            </a:extLst>
          </p:cNvPr>
          <p:cNvSpPr>
            <a:spLocks noGrp="1"/>
          </p:cNvSpPr>
          <p:nvPr/>
        </p:nvSpPr>
        <p:spPr>
          <a:xfrm>
            <a:off x="8439150" y="1905000"/>
            <a:ext cx="1200150" cy="323850"/>
          </a:xfrm>
          <a:prstGeom prst="rect">
            <a:avLst/>
          </a:prstGeom>
          <a:noFill/>
          <a:ln w="0">
            <a:noFill/>
            <a:prstDash val="solid"/>
          </a:ln>
        </p:spPr>
        <p:txBody>
          <a:bodyPr/>
          <a:lstStyle/>
          <a:p>
            <a:pPr algn="l">
              <a:defRPr sz="1725" b="1">
                <a:solidFill>
                  <a:srgbClr val="111827"/>
                </a:solidFill>
              </a:defRPr>
            </a:pPr>
            <a:r>
              <a:rPr sz="1725" b="1">
                <a:solidFill>
                  <a:srgbClr val="111827"/>
                </a:solidFill>
              </a:rPr>
              <a:t>決定係数</a:t>
            </a:r>
          </a:p>
        </p:txBody>
      </p:sp>
      <p:sp>
        <p:nvSpPr>
          <p:cNvPr id="9" name="正方形/長方形 8">
            <a:extLst>
              <a:ext uri="{FF2B5EF4-FFF2-40B4-BE49-F238E27FC236}">
                <a16:creationId xmlns:a16="http://schemas.microsoft.com/office/drawing/2014/main" id="{808E81DD-9514-4833-AF92-65E0A208EC19}"/>
              </a:ext>
            </a:extLst>
          </p:cNvPr>
          <p:cNvSpPr>
            <a:spLocks noGrp="1"/>
          </p:cNvSpPr>
          <p:nvPr/>
        </p:nvSpPr>
        <p:spPr>
          <a:xfrm>
            <a:off x="8439150" y="2343150"/>
            <a:ext cx="1200150" cy="533400"/>
          </a:xfrm>
          <a:prstGeom prst="rect">
            <a:avLst/>
          </a:prstGeom>
          <a:noFill/>
          <a:ln w="0">
            <a:noFill/>
            <a:prstDash val="solid"/>
          </a:ln>
        </p:spPr>
        <p:txBody>
          <a:bodyPr/>
          <a:lstStyle/>
          <a:p>
            <a:pPr algn="l">
              <a:defRPr sz="3150" b="1">
                <a:solidFill>
                  <a:srgbClr val="111827"/>
                </a:solidFill>
              </a:defRPr>
            </a:pPr>
            <a:r>
              <a:rPr sz="3150" b="1">
                <a:solidFill>
                  <a:srgbClr val="111827"/>
                </a:solidFill>
              </a:rPr>
              <a:t>.286</a:t>
            </a:r>
          </a:p>
        </p:txBody>
      </p:sp>
      <p:sp>
        <p:nvSpPr>
          <p:cNvPr id="10" name="正方形/長方形 9">
            <a:extLst>
              <a:ext uri="{FF2B5EF4-FFF2-40B4-BE49-F238E27FC236}">
                <a16:creationId xmlns:a16="http://schemas.microsoft.com/office/drawing/2014/main" id="{3B87CD37-C12D-48DE-8802-A493CF295EA5}"/>
              </a:ext>
            </a:extLst>
          </p:cNvPr>
          <p:cNvSpPr>
            <a:spLocks noGrp="1"/>
          </p:cNvSpPr>
          <p:nvPr/>
        </p:nvSpPr>
        <p:spPr>
          <a:xfrm>
            <a:off x="8439150" y="2895600"/>
            <a:ext cx="1200150" cy="152400"/>
          </a:xfrm>
          <a:prstGeom prst="rect">
            <a:avLst/>
          </a:prstGeom>
          <a:noFill/>
          <a:ln w="0">
            <a:noFill/>
            <a:prstDash val="solid"/>
          </a:ln>
        </p:spPr>
        <p:txBody>
          <a:bodyPr/>
          <a:lstStyle/>
          <a:p>
            <a:pPr algn="l">
              <a:defRPr sz="1275" b="0">
                <a:solidFill>
                  <a:srgbClr val="4B5563"/>
                </a:solidFill>
              </a:defRPr>
            </a:pPr>
            <a:r>
              <a:rPr sz="1275" b="0">
                <a:solidFill>
                  <a:srgbClr val="4B5563"/>
                </a:solidFill>
              </a:rPr>
              <a:t>約29%を説明</a:t>
            </a:r>
          </a:p>
        </p:txBody>
      </p:sp>
      <p:sp>
        <p:nvSpPr>
          <p:cNvPr id="11" name="正方形/長方形 10">
            <a:extLst>
              <a:ext uri="{FF2B5EF4-FFF2-40B4-BE49-F238E27FC236}">
                <a16:creationId xmlns:a16="http://schemas.microsoft.com/office/drawing/2014/main" id="{F9D855F7-0216-46E4-A1CA-0772841CCD94}"/>
              </a:ext>
            </a:extLst>
          </p:cNvPr>
          <p:cNvSpPr>
            <a:spLocks noGrp="1"/>
          </p:cNvSpPr>
          <p:nvPr/>
        </p:nvSpPr>
        <p:spPr>
          <a:xfrm>
            <a:off x="10096500" y="1695450"/>
            <a:ext cx="1695450" cy="1428750"/>
          </a:xfrm>
          <a:prstGeom prst="rect">
            <a:avLst/>
          </a:prstGeom>
          <a:solidFill>
            <a:srgbClr val="EEF0F2"/>
          </a:solidFill>
          <a:ln w="11430">
            <a:solidFill>
              <a:srgbClr val="C8CDD5"/>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CFA203AE-EAA0-41E6-A7E6-DA43A05C4D94}"/>
              </a:ext>
            </a:extLst>
          </p:cNvPr>
          <p:cNvSpPr>
            <a:spLocks noGrp="1"/>
          </p:cNvSpPr>
          <p:nvPr/>
        </p:nvSpPr>
        <p:spPr>
          <a:xfrm>
            <a:off x="10344150" y="1905000"/>
            <a:ext cx="1200150" cy="323850"/>
          </a:xfrm>
          <a:prstGeom prst="rect">
            <a:avLst/>
          </a:prstGeom>
          <a:noFill/>
          <a:ln w="0">
            <a:noFill/>
            <a:prstDash val="solid"/>
          </a:ln>
        </p:spPr>
        <p:txBody>
          <a:bodyPr/>
          <a:lstStyle/>
          <a:p>
            <a:pPr algn="l">
              <a:defRPr sz="1725" b="1">
                <a:solidFill>
                  <a:srgbClr val="111827"/>
                </a:solidFill>
              </a:defRPr>
            </a:pPr>
            <a:r>
              <a:rPr sz="1725" b="1">
                <a:solidFill>
                  <a:srgbClr val="111827"/>
                </a:solidFill>
              </a:rPr>
              <a:t>p値</a:t>
            </a:r>
          </a:p>
        </p:txBody>
      </p:sp>
      <p:sp>
        <p:nvSpPr>
          <p:cNvPr id="13" name="正方形/長方形 12">
            <a:extLst>
              <a:ext uri="{FF2B5EF4-FFF2-40B4-BE49-F238E27FC236}">
                <a16:creationId xmlns:a16="http://schemas.microsoft.com/office/drawing/2014/main" id="{7C185C39-A379-45EB-A010-04E49918AE84}"/>
              </a:ext>
            </a:extLst>
          </p:cNvPr>
          <p:cNvSpPr>
            <a:spLocks noGrp="1"/>
          </p:cNvSpPr>
          <p:nvPr/>
        </p:nvSpPr>
        <p:spPr>
          <a:xfrm>
            <a:off x="10344150" y="2343150"/>
            <a:ext cx="1200150" cy="533400"/>
          </a:xfrm>
          <a:prstGeom prst="rect">
            <a:avLst/>
          </a:prstGeom>
          <a:noFill/>
          <a:ln w="0">
            <a:noFill/>
            <a:prstDash val="solid"/>
          </a:ln>
        </p:spPr>
        <p:txBody>
          <a:bodyPr/>
          <a:lstStyle/>
          <a:p>
            <a:pPr algn="l">
              <a:defRPr sz="3150" b="1">
                <a:solidFill>
                  <a:srgbClr val="111827"/>
                </a:solidFill>
              </a:defRPr>
            </a:pPr>
            <a:r>
              <a:rPr sz="3150" b="1">
                <a:solidFill>
                  <a:srgbClr val="111827"/>
                </a:solidFill>
              </a:rPr>
              <a:t>.027</a:t>
            </a:r>
          </a:p>
        </p:txBody>
      </p:sp>
      <p:sp>
        <p:nvSpPr>
          <p:cNvPr id="14" name="正方形/長方形 13">
            <a:extLst>
              <a:ext uri="{FF2B5EF4-FFF2-40B4-BE49-F238E27FC236}">
                <a16:creationId xmlns:a16="http://schemas.microsoft.com/office/drawing/2014/main" id="{5DDE517D-DA47-4651-A2DB-8BC1DA98188F}"/>
              </a:ext>
            </a:extLst>
          </p:cNvPr>
          <p:cNvSpPr>
            <a:spLocks noGrp="1"/>
          </p:cNvSpPr>
          <p:nvPr/>
        </p:nvSpPr>
        <p:spPr>
          <a:xfrm>
            <a:off x="10344150" y="2895600"/>
            <a:ext cx="1200150" cy="152400"/>
          </a:xfrm>
          <a:prstGeom prst="rect">
            <a:avLst/>
          </a:prstGeom>
          <a:noFill/>
          <a:ln w="0">
            <a:noFill/>
            <a:prstDash val="solid"/>
          </a:ln>
        </p:spPr>
        <p:txBody>
          <a:bodyPr/>
          <a:lstStyle/>
          <a:p>
            <a:pPr algn="l">
              <a:defRPr sz="1275" b="0">
                <a:solidFill>
                  <a:srgbClr val="4B5563"/>
                </a:solidFill>
              </a:defRPr>
            </a:pPr>
            <a:r>
              <a:rPr sz="1275" b="0">
                <a:solidFill>
                  <a:srgbClr val="4B5563"/>
                </a:solidFill>
              </a:rPr>
              <a:t>5%水準で有意</a:t>
            </a:r>
          </a:p>
        </p:txBody>
      </p:sp>
      <p:sp>
        <p:nvSpPr>
          <p:cNvPr id="15" name="正方形/長方形 14">
            <a:extLst>
              <a:ext uri="{FF2B5EF4-FFF2-40B4-BE49-F238E27FC236}">
                <a16:creationId xmlns:a16="http://schemas.microsoft.com/office/drawing/2014/main" id="{2386F969-97BB-4FE4-8ADE-B114DF647351}"/>
              </a:ext>
            </a:extLst>
          </p:cNvPr>
          <p:cNvSpPr>
            <a:spLocks noGrp="1"/>
          </p:cNvSpPr>
          <p:nvPr/>
        </p:nvSpPr>
        <p:spPr>
          <a:xfrm>
            <a:off x="8191500" y="3428999"/>
            <a:ext cx="3600450" cy="1625367"/>
          </a:xfrm>
          <a:prstGeom prst="rect">
            <a:avLst/>
          </a:prstGeom>
          <a:solidFill>
            <a:srgbClr val="F7F8FA"/>
          </a:solidFill>
          <a:ln w="11430">
            <a:solidFill>
              <a:srgbClr val="C8CDD5"/>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6D907624-B796-4FF3-A425-A701B892CA24}"/>
              </a:ext>
            </a:extLst>
          </p:cNvPr>
          <p:cNvSpPr>
            <a:spLocks noGrp="1"/>
          </p:cNvSpPr>
          <p:nvPr/>
        </p:nvSpPr>
        <p:spPr>
          <a:xfrm>
            <a:off x="8439150" y="3638550"/>
            <a:ext cx="3105150" cy="323850"/>
          </a:xfrm>
          <a:prstGeom prst="rect">
            <a:avLst/>
          </a:prstGeom>
          <a:noFill/>
          <a:ln w="0">
            <a:noFill/>
            <a:prstDash val="solid"/>
          </a:ln>
        </p:spPr>
        <p:txBody>
          <a:bodyPr/>
          <a:lstStyle/>
          <a:p>
            <a:pPr algn="l">
              <a:defRPr sz="1725" b="1">
                <a:solidFill>
                  <a:srgbClr val="111827"/>
                </a:solidFill>
              </a:defRPr>
            </a:pPr>
            <a:r>
              <a:rPr sz="1725" b="1">
                <a:solidFill>
                  <a:srgbClr val="111827"/>
                </a:solidFill>
              </a:rPr>
              <a:t>解釈</a:t>
            </a:r>
          </a:p>
        </p:txBody>
      </p:sp>
      <p:sp>
        <p:nvSpPr>
          <p:cNvPr id="17" name="正方形/長方形 16">
            <a:extLst>
              <a:ext uri="{FF2B5EF4-FFF2-40B4-BE49-F238E27FC236}">
                <a16:creationId xmlns:a16="http://schemas.microsoft.com/office/drawing/2014/main" id="{D88E5995-5F2A-4577-8723-89516761DC75}"/>
              </a:ext>
            </a:extLst>
          </p:cNvPr>
          <p:cNvSpPr>
            <a:spLocks noGrp="1"/>
          </p:cNvSpPr>
          <p:nvPr/>
        </p:nvSpPr>
        <p:spPr>
          <a:xfrm>
            <a:off x="8439150" y="4076700"/>
            <a:ext cx="3105150" cy="533400"/>
          </a:xfrm>
          <a:prstGeom prst="rect">
            <a:avLst/>
          </a:prstGeom>
          <a:noFill/>
          <a:ln w="0">
            <a:noFill/>
            <a:prstDash val="solid"/>
          </a:ln>
        </p:spPr>
        <p:txBody>
          <a:bodyPr/>
          <a:lstStyle/>
          <a:p>
            <a:pPr algn="l">
              <a:defRPr sz="3150" b="1">
                <a:solidFill>
                  <a:srgbClr val="111827"/>
                </a:solidFill>
              </a:defRPr>
            </a:pPr>
            <a:r>
              <a:rPr sz="3150" b="1">
                <a:solidFill>
                  <a:srgbClr val="111827"/>
                </a:solidFill>
              </a:rPr>
              <a:t>10倍 → 2.94倍</a:t>
            </a:r>
          </a:p>
        </p:txBody>
      </p:sp>
      <p:sp>
        <p:nvSpPr>
          <p:cNvPr id="18" name="正方形/長方形 17">
            <a:extLst>
              <a:ext uri="{FF2B5EF4-FFF2-40B4-BE49-F238E27FC236}">
                <a16:creationId xmlns:a16="http://schemas.microsoft.com/office/drawing/2014/main" id="{B2B11948-1AB9-450D-94CD-9B33691E1E8E}"/>
              </a:ext>
            </a:extLst>
          </p:cNvPr>
          <p:cNvSpPr>
            <a:spLocks noGrp="1"/>
          </p:cNvSpPr>
          <p:nvPr/>
        </p:nvSpPr>
        <p:spPr>
          <a:xfrm>
            <a:off x="8439150" y="4629150"/>
            <a:ext cx="3105150" cy="247650"/>
          </a:xfrm>
          <a:prstGeom prst="rect">
            <a:avLst/>
          </a:prstGeom>
          <a:noFill/>
          <a:ln w="0">
            <a:noFill/>
            <a:prstDash val="solid"/>
          </a:ln>
        </p:spPr>
        <p:txBody>
          <a:bodyPr/>
          <a:lstStyle/>
          <a:p>
            <a:pPr algn="l">
              <a:defRPr sz="1275" b="0">
                <a:solidFill>
                  <a:srgbClr val="4B5563"/>
                </a:solidFill>
              </a:defRPr>
            </a:pPr>
            <a:r>
              <a:rPr sz="1275" b="0">
                <a:solidFill>
                  <a:srgbClr val="4B5563"/>
                </a:solidFill>
              </a:rPr>
              <a:t>研究費が10倍でも、出願件数は比例的には増えない</a:t>
            </a:r>
          </a:p>
        </p:txBody>
      </p:sp>
      <p:sp>
        <p:nvSpPr>
          <p:cNvPr id="19" name="正方形/長方形 18">
            <a:extLst>
              <a:ext uri="{FF2B5EF4-FFF2-40B4-BE49-F238E27FC236}">
                <a16:creationId xmlns:a16="http://schemas.microsoft.com/office/drawing/2014/main" id="{AE4D271D-DFFC-4593-B2E1-5854E408F664}"/>
              </a:ext>
            </a:extLst>
          </p:cNvPr>
          <p:cNvSpPr>
            <a:spLocks noGrp="1"/>
          </p:cNvSpPr>
          <p:nvPr/>
        </p:nvSpPr>
        <p:spPr>
          <a:xfrm>
            <a:off x="533400" y="5715000"/>
            <a:ext cx="8572500" cy="266700"/>
          </a:xfrm>
          <a:prstGeom prst="rect">
            <a:avLst/>
          </a:prstGeom>
          <a:noFill/>
          <a:ln w="0">
            <a:noFill/>
            <a:prstDash val="solid"/>
          </a:ln>
        </p:spPr>
        <p:txBody>
          <a:bodyPr/>
          <a:lstStyle/>
          <a:p>
            <a:pPr algn="l">
              <a:defRPr sz="1050" b="0">
                <a:solidFill>
                  <a:srgbClr val="8A94A6"/>
                </a:solidFill>
              </a:defRPr>
            </a:pPr>
            <a:r>
              <a:rPr sz="1050" b="0">
                <a:solidFill>
                  <a:srgbClr val="8A94A6"/>
                </a:solidFill>
              </a:rPr>
              <a:t>出典：特許庁「令和7年度知的財産活動調査」、e-Stat 業種別出願件数階級別集計表</a:t>
            </a:r>
          </a:p>
        </p:txBody>
      </p:sp>
    </p:spTree>
    <p:extLst>
      <p:ext uri="{BB962C8B-B14F-4D97-AF65-F5344CB8AC3E}">
        <p14:creationId xmlns:p14="http://schemas.microsoft.com/office/powerpoint/2010/main" val="1024371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5D969435-5687-4FF5-B683-A929243784D0}"/>
              </a:ext>
            </a:extLst>
          </p:cNvPr>
          <p:cNvSpPr>
            <a:spLocks noGrp="1"/>
          </p:cNvSpPr>
          <p:nvPr/>
        </p:nvSpPr>
        <p:spPr>
          <a:xfrm>
            <a:off x="400050" y="361950"/>
            <a:ext cx="8191500" cy="533400"/>
          </a:xfrm>
          <a:prstGeom prst="rect">
            <a:avLst/>
          </a:prstGeom>
          <a:noFill/>
          <a:ln w="0">
            <a:noFill/>
            <a:prstDash val="solid"/>
          </a:ln>
        </p:spPr>
        <p:txBody>
          <a:bodyPr/>
          <a:lstStyle/>
          <a:p>
            <a:pPr algn="l">
              <a:defRPr sz="3000" b="1">
                <a:solidFill>
                  <a:srgbClr val="111827"/>
                </a:solidFill>
              </a:defRPr>
            </a:pPr>
            <a:r>
              <a:rPr sz="3000" b="1">
                <a:solidFill>
                  <a:srgbClr val="111827"/>
                </a:solidFill>
              </a:rPr>
              <a:t>産業差が大きい</a:t>
            </a:r>
          </a:p>
        </p:txBody>
      </p:sp>
      <p:sp>
        <p:nvSpPr>
          <p:cNvPr id="2" name="正方形/長方形 1">
            <a:extLst>
              <a:ext uri="{FF2B5EF4-FFF2-40B4-BE49-F238E27FC236}">
                <a16:creationId xmlns:a16="http://schemas.microsoft.com/office/drawing/2014/main" id="{30CF05FD-1A1A-43FB-8216-2F51EF864A04}"/>
              </a:ext>
            </a:extLst>
          </p:cNvPr>
          <p:cNvSpPr>
            <a:spLocks noGrp="1"/>
          </p:cNvSpPr>
          <p:nvPr/>
        </p:nvSpPr>
        <p:spPr>
          <a:xfrm>
            <a:off x="400050" y="990600"/>
            <a:ext cx="8953500" cy="400050"/>
          </a:xfrm>
          <a:prstGeom prst="rect">
            <a:avLst/>
          </a:prstGeom>
          <a:noFill/>
          <a:ln w="0">
            <a:noFill/>
            <a:prstDash val="solid"/>
          </a:ln>
        </p:spPr>
        <p:txBody>
          <a:bodyPr/>
          <a:lstStyle/>
          <a:p>
            <a:pPr algn="l">
              <a:defRPr sz="1500" b="0">
                <a:solidFill>
                  <a:srgbClr val="4B5563"/>
                </a:solidFill>
              </a:defRPr>
            </a:pPr>
            <a:r>
              <a:rPr sz="1500" b="0">
                <a:solidFill>
                  <a:srgbClr val="4B5563"/>
                </a:solidFill>
              </a:rPr>
              <a:t>研究費が同じでも、特許出願として表れやすい産業と表れにくい産業がある</a:t>
            </a:r>
          </a:p>
        </p:txBody>
      </p:sp>
      <p:sp>
        <p:nvSpPr>
          <p:cNvPr id="3" name="正方形/長方形 2">
            <a:extLst>
              <a:ext uri="{FF2B5EF4-FFF2-40B4-BE49-F238E27FC236}">
                <a16:creationId xmlns:a16="http://schemas.microsoft.com/office/drawing/2014/main" id="{43B0E6BA-156E-430D-8E63-7D10D2E38FF9}"/>
              </a:ext>
            </a:extLst>
          </p:cNvPr>
          <p:cNvSpPr>
            <a:spLocks noGrp="1"/>
          </p:cNvSpPr>
          <p:nvPr/>
        </p:nvSpPr>
        <p:spPr>
          <a:xfrm>
            <a:off x="400050" y="6286500"/>
            <a:ext cx="4095750" cy="266700"/>
          </a:xfrm>
          <a:prstGeom prst="rect">
            <a:avLst/>
          </a:prstGeom>
          <a:noFill/>
          <a:ln w="0">
            <a:noFill/>
            <a:prstDash val="solid"/>
          </a:ln>
        </p:spPr>
        <p:txBody>
          <a:bodyPr/>
          <a:lstStyle/>
          <a:p>
            <a:pPr algn="l">
              <a:defRPr sz="1125" b="0">
                <a:solidFill>
                  <a:srgbClr val="8A94A6"/>
                </a:solidFill>
              </a:defRPr>
            </a:pPr>
            <a:r>
              <a:rPr sz="1125" b="0">
                <a:solidFill>
                  <a:srgbClr val="8A94A6"/>
                </a:solidFill>
              </a:rPr>
              <a:t>戦略行動システム演習 最終レポート</a:t>
            </a:r>
          </a:p>
        </p:txBody>
      </p:sp>
      <p:sp>
        <p:nvSpPr>
          <p:cNvPr id="4" name="正方形/長方形 3">
            <a:extLst>
              <a:ext uri="{FF2B5EF4-FFF2-40B4-BE49-F238E27FC236}">
                <a16:creationId xmlns:a16="http://schemas.microsoft.com/office/drawing/2014/main" id="{9FA77230-E2AB-4488-AF57-DBCA8CF1C331}"/>
              </a:ext>
            </a:extLst>
          </p:cNvPr>
          <p:cNvSpPr>
            <a:spLocks noGrp="1"/>
          </p:cNvSpPr>
          <p:nvPr/>
        </p:nvSpPr>
        <p:spPr>
          <a:xfrm>
            <a:off x="11201400" y="6286500"/>
            <a:ext cx="590550" cy="266700"/>
          </a:xfrm>
          <a:prstGeom prst="rect">
            <a:avLst/>
          </a:prstGeom>
          <a:noFill/>
          <a:ln w="0">
            <a:noFill/>
            <a:prstDash val="solid"/>
          </a:ln>
        </p:spPr>
        <p:txBody>
          <a:bodyPr/>
          <a:lstStyle/>
          <a:p>
            <a:pPr algn="r">
              <a:defRPr sz="1125" b="0">
                <a:solidFill>
                  <a:srgbClr val="8A94A6"/>
                </a:solidFill>
              </a:defRPr>
            </a:pPr>
            <a:r>
              <a:rPr sz="1125" b="0">
                <a:solidFill>
                  <a:srgbClr val="8A94A6"/>
                </a:solidFill>
              </a:rPr>
              <a:t>5</a:t>
            </a:r>
          </a:p>
        </p:txBody>
      </p:sp>
      <p:graphicFrame>
        <p:nvGraphicFramePr>
          <p:cNvPr id="20" name="Chart"/>
          <p:cNvGraphicFramePr/>
          <p:nvPr/>
        </p:nvGraphicFramePr>
        <p:xfrm>
          <a:off x="552450" y="1790700"/>
          <a:ext cx="58102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6" name="正方形/長方形 5">
            <a:extLst>
              <a:ext uri="{FF2B5EF4-FFF2-40B4-BE49-F238E27FC236}">
                <a16:creationId xmlns:a16="http://schemas.microsoft.com/office/drawing/2014/main" id="{6006F243-E1E1-4AA2-ADCF-923F34E2B548}"/>
              </a:ext>
            </a:extLst>
          </p:cNvPr>
          <p:cNvSpPr>
            <a:spLocks noGrp="1"/>
          </p:cNvSpPr>
          <p:nvPr/>
        </p:nvSpPr>
        <p:spPr>
          <a:xfrm>
            <a:off x="6857999" y="1809750"/>
            <a:ext cx="2126609" cy="1352550"/>
          </a:xfrm>
          <a:prstGeom prst="rect">
            <a:avLst/>
          </a:prstGeom>
          <a:solidFill>
            <a:srgbClr val="F7F8FA"/>
          </a:solidFill>
          <a:ln w="11430">
            <a:solidFill>
              <a:srgbClr val="C8CDD5"/>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275A168B-5163-4B75-B048-5F3E7A112906}"/>
              </a:ext>
            </a:extLst>
          </p:cNvPr>
          <p:cNvSpPr>
            <a:spLocks noGrp="1"/>
          </p:cNvSpPr>
          <p:nvPr/>
        </p:nvSpPr>
        <p:spPr>
          <a:xfrm>
            <a:off x="7105650" y="2038350"/>
            <a:ext cx="1714500" cy="266700"/>
          </a:xfrm>
          <a:prstGeom prst="rect">
            <a:avLst/>
          </a:prstGeom>
          <a:noFill/>
          <a:ln w="0">
            <a:noFill/>
            <a:prstDash val="solid"/>
          </a:ln>
        </p:spPr>
        <p:txBody>
          <a:bodyPr/>
          <a:lstStyle/>
          <a:p>
            <a:pPr algn="l">
              <a:defRPr sz="1800" b="1">
                <a:solidFill>
                  <a:srgbClr val="111827"/>
                </a:solidFill>
              </a:defRPr>
            </a:pPr>
            <a:r>
              <a:rPr sz="1800" b="1">
                <a:solidFill>
                  <a:srgbClr val="111827"/>
                </a:solidFill>
              </a:rPr>
              <a:t>予測より多い</a:t>
            </a:r>
          </a:p>
        </p:txBody>
      </p:sp>
      <p:sp>
        <p:nvSpPr>
          <p:cNvPr id="8" name="正方形/長方形 7">
            <a:extLst>
              <a:ext uri="{FF2B5EF4-FFF2-40B4-BE49-F238E27FC236}">
                <a16:creationId xmlns:a16="http://schemas.microsoft.com/office/drawing/2014/main" id="{A4184654-0D71-4F0B-9DE2-9C4EA3516247}"/>
              </a:ext>
            </a:extLst>
          </p:cNvPr>
          <p:cNvSpPr>
            <a:spLocks noGrp="1"/>
          </p:cNvSpPr>
          <p:nvPr/>
        </p:nvSpPr>
        <p:spPr>
          <a:xfrm>
            <a:off x="7105650" y="2476500"/>
            <a:ext cx="1619250" cy="723900"/>
          </a:xfrm>
          <a:prstGeom prst="rect">
            <a:avLst/>
          </a:prstGeom>
          <a:noFill/>
          <a:ln w="0">
            <a:noFill/>
            <a:prstDash val="solid"/>
          </a:ln>
        </p:spPr>
        <p:txBody>
          <a:bodyPr/>
          <a:lstStyle/>
          <a:p>
            <a:pPr algn="l">
              <a:defRPr sz="1350" b="0">
                <a:solidFill>
                  <a:srgbClr val="4B5563"/>
                </a:solidFill>
              </a:defRPr>
            </a:pPr>
            <a:r>
              <a:rPr sz="1350" b="0">
                <a:solidFill>
                  <a:srgbClr val="4B5563"/>
                </a:solidFill>
              </a:rPr>
              <a:t>その他の非製造業</a:t>
            </a:r>
          </a:p>
          <a:p>
            <a:pPr algn="l">
              <a:defRPr sz="1350" b="0">
                <a:solidFill>
                  <a:srgbClr val="4B5563"/>
                </a:solidFill>
              </a:defRPr>
            </a:pPr>
            <a:r>
              <a:rPr sz="1350" b="0">
                <a:solidFill>
                  <a:srgbClr val="4B5563"/>
                </a:solidFill>
              </a:rPr>
              <a:t>電気機械製造業</a:t>
            </a:r>
          </a:p>
          <a:p>
            <a:pPr algn="l">
              <a:defRPr sz="1350" b="0">
                <a:solidFill>
                  <a:srgbClr val="4B5563"/>
                </a:solidFill>
              </a:defRPr>
            </a:pPr>
            <a:r>
              <a:rPr sz="1350" b="0">
                <a:solidFill>
                  <a:srgbClr val="4B5563"/>
                </a:solidFill>
              </a:rPr>
              <a:t>その他の製造業</a:t>
            </a:r>
          </a:p>
        </p:txBody>
      </p:sp>
      <p:sp>
        <p:nvSpPr>
          <p:cNvPr id="9" name="正方形/長方形 8">
            <a:extLst>
              <a:ext uri="{FF2B5EF4-FFF2-40B4-BE49-F238E27FC236}">
                <a16:creationId xmlns:a16="http://schemas.microsoft.com/office/drawing/2014/main" id="{5704B761-3A9E-4B3F-8D84-70BB122A5479}"/>
              </a:ext>
            </a:extLst>
          </p:cNvPr>
          <p:cNvSpPr>
            <a:spLocks noGrp="1"/>
          </p:cNvSpPr>
          <p:nvPr/>
        </p:nvSpPr>
        <p:spPr>
          <a:xfrm>
            <a:off x="9353549" y="1809750"/>
            <a:ext cx="2177119" cy="1352550"/>
          </a:xfrm>
          <a:prstGeom prst="rect">
            <a:avLst/>
          </a:prstGeom>
          <a:solidFill>
            <a:srgbClr val="F7F8FA"/>
          </a:solidFill>
          <a:ln w="11430">
            <a:solidFill>
              <a:srgbClr val="C8CDD5"/>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8BAA10C9-5673-42D2-8867-14892D606ADA}"/>
              </a:ext>
            </a:extLst>
          </p:cNvPr>
          <p:cNvSpPr>
            <a:spLocks noGrp="1"/>
          </p:cNvSpPr>
          <p:nvPr/>
        </p:nvSpPr>
        <p:spPr>
          <a:xfrm>
            <a:off x="9601200" y="2038350"/>
            <a:ext cx="1714500" cy="266700"/>
          </a:xfrm>
          <a:prstGeom prst="rect">
            <a:avLst/>
          </a:prstGeom>
          <a:noFill/>
          <a:ln w="0">
            <a:noFill/>
            <a:prstDash val="solid"/>
          </a:ln>
        </p:spPr>
        <p:txBody>
          <a:bodyPr/>
          <a:lstStyle/>
          <a:p>
            <a:pPr algn="l">
              <a:defRPr sz="1800" b="1">
                <a:solidFill>
                  <a:srgbClr val="111827"/>
                </a:solidFill>
              </a:defRPr>
            </a:pPr>
            <a:r>
              <a:rPr sz="1800" b="1">
                <a:solidFill>
                  <a:srgbClr val="111827"/>
                </a:solidFill>
              </a:rPr>
              <a:t>予測より少ない</a:t>
            </a:r>
          </a:p>
        </p:txBody>
      </p:sp>
      <p:sp>
        <p:nvSpPr>
          <p:cNvPr id="11" name="正方形/長方形 10">
            <a:extLst>
              <a:ext uri="{FF2B5EF4-FFF2-40B4-BE49-F238E27FC236}">
                <a16:creationId xmlns:a16="http://schemas.microsoft.com/office/drawing/2014/main" id="{65C3E266-27CD-45A3-B305-B3E8EA81F240}"/>
              </a:ext>
            </a:extLst>
          </p:cNvPr>
          <p:cNvSpPr>
            <a:spLocks noGrp="1"/>
          </p:cNvSpPr>
          <p:nvPr/>
        </p:nvSpPr>
        <p:spPr>
          <a:xfrm>
            <a:off x="9601200" y="2476500"/>
            <a:ext cx="1619250" cy="723900"/>
          </a:xfrm>
          <a:prstGeom prst="rect">
            <a:avLst/>
          </a:prstGeom>
          <a:noFill/>
          <a:ln w="0">
            <a:noFill/>
            <a:prstDash val="solid"/>
          </a:ln>
        </p:spPr>
        <p:txBody>
          <a:bodyPr/>
          <a:lstStyle/>
          <a:p>
            <a:pPr algn="l">
              <a:defRPr sz="1350" b="0">
                <a:solidFill>
                  <a:srgbClr val="4B5563"/>
                </a:solidFill>
              </a:defRPr>
            </a:pPr>
            <a:r>
              <a:rPr sz="1350" b="0">
                <a:solidFill>
                  <a:srgbClr val="4B5563"/>
                </a:solidFill>
              </a:rPr>
              <a:t>医薬品製造業</a:t>
            </a:r>
          </a:p>
          <a:p>
            <a:pPr algn="l">
              <a:defRPr sz="1350" b="0">
                <a:solidFill>
                  <a:srgbClr val="4B5563"/>
                </a:solidFill>
              </a:defRPr>
            </a:pPr>
            <a:r>
              <a:rPr sz="1350" b="0">
                <a:solidFill>
                  <a:srgbClr val="4B5563"/>
                </a:solidFill>
              </a:rPr>
              <a:t>卸売・小売等</a:t>
            </a:r>
          </a:p>
          <a:p>
            <a:pPr algn="l">
              <a:defRPr sz="1350" b="0">
                <a:solidFill>
                  <a:srgbClr val="4B5563"/>
                </a:solidFill>
              </a:defRPr>
            </a:pPr>
            <a:r>
              <a:rPr sz="1350" b="0">
                <a:solidFill>
                  <a:srgbClr val="4B5563"/>
                </a:solidFill>
              </a:rPr>
              <a:t>食品製造業</a:t>
            </a:r>
          </a:p>
        </p:txBody>
      </p:sp>
      <p:sp>
        <p:nvSpPr>
          <p:cNvPr id="12" name="正方形/長方形 11">
            <a:extLst>
              <a:ext uri="{FF2B5EF4-FFF2-40B4-BE49-F238E27FC236}">
                <a16:creationId xmlns:a16="http://schemas.microsoft.com/office/drawing/2014/main" id="{C5D1D75E-3063-449D-9BB9-CFC47C74688E}"/>
              </a:ext>
            </a:extLst>
          </p:cNvPr>
          <p:cNvSpPr>
            <a:spLocks noGrp="1"/>
          </p:cNvSpPr>
          <p:nvPr/>
        </p:nvSpPr>
        <p:spPr>
          <a:xfrm>
            <a:off x="6858000" y="3752850"/>
            <a:ext cx="85725" cy="85725"/>
          </a:xfrm>
          <a:prstGeom prst="rect">
            <a:avLst/>
          </a:prstGeom>
          <a:solidFill>
            <a:srgbClr val="D9472B"/>
          </a:solidFill>
          <a:ln w="11430">
            <a:solidFill>
              <a:srgbClr val="D9472B"/>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AE5E91DE-7141-4A4E-83B3-9735B9A3C863}"/>
              </a:ext>
            </a:extLst>
          </p:cNvPr>
          <p:cNvSpPr>
            <a:spLocks noGrp="1"/>
          </p:cNvSpPr>
          <p:nvPr/>
        </p:nvSpPr>
        <p:spPr>
          <a:xfrm>
            <a:off x="7086600" y="3676650"/>
            <a:ext cx="4295775" cy="533400"/>
          </a:xfrm>
          <a:prstGeom prst="rect">
            <a:avLst/>
          </a:prstGeom>
          <a:noFill/>
          <a:ln w="0">
            <a:noFill/>
            <a:prstDash val="solid"/>
          </a:ln>
        </p:spPr>
        <p:txBody>
          <a:bodyPr/>
          <a:lstStyle/>
          <a:p>
            <a:pPr algn="l">
              <a:defRPr sz="1650" b="0">
                <a:solidFill>
                  <a:srgbClr val="111827"/>
                </a:solidFill>
              </a:defRPr>
            </a:pPr>
            <a:r>
              <a:rPr sz="1650" b="0">
                <a:solidFill>
                  <a:srgbClr val="111827"/>
                </a:solidFill>
              </a:rPr>
              <a:t>医薬品は少数の重要特許や長い開発期間が影響する可能性</a:t>
            </a:r>
          </a:p>
        </p:txBody>
      </p:sp>
      <p:sp>
        <p:nvSpPr>
          <p:cNvPr id="14" name="正方形/長方形 13">
            <a:extLst>
              <a:ext uri="{FF2B5EF4-FFF2-40B4-BE49-F238E27FC236}">
                <a16:creationId xmlns:a16="http://schemas.microsoft.com/office/drawing/2014/main" id="{C589DA7C-41B7-4685-A0F8-D11E5184F63D}"/>
              </a:ext>
            </a:extLst>
          </p:cNvPr>
          <p:cNvSpPr>
            <a:spLocks noGrp="1"/>
          </p:cNvSpPr>
          <p:nvPr/>
        </p:nvSpPr>
        <p:spPr>
          <a:xfrm>
            <a:off x="6858000" y="4533900"/>
            <a:ext cx="85725" cy="85725"/>
          </a:xfrm>
          <a:prstGeom prst="rect">
            <a:avLst/>
          </a:prstGeom>
          <a:solidFill>
            <a:srgbClr val="276FBF"/>
          </a:solidFill>
          <a:ln w="11430">
            <a:solidFill>
              <a:srgbClr val="276FBF"/>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C160D5B0-09A6-45FA-9499-26911BE61D07}"/>
              </a:ext>
            </a:extLst>
          </p:cNvPr>
          <p:cNvSpPr>
            <a:spLocks noGrp="1"/>
          </p:cNvSpPr>
          <p:nvPr/>
        </p:nvSpPr>
        <p:spPr>
          <a:xfrm>
            <a:off x="7086600" y="4457700"/>
            <a:ext cx="4295775" cy="533400"/>
          </a:xfrm>
          <a:prstGeom prst="rect">
            <a:avLst/>
          </a:prstGeom>
          <a:noFill/>
          <a:ln w="0">
            <a:noFill/>
            <a:prstDash val="solid"/>
          </a:ln>
        </p:spPr>
        <p:txBody>
          <a:bodyPr/>
          <a:lstStyle/>
          <a:p>
            <a:pPr algn="l">
              <a:defRPr sz="1650" b="0">
                <a:solidFill>
                  <a:srgbClr val="111827"/>
                </a:solidFill>
              </a:defRPr>
            </a:pPr>
            <a:r>
              <a:rPr sz="1650" b="0">
                <a:solidFill>
                  <a:srgbClr val="111827"/>
                </a:solidFill>
              </a:rPr>
              <a:t>電気機械などは多数の技術要素を継続的に特許化しやすい</a:t>
            </a:r>
          </a:p>
        </p:txBody>
      </p:sp>
    </p:spTree>
    <p:extLst>
      <p:ext uri="{BB962C8B-B14F-4D97-AF65-F5344CB8AC3E}">
        <p14:creationId xmlns:p14="http://schemas.microsoft.com/office/powerpoint/2010/main" val="396938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正方形/長方形 17">
            <a:extLst>
              <a:ext uri="{FF2B5EF4-FFF2-40B4-BE49-F238E27FC236}">
                <a16:creationId xmlns:a16="http://schemas.microsoft.com/office/drawing/2014/main" id="{318474CE-8FD9-4426-BE98-CDD28743ED6B}"/>
              </a:ext>
            </a:extLst>
          </p:cNvPr>
          <p:cNvSpPr>
            <a:spLocks noGrp="1"/>
          </p:cNvSpPr>
          <p:nvPr/>
        </p:nvSpPr>
        <p:spPr>
          <a:xfrm>
            <a:off x="400050" y="361950"/>
            <a:ext cx="8191500" cy="533400"/>
          </a:xfrm>
          <a:prstGeom prst="rect">
            <a:avLst/>
          </a:prstGeom>
          <a:noFill/>
          <a:ln w="0">
            <a:noFill/>
            <a:prstDash val="solid"/>
          </a:ln>
        </p:spPr>
        <p:txBody>
          <a:bodyPr/>
          <a:lstStyle/>
          <a:p>
            <a:pPr algn="l">
              <a:defRPr sz="3000" b="1">
                <a:solidFill>
                  <a:srgbClr val="111827"/>
                </a:solidFill>
              </a:defRPr>
            </a:pPr>
            <a:r>
              <a:rPr sz="3000" b="1">
                <a:solidFill>
                  <a:srgbClr val="111827"/>
                </a:solidFill>
              </a:rPr>
              <a:t>まとめ</a:t>
            </a:r>
          </a:p>
        </p:txBody>
      </p:sp>
      <p:sp>
        <p:nvSpPr>
          <p:cNvPr id="2" name="正方形/長方形 1">
            <a:extLst>
              <a:ext uri="{FF2B5EF4-FFF2-40B4-BE49-F238E27FC236}">
                <a16:creationId xmlns:a16="http://schemas.microsoft.com/office/drawing/2014/main" id="{BDFBCFDF-5798-4C3F-8544-4AB63E56EDD9}"/>
              </a:ext>
            </a:extLst>
          </p:cNvPr>
          <p:cNvSpPr>
            <a:spLocks noGrp="1"/>
          </p:cNvSpPr>
          <p:nvPr/>
        </p:nvSpPr>
        <p:spPr>
          <a:xfrm>
            <a:off x="400050" y="990600"/>
            <a:ext cx="8953500" cy="400050"/>
          </a:xfrm>
          <a:prstGeom prst="rect">
            <a:avLst/>
          </a:prstGeom>
          <a:noFill/>
          <a:ln w="0">
            <a:noFill/>
            <a:prstDash val="solid"/>
          </a:ln>
        </p:spPr>
        <p:txBody>
          <a:bodyPr/>
          <a:lstStyle/>
          <a:p>
            <a:pPr algn="l">
              <a:defRPr sz="1500" b="0">
                <a:solidFill>
                  <a:srgbClr val="4B5563"/>
                </a:solidFill>
              </a:defRPr>
            </a:pPr>
            <a:r>
              <a:rPr sz="1500" b="0" dirty="0" err="1">
                <a:solidFill>
                  <a:srgbClr val="4B5563"/>
                </a:solidFill>
              </a:rPr>
              <a:t>研究開発費</a:t>
            </a:r>
            <a:r>
              <a:rPr lang="ja-JP" altLang="en-US" sz="1500" b="0" dirty="0">
                <a:solidFill>
                  <a:srgbClr val="4B5563"/>
                </a:solidFill>
              </a:rPr>
              <a:t>の大小</a:t>
            </a:r>
            <a:r>
              <a:rPr sz="1500" b="0" dirty="0">
                <a:solidFill>
                  <a:srgbClr val="4B5563"/>
                </a:solidFill>
              </a:rPr>
              <a:t>は</a:t>
            </a:r>
            <a:r>
              <a:rPr lang="ja-JP" altLang="en-US" sz="1500" b="0" dirty="0">
                <a:solidFill>
                  <a:srgbClr val="4B5563"/>
                </a:solidFill>
              </a:rPr>
              <a:t>特許の出願数を説明できるがそれだけで決定するわ</a:t>
            </a:r>
            <a:r>
              <a:rPr lang="ja-JP" altLang="en-US" sz="1500" dirty="0">
                <a:solidFill>
                  <a:srgbClr val="4B5563"/>
                </a:solidFill>
              </a:rPr>
              <a:t>けではない。</a:t>
            </a:r>
            <a:endParaRPr sz="1500" b="0" dirty="0">
              <a:solidFill>
                <a:srgbClr val="4B5563"/>
              </a:solidFill>
            </a:endParaRPr>
          </a:p>
        </p:txBody>
      </p:sp>
      <p:sp>
        <p:nvSpPr>
          <p:cNvPr id="3" name="正方形/長方形 2">
            <a:extLst>
              <a:ext uri="{FF2B5EF4-FFF2-40B4-BE49-F238E27FC236}">
                <a16:creationId xmlns:a16="http://schemas.microsoft.com/office/drawing/2014/main" id="{57AD887F-14EC-4F3D-BB19-17FB0C2E4C15}"/>
              </a:ext>
            </a:extLst>
          </p:cNvPr>
          <p:cNvSpPr>
            <a:spLocks noGrp="1"/>
          </p:cNvSpPr>
          <p:nvPr/>
        </p:nvSpPr>
        <p:spPr>
          <a:xfrm>
            <a:off x="400050" y="6286500"/>
            <a:ext cx="4095750" cy="266700"/>
          </a:xfrm>
          <a:prstGeom prst="rect">
            <a:avLst/>
          </a:prstGeom>
          <a:noFill/>
          <a:ln w="0">
            <a:noFill/>
            <a:prstDash val="solid"/>
          </a:ln>
        </p:spPr>
        <p:txBody>
          <a:bodyPr/>
          <a:lstStyle/>
          <a:p>
            <a:pPr algn="l">
              <a:defRPr sz="1125" b="0">
                <a:solidFill>
                  <a:srgbClr val="8A94A6"/>
                </a:solidFill>
              </a:defRPr>
            </a:pPr>
            <a:r>
              <a:rPr sz="1125" b="0">
                <a:solidFill>
                  <a:srgbClr val="8A94A6"/>
                </a:solidFill>
              </a:rPr>
              <a:t>戦略行動システム演習 最終レポート</a:t>
            </a:r>
          </a:p>
        </p:txBody>
      </p:sp>
      <p:sp>
        <p:nvSpPr>
          <p:cNvPr id="4" name="正方形/長方形 3">
            <a:extLst>
              <a:ext uri="{FF2B5EF4-FFF2-40B4-BE49-F238E27FC236}">
                <a16:creationId xmlns:a16="http://schemas.microsoft.com/office/drawing/2014/main" id="{1DFC6D48-8238-4DD3-862C-B4EBBE4A315E}"/>
              </a:ext>
            </a:extLst>
          </p:cNvPr>
          <p:cNvSpPr>
            <a:spLocks noGrp="1"/>
          </p:cNvSpPr>
          <p:nvPr/>
        </p:nvSpPr>
        <p:spPr>
          <a:xfrm>
            <a:off x="11201400" y="6286500"/>
            <a:ext cx="590550" cy="266700"/>
          </a:xfrm>
          <a:prstGeom prst="rect">
            <a:avLst/>
          </a:prstGeom>
          <a:noFill/>
          <a:ln w="0">
            <a:noFill/>
            <a:prstDash val="solid"/>
          </a:ln>
        </p:spPr>
        <p:txBody>
          <a:bodyPr/>
          <a:lstStyle/>
          <a:p>
            <a:pPr algn="r">
              <a:defRPr sz="1125" b="0">
                <a:solidFill>
                  <a:srgbClr val="8A94A6"/>
                </a:solidFill>
              </a:defRPr>
            </a:pPr>
            <a:r>
              <a:rPr sz="1125" b="0">
                <a:solidFill>
                  <a:srgbClr val="8A94A6"/>
                </a:solidFill>
              </a:rPr>
              <a:t>6</a:t>
            </a:r>
          </a:p>
        </p:txBody>
      </p:sp>
      <p:sp>
        <p:nvSpPr>
          <p:cNvPr id="5" name="正方形/長方形 4">
            <a:extLst>
              <a:ext uri="{FF2B5EF4-FFF2-40B4-BE49-F238E27FC236}">
                <a16:creationId xmlns:a16="http://schemas.microsoft.com/office/drawing/2014/main" id="{17AA877A-08B2-413B-AC4A-A8B92B19E782}"/>
              </a:ext>
            </a:extLst>
          </p:cNvPr>
          <p:cNvSpPr>
            <a:spLocks noGrp="1"/>
          </p:cNvSpPr>
          <p:nvPr/>
        </p:nvSpPr>
        <p:spPr>
          <a:xfrm>
            <a:off x="400050" y="2038350"/>
            <a:ext cx="3571875" cy="3238500"/>
          </a:xfrm>
          <a:prstGeom prst="rect">
            <a:avLst/>
          </a:prstGeom>
          <a:solidFill>
            <a:srgbClr val="EEF0F2"/>
          </a:solidFill>
          <a:ln w="11430">
            <a:solidFill>
              <a:srgbClr val="C8CDD5"/>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FB9BCE7D-E3A5-4223-B03F-0BDF30F605FA}"/>
              </a:ext>
            </a:extLst>
          </p:cNvPr>
          <p:cNvSpPr>
            <a:spLocks noGrp="1"/>
          </p:cNvSpPr>
          <p:nvPr/>
        </p:nvSpPr>
        <p:spPr>
          <a:xfrm>
            <a:off x="647700" y="2305050"/>
            <a:ext cx="3076575" cy="457200"/>
          </a:xfrm>
          <a:prstGeom prst="rect">
            <a:avLst/>
          </a:prstGeom>
          <a:noFill/>
          <a:ln w="0">
            <a:noFill/>
            <a:prstDash val="solid"/>
          </a:ln>
        </p:spPr>
        <p:txBody>
          <a:bodyPr/>
          <a:lstStyle/>
          <a:p>
            <a:pPr algn="l">
              <a:defRPr sz="1800" b="1">
                <a:solidFill>
                  <a:srgbClr val="111827"/>
                </a:solidFill>
              </a:defRPr>
            </a:pPr>
            <a:r>
              <a:rPr sz="1800" b="1">
                <a:solidFill>
                  <a:srgbClr val="111827"/>
                </a:solidFill>
              </a:rPr>
              <a:t>結論 1</a:t>
            </a:r>
          </a:p>
        </p:txBody>
      </p:sp>
      <p:sp>
        <p:nvSpPr>
          <p:cNvPr id="7" name="正方形/長方形 6">
            <a:extLst>
              <a:ext uri="{FF2B5EF4-FFF2-40B4-BE49-F238E27FC236}">
                <a16:creationId xmlns:a16="http://schemas.microsoft.com/office/drawing/2014/main" id="{D8E36FD6-5A5B-4BB4-A652-E0B09A3EF77B}"/>
              </a:ext>
            </a:extLst>
          </p:cNvPr>
          <p:cNvSpPr>
            <a:spLocks noGrp="1"/>
          </p:cNvSpPr>
          <p:nvPr/>
        </p:nvSpPr>
        <p:spPr>
          <a:xfrm>
            <a:off x="647700" y="3181350"/>
            <a:ext cx="3076575" cy="895350"/>
          </a:xfrm>
          <a:prstGeom prst="rect">
            <a:avLst/>
          </a:prstGeom>
          <a:noFill/>
          <a:ln w="0">
            <a:noFill/>
            <a:prstDash val="solid"/>
          </a:ln>
        </p:spPr>
        <p:txBody>
          <a:bodyPr/>
          <a:lstStyle/>
          <a:p>
            <a:pPr algn="l">
              <a:defRPr sz="4500" b="1">
                <a:solidFill>
                  <a:srgbClr val="111827"/>
                </a:solidFill>
              </a:defRPr>
            </a:pPr>
            <a:r>
              <a:rPr sz="4500" b="1">
                <a:solidFill>
                  <a:srgbClr val="111827"/>
                </a:solidFill>
              </a:rPr>
              <a:t>有意</a:t>
            </a:r>
          </a:p>
        </p:txBody>
      </p:sp>
      <p:sp>
        <p:nvSpPr>
          <p:cNvPr id="8" name="正方形/長方形 7">
            <a:extLst>
              <a:ext uri="{FF2B5EF4-FFF2-40B4-BE49-F238E27FC236}">
                <a16:creationId xmlns:a16="http://schemas.microsoft.com/office/drawing/2014/main" id="{FFDD715D-35EC-4697-BD1F-C00A909B3E8D}"/>
              </a:ext>
            </a:extLst>
          </p:cNvPr>
          <p:cNvSpPr>
            <a:spLocks noGrp="1"/>
          </p:cNvSpPr>
          <p:nvPr/>
        </p:nvSpPr>
        <p:spPr>
          <a:xfrm>
            <a:off x="647700" y="4362450"/>
            <a:ext cx="3076575" cy="819150"/>
          </a:xfrm>
          <a:prstGeom prst="rect">
            <a:avLst/>
          </a:prstGeom>
          <a:noFill/>
          <a:ln w="0">
            <a:noFill/>
            <a:prstDash val="solid"/>
          </a:ln>
        </p:spPr>
        <p:txBody>
          <a:bodyPr/>
          <a:lstStyle/>
          <a:p>
            <a:pPr algn="l">
              <a:defRPr sz="1425" b="0">
                <a:solidFill>
                  <a:srgbClr val="4B5563"/>
                </a:solidFill>
              </a:defRPr>
            </a:pPr>
            <a:r>
              <a:rPr sz="1425" b="0">
                <a:solidFill>
                  <a:srgbClr val="4B5563"/>
                </a:solidFill>
              </a:rPr>
              <a:t>研究開発費は国内特許出願件数を有意に説明した</a:t>
            </a:r>
          </a:p>
        </p:txBody>
      </p:sp>
      <p:sp>
        <p:nvSpPr>
          <p:cNvPr id="9" name="正方形/長方形 8">
            <a:extLst>
              <a:ext uri="{FF2B5EF4-FFF2-40B4-BE49-F238E27FC236}">
                <a16:creationId xmlns:a16="http://schemas.microsoft.com/office/drawing/2014/main" id="{76A99D78-A16E-4255-BB7E-ACF8C8AC104A}"/>
              </a:ext>
            </a:extLst>
          </p:cNvPr>
          <p:cNvSpPr>
            <a:spLocks noGrp="1"/>
          </p:cNvSpPr>
          <p:nvPr/>
        </p:nvSpPr>
        <p:spPr>
          <a:xfrm>
            <a:off x="4305300" y="2038350"/>
            <a:ext cx="3571875" cy="3238500"/>
          </a:xfrm>
          <a:prstGeom prst="rect">
            <a:avLst/>
          </a:prstGeom>
          <a:solidFill>
            <a:srgbClr val="EEF0F2"/>
          </a:solidFill>
          <a:ln w="11430">
            <a:solidFill>
              <a:srgbClr val="C8CDD5"/>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7832F635-BA6A-4CA6-BEB3-09F3A05FB043}"/>
              </a:ext>
            </a:extLst>
          </p:cNvPr>
          <p:cNvSpPr>
            <a:spLocks noGrp="1"/>
          </p:cNvSpPr>
          <p:nvPr/>
        </p:nvSpPr>
        <p:spPr>
          <a:xfrm>
            <a:off x="4552950" y="2305050"/>
            <a:ext cx="3076575" cy="457200"/>
          </a:xfrm>
          <a:prstGeom prst="rect">
            <a:avLst/>
          </a:prstGeom>
          <a:noFill/>
          <a:ln w="0">
            <a:noFill/>
            <a:prstDash val="solid"/>
          </a:ln>
        </p:spPr>
        <p:txBody>
          <a:bodyPr/>
          <a:lstStyle/>
          <a:p>
            <a:pPr algn="l">
              <a:defRPr sz="1800" b="1">
                <a:solidFill>
                  <a:srgbClr val="111827"/>
                </a:solidFill>
              </a:defRPr>
            </a:pPr>
            <a:r>
              <a:rPr sz="1800" b="1">
                <a:solidFill>
                  <a:srgbClr val="111827"/>
                </a:solidFill>
              </a:rPr>
              <a:t>結論 2</a:t>
            </a:r>
          </a:p>
        </p:txBody>
      </p:sp>
      <p:sp>
        <p:nvSpPr>
          <p:cNvPr id="11" name="正方形/長方形 10">
            <a:extLst>
              <a:ext uri="{FF2B5EF4-FFF2-40B4-BE49-F238E27FC236}">
                <a16:creationId xmlns:a16="http://schemas.microsoft.com/office/drawing/2014/main" id="{3B27A18F-540A-4145-BF1F-398DA81DD91E}"/>
              </a:ext>
            </a:extLst>
          </p:cNvPr>
          <p:cNvSpPr>
            <a:spLocks noGrp="1"/>
          </p:cNvSpPr>
          <p:nvPr/>
        </p:nvSpPr>
        <p:spPr>
          <a:xfrm>
            <a:off x="4552950" y="3181350"/>
            <a:ext cx="3076575" cy="895350"/>
          </a:xfrm>
          <a:prstGeom prst="rect">
            <a:avLst/>
          </a:prstGeom>
          <a:noFill/>
          <a:ln w="0">
            <a:noFill/>
            <a:prstDash val="solid"/>
          </a:ln>
        </p:spPr>
        <p:txBody>
          <a:bodyPr/>
          <a:lstStyle/>
          <a:p>
            <a:pPr algn="l">
              <a:defRPr sz="4500" b="1">
                <a:solidFill>
                  <a:srgbClr val="111827"/>
                </a:solidFill>
              </a:defRPr>
            </a:pPr>
            <a:r>
              <a:rPr sz="4500" b="1">
                <a:solidFill>
                  <a:srgbClr val="111827"/>
                </a:solidFill>
              </a:rPr>
              <a:t>29%</a:t>
            </a:r>
          </a:p>
        </p:txBody>
      </p:sp>
      <p:sp>
        <p:nvSpPr>
          <p:cNvPr id="12" name="正方形/長方形 11">
            <a:extLst>
              <a:ext uri="{FF2B5EF4-FFF2-40B4-BE49-F238E27FC236}">
                <a16:creationId xmlns:a16="http://schemas.microsoft.com/office/drawing/2014/main" id="{8E5D4E79-345A-46BB-BF07-08CCA9D5B356}"/>
              </a:ext>
            </a:extLst>
          </p:cNvPr>
          <p:cNvSpPr>
            <a:spLocks noGrp="1"/>
          </p:cNvSpPr>
          <p:nvPr/>
        </p:nvSpPr>
        <p:spPr>
          <a:xfrm>
            <a:off x="4552950" y="4362450"/>
            <a:ext cx="3076575" cy="819150"/>
          </a:xfrm>
          <a:prstGeom prst="rect">
            <a:avLst/>
          </a:prstGeom>
          <a:noFill/>
          <a:ln w="0">
            <a:noFill/>
            <a:prstDash val="solid"/>
          </a:ln>
        </p:spPr>
        <p:txBody>
          <a:bodyPr/>
          <a:lstStyle/>
          <a:p>
            <a:pPr algn="l">
              <a:defRPr sz="1425" b="0">
                <a:solidFill>
                  <a:srgbClr val="4B5563"/>
                </a:solidFill>
              </a:defRPr>
            </a:pPr>
            <a:r>
              <a:rPr sz="1425" b="0">
                <a:solidFill>
                  <a:srgbClr val="4B5563"/>
                </a:solidFill>
              </a:rPr>
              <a:t>説明力は限定的で、産業差が大きい</a:t>
            </a:r>
          </a:p>
        </p:txBody>
      </p:sp>
      <p:sp>
        <p:nvSpPr>
          <p:cNvPr id="13" name="正方形/長方形 12">
            <a:extLst>
              <a:ext uri="{FF2B5EF4-FFF2-40B4-BE49-F238E27FC236}">
                <a16:creationId xmlns:a16="http://schemas.microsoft.com/office/drawing/2014/main" id="{57FE6C84-3033-44DA-B30A-A7730042FA24}"/>
              </a:ext>
            </a:extLst>
          </p:cNvPr>
          <p:cNvSpPr>
            <a:spLocks noGrp="1"/>
          </p:cNvSpPr>
          <p:nvPr/>
        </p:nvSpPr>
        <p:spPr>
          <a:xfrm>
            <a:off x="8220075" y="2038350"/>
            <a:ext cx="3571875" cy="3238500"/>
          </a:xfrm>
          <a:prstGeom prst="rect">
            <a:avLst/>
          </a:prstGeom>
          <a:solidFill>
            <a:srgbClr val="EEF0F2"/>
          </a:solidFill>
          <a:ln w="11430">
            <a:solidFill>
              <a:srgbClr val="C8CDD5"/>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545E7F54-331F-46BC-9BAF-BC2A63CF2BC0}"/>
              </a:ext>
            </a:extLst>
          </p:cNvPr>
          <p:cNvSpPr>
            <a:spLocks noGrp="1"/>
          </p:cNvSpPr>
          <p:nvPr/>
        </p:nvSpPr>
        <p:spPr>
          <a:xfrm>
            <a:off x="8467725" y="2305050"/>
            <a:ext cx="3076575" cy="457200"/>
          </a:xfrm>
          <a:prstGeom prst="rect">
            <a:avLst/>
          </a:prstGeom>
          <a:noFill/>
          <a:ln w="0">
            <a:noFill/>
            <a:prstDash val="solid"/>
          </a:ln>
        </p:spPr>
        <p:txBody>
          <a:bodyPr/>
          <a:lstStyle/>
          <a:p>
            <a:pPr algn="l">
              <a:defRPr sz="1800" b="1">
                <a:solidFill>
                  <a:srgbClr val="111827"/>
                </a:solidFill>
              </a:defRPr>
            </a:pPr>
            <a:r>
              <a:rPr sz="1800" b="1">
                <a:solidFill>
                  <a:srgbClr val="111827"/>
                </a:solidFill>
              </a:rPr>
              <a:t>結論 3</a:t>
            </a:r>
          </a:p>
        </p:txBody>
      </p:sp>
      <p:sp>
        <p:nvSpPr>
          <p:cNvPr id="15" name="正方形/長方形 14">
            <a:extLst>
              <a:ext uri="{FF2B5EF4-FFF2-40B4-BE49-F238E27FC236}">
                <a16:creationId xmlns:a16="http://schemas.microsoft.com/office/drawing/2014/main" id="{620D61DB-938E-446B-A5F4-373658EC0F1F}"/>
              </a:ext>
            </a:extLst>
          </p:cNvPr>
          <p:cNvSpPr>
            <a:spLocks noGrp="1"/>
          </p:cNvSpPr>
          <p:nvPr/>
        </p:nvSpPr>
        <p:spPr>
          <a:xfrm>
            <a:off x="8467725" y="3181350"/>
            <a:ext cx="3076575" cy="895350"/>
          </a:xfrm>
          <a:prstGeom prst="rect">
            <a:avLst/>
          </a:prstGeom>
          <a:noFill/>
          <a:ln w="0">
            <a:noFill/>
            <a:prstDash val="solid"/>
          </a:ln>
        </p:spPr>
        <p:txBody>
          <a:bodyPr/>
          <a:lstStyle/>
          <a:p>
            <a:pPr algn="l">
              <a:defRPr sz="4500" b="1">
                <a:solidFill>
                  <a:srgbClr val="111827"/>
                </a:solidFill>
              </a:defRPr>
            </a:pPr>
            <a:r>
              <a:rPr sz="4500" b="1">
                <a:solidFill>
                  <a:srgbClr val="111827"/>
                </a:solidFill>
              </a:rPr>
              <a:t>戦略</a:t>
            </a:r>
          </a:p>
        </p:txBody>
      </p:sp>
      <p:sp>
        <p:nvSpPr>
          <p:cNvPr id="16" name="正方形/長方形 15">
            <a:extLst>
              <a:ext uri="{FF2B5EF4-FFF2-40B4-BE49-F238E27FC236}">
                <a16:creationId xmlns:a16="http://schemas.microsoft.com/office/drawing/2014/main" id="{BB410C35-BEEC-4D57-9A3D-23E167FA998F}"/>
              </a:ext>
            </a:extLst>
          </p:cNvPr>
          <p:cNvSpPr>
            <a:spLocks noGrp="1"/>
          </p:cNvSpPr>
          <p:nvPr/>
        </p:nvSpPr>
        <p:spPr>
          <a:xfrm>
            <a:off x="8467725" y="4362450"/>
            <a:ext cx="3076575" cy="819150"/>
          </a:xfrm>
          <a:prstGeom prst="rect">
            <a:avLst/>
          </a:prstGeom>
          <a:noFill/>
          <a:ln w="0">
            <a:noFill/>
            <a:prstDash val="solid"/>
          </a:ln>
        </p:spPr>
        <p:txBody>
          <a:bodyPr/>
          <a:lstStyle/>
          <a:p>
            <a:pPr algn="l">
              <a:defRPr sz="1425" b="0">
                <a:solidFill>
                  <a:srgbClr val="4B5563"/>
                </a:solidFill>
              </a:defRPr>
            </a:pPr>
            <a:r>
              <a:rPr sz="1425" b="0">
                <a:solidFill>
                  <a:srgbClr val="4B5563"/>
                </a:solidFill>
              </a:rPr>
              <a:t>特許出願数は産業ごとの知財戦略にも左右される</a:t>
            </a:r>
          </a:p>
        </p:txBody>
      </p:sp>
      <p:sp>
        <p:nvSpPr>
          <p:cNvPr id="17" name="正方形/長方形 16">
            <a:extLst>
              <a:ext uri="{FF2B5EF4-FFF2-40B4-BE49-F238E27FC236}">
                <a16:creationId xmlns:a16="http://schemas.microsoft.com/office/drawing/2014/main" id="{877382B5-2C15-4018-AF8A-A779D20389C1}"/>
              </a:ext>
            </a:extLst>
          </p:cNvPr>
          <p:cNvSpPr>
            <a:spLocks noGrp="1"/>
          </p:cNvSpPr>
          <p:nvPr/>
        </p:nvSpPr>
        <p:spPr>
          <a:xfrm>
            <a:off x="952500" y="5715000"/>
            <a:ext cx="10287000" cy="400050"/>
          </a:xfrm>
          <a:prstGeom prst="rect">
            <a:avLst/>
          </a:prstGeom>
          <a:noFill/>
          <a:ln w="0">
            <a:noFill/>
            <a:prstDash val="solid"/>
          </a:ln>
        </p:spPr>
        <p:txBody>
          <a:bodyPr/>
          <a:lstStyle/>
          <a:p>
            <a:pPr algn="ctr">
              <a:defRPr sz="1800" b="0">
                <a:solidFill>
                  <a:srgbClr val="4B5563"/>
                </a:solidFill>
              </a:defRPr>
            </a:pPr>
            <a:r>
              <a:rPr sz="1800" b="0">
                <a:solidFill>
                  <a:srgbClr val="4B5563"/>
                </a:solidFill>
              </a:rPr>
              <a:t>今後の課題：企業単位・複数年データ、時間差、特許の質を加えた分析</a:t>
            </a:r>
          </a:p>
        </p:txBody>
      </p:sp>
    </p:spTree>
    <p:extLst>
      <p:ext uri="{BB962C8B-B14F-4D97-AF65-F5344CB8AC3E}">
        <p14:creationId xmlns:p14="http://schemas.microsoft.com/office/powerpoint/2010/main" val="53369073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377</Words>
  <Application>Microsoft Office PowerPoint</Application>
  <DocSecurity>0</DocSecurity>
  <PresentationFormat>ワイド画面</PresentationFormat>
  <Paragraphs>103</Paragraphs>
  <Slides>6</Slides>
  <Notes>6</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6</vt:i4>
      </vt:variant>
    </vt:vector>
  </HeadingPairs>
  <TitlesOfParts>
    <vt:vector size="8" baseType="lpstr">
      <vt:lpstr>Calibri</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今村　隼人</cp:lastModifiedBy>
  <cp:revision>1</cp:revision>
  <dcterms:created xsi:type="dcterms:W3CDTF">2026-06-28T10:37:09Z</dcterms:created>
  <dcterms:modified xsi:type="dcterms:W3CDTF">2026-06-28T10:41:43Z</dcterms:modified>
</cp:coreProperties>
</file>