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78" r:id="rId2"/>
    <p:sldId id="279" r:id="rId3"/>
    <p:sldId id="280" r:id="rId4"/>
    <p:sldId id="281" r:id="rId5"/>
    <p:sldId id="282" r:id="rId6"/>
    <p:sldId id="285" r:id="rId7"/>
    <p:sldId id="292" r:id="rId8"/>
    <p:sldId id="293" r:id="rId9"/>
    <p:sldId id="287" r:id="rId10"/>
    <p:sldId id="288" r:id="rId11"/>
    <p:sldId id="289" r:id="rId12"/>
    <p:sldId id="290" r:id="rId13"/>
    <p:sldId id="291" r:id="rId14"/>
  </p:sldIdLst>
  <p:sldSz cx="9144000" cy="6858000" type="screen4x3"/>
  <p:notesSz cx="7099300" cy="10234613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16" autoAdjust="0"/>
  </p:normalViewPr>
  <p:slideViewPr>
    <p:cSldViewPr showGuides="1">
      <p:cViewPr varScale="1">
        <p:scale>
          <a:sx n="66" d="100"/>
          <a:sy n="66" d="100"/>
        </p:scale>
        <p:origin x="317" y="31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6B70D0F3-3546-49F9-933C-80FA708970C1}" type="datetimeFigureOut">
              <a:rPr lang="ja-JP" altLang="en-US"/>
              <a:pPr>
                <a:defRPr/>
              </a:pPr>
              <a:t>2023/6/15</a:t>
            </a:fld>
            <a:endParaRPr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720263"/>
            <a:ext cx="3076575" cy="512762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4021138" y="9720263"/>
            <a:ext cx="3076575" cy="512762"/>
          </a:xfrm>
          <a:prstGeom prst="rect">
            <a:avLst/>
          </a:prstGeom>
        </p:spPr>
        <p:txBody>
          <a:bodyPr vert="horz" wrap="square" lIns="94768" tIns="47384" rIns="94768" bIns="4738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9C3DD54-E4D1-4061-99B1-FABE57BD71A7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68" tIns="47384" rIns="94768" bIns="4738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68" tIns="47384" rIns="94768" bIns="4738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68" tIns="47384" rIns="94768" bIns="4738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263"/>
            <a:ext cx="3076575" cy="51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68" tIns="47384" rIns="94768" bIns="4738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0263"/>
            <a:ext cx="3076575" cy="51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68" tIns="47384" rIns="94768" bIns="4738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1FD3BB-F538-4463-B22A-D0E882EF7BC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69938" indent="-295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84275" indent="-2365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57350" indent="-2365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132013" indent="-2365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89213" indent="-23653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3046413" indent="-23653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503613" indent="-23653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960813" indent="-23653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57E716DF-5FD5-4BEE-8068-7F3B76A6FA77}" type="slidenum">
              <a:rPr lang="en-US" altLang="ja-JP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7</a:t>
            </a:fld>
            <a:endParaRPr lang="en-US" altLang="ja-JP">
              <a:ea typeface="ＭＳ Ｐゴシック" panose="020B0600070205080204" pitchFamily="50" charset="-128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3338" cy="3835400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ja-JP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641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69938" indent="-295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84275" indent="-2365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57350" indent="-2365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132013" indent="-2365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89213" indent="-23653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3046413" indent="-23653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503613" indent="-23653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960813" indent="-23653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57E716DF-5FD5-4BEE-8068-7F3B76A6FA77}" type="slidenum">
              <a:rPr lang="en-US" altLang="ja-JP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8</a:t>
            </a:fld>
            <a:endParaRPr lang="en-US" altLang="ja-JP">
              <a:ea typeface="ＭＳ Ｐゴシック" panose="020B0600070205080204" pitchFamily="50" charset="-128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3338" cy="3835400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ja-JP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396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69938" indent="-295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84275" indent="-2365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57350" indent="-2365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132013" indent="-2365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89213" indent="-23653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3046413" indent="-23653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503613" indent="-23653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960813" indent="-23653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DA73F78F-B07F-4DBF-8D95-1A0CCD8FA706}" type="slidenum">
              <a:rPr lang="en-US" altLang="ja-JP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9</a:t>
            </a:fld>
            <a:endParaRPr lang="en-US" altLang="ja-JP">
              <a:ea typeface="ＭＳ Ｐゴシック" panose="020B0600070205080204" pitchFamily="50" charset="-128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3338" cy="3835400"/>
          </a:xfrm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ja-JP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69938" indent="-295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84275" indent="-2365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57350" indent="-2365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132013" indent="-2365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89213" indent="-23653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3046413" indent="-23653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503613" indent="-23653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960813" indent="-23653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9067C371-F462-4555-A2FE-03DE72B89270}" type="slidenum">
              <a:rPr lang="en-US" altLang="ja-JP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10</a:t>
            </a:fld>
            <a:endParaRPr lang="en-US" altLang="ja-JP">
              <a:ea typeface="ＭＳ Ｐゴシック" panose="020B0600070205080204" pitchFamily="50" charset="-128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3338" cy="3835400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ja-JP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1pPr>
            <a:lvl2pPr marL="769938" indent="-29527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2pPr>
            <a:lvl3pPr marL="1184275" indent="-2365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3pPr>
            <a:lvl4pPr marL="1657350" indent="-2365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4pPr>
            <a:lvl5pPr marL="2132013" indent="-23653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5pPr>
            <a:lvl6pPr marL="2589213" indent="-23653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6pPr>
            <a:lvl7pPr marL="3046413" indent="-23653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7pPr>
            <a:lvl8pPr marL="3503613" indent="-23653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8pPr>
            <a:lvl9pPr marL="3960813" indent="-23653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明朝" panose="02020600040205080304" pitchFamily="18" charset="-128"/>
              </a:defRPr>
            </a:lvl9pPr>
          </a:lstStyle>
          <a:p>
            <a:pPr>
              <a:spcBef>
                <a:spcPct val="0"/>
              </a:spcBef>
            </a:pPr>
            <a:fld id="{BA3A411A-C1FC-4A76-A053-B2FF55CC1773}" type="slidenum">
              <a:rPr lang="en-US" altLang="ja-JP" smtClean="0">
                <a:ea typeface="ＭＳ Ｐゴシック" panose="020B0600070205080204" pitchFamily="50" charset="-128"/>
              </a:rPr>
              <a:pPr>
                <a:spcBef>
                  <a:spcPct val="0"/>
                </a:spcBef>
              </a:pPr>
              <a:t>11</a:t>
            </a:fld>
            <a:endParaRPr lang="en-US" altLang="ja-JP">
              <a:ea typeface="ＭＳ Ｐゴシック" panose="020B0600070205080204" pitchFamily="50" charset="-128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3775" y="768350"/>
            <a:ext cx="5113338" cy="38354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ja-JP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DA5E70-7B06-451F-9ADF-80169498BF1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6275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FDFDB-6E20-4F66-A1D9-F046F33445F3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40468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66D398-8434-4996-8D15-77F48032594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91010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01A83D-FEED-41E2-B2FB-0E3FC6455D2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93188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B1260E-956F-4BEF-B682-A6A76FA12ED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40157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25A2AF-45F0-4306-AC3B-B5DBDEAF65C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14565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C18F24-93CF-4073-B39D-8FD5D65119C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55333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3AA6F4-9D50-4E72-9C6A-673400151A45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88196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BD76AF-44DB-4761-B10B-CEC4E83BB5FD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36938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E168A0-F857-433A-92FF-DFA4461513F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650347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0C71CF-4096-4232-B402-CD4ECCD83E9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469129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タイトルと 4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sz="quarter"/>
          </p:nvPr>
        </p:nvSpPr>
        <p:spPr>
          <a:xfrm>
            <a:off x="457200" y="279400"/>
            <a:ext cx="8229600" cy="11430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717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717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3"/>
          </p:nvPr>
        </p:nvSpPr>
        <p:spPr>
          <a:xfrm>
            <a:off x="457200" y="3924300"/>
            <a:ext cx="4038600" cy="21717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8200" y="3924300"/>
            <a:ext cx="4038600" cy="21717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>
          <a:xfrm>
            <a:off x="8459788" y="50800"/>
            <a:ext cx="576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937910-1E32-45B3-A225-F41EA2DA70D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38273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16913" y="215900"/>
            <a:ext cx="611187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E50389A4-B91A-421B-80B5-9B215E923E6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pPr eaLnBrk="1" hangingPunct="1"/>
            <a:r>
              <a:rPr lang="ja-JP" altLang="en-US">
                <a:solidFill>
                  <a:srgbClr val="0000FF"/>
                </a:solidFill>
              </a:rPr>
              <a:t>スライドの作り方（簡易版）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00563" y="1196974"/>
            <a:ext cx="4535487" cy="5544393"/>
          </a:xfrm>
          <a:noFill/>
        </p:spPr>
        <p:txBody>
          <a:bodyPr/>
          <a:lstStyle/>
          <a:p>
            <a:pPr eaLnBrk="1" hangingPunct="1">
              <a:lnSpc>
                <a:spcPct val="95000"/>
              </a:lnSpc>
            </a:pPr>
            <a:r>
              <a:rPr lang="ja-JP" altLang="en-US" sz="2800" dirty="0">
                <a:solidFill>
                  <a:srgbClr val="0000FF"/>
                </a:solidFill>
                <a:latin typeface="ＭＳ Ｐゴシック" panose="020B0600070205080204" pitchFamily="50" charset="-128"/>
              </a:rPr>
              <a:t>タイトル</a:t>
            </a:r>
          </a:p>
          <a:p>
            <a:pPr lvl="1" eaLnBrk="1" hangingPunct="1">
              <a:lnSpc>
                <a:spcPct val="95000"/>
              </a:lnSpc>
            </a:pPr>
            <a:r>
              <a:rPr lang="ja-JP" altLang="en-US" sz="2400" dirty="0">
                <a:latin typeface="ＭＳ Ｐゴシック" panose="020B0600070205080204" pitchFamily="50" charset="-128"/>
              </a:rPr>
              <a:t>タイトルとは研究内容の</a:t>
            </a:r>
            <a:br>
              <a:rPr lang="ja-JP" altLang="en-US" sz="2400" dirty="0">
                <a:latin typeface="ＭＳ Ｐゴシック" panose="020B0600070205080204" pitchFamily="50" charset="-128"/>
              </a:rPr>
            </a:br>
            <a:r>
              <a:rPr lang="ja-JP" altLang="en-US" sz="2400" dirty="0">
                <a:latin typeface="ＭＳ Ｐゴシック" panose="020B0600070205080204" pitchFamily="50" charset="-128"/>
              </a:rPr>
              <a:t>最も短い要約である</a:t>
            </a:r>
          </a:p>
          <a:p>
            <a:pPr lvl="1" eaLnBrk="1" hangingPunct="1">
              <a:lnSpc>
                <a:spcPct val="95000"/>
              </a:lnSpc>
            </a:pPr>
            <a:r>
              <a:rPr lang="ja-JP" altLang="en-US" sz="2400" dirty="0">
                <a:latin typeface="ＭＳ Ｐゴシック" panose="020B0600070205080204" pitchFamily="50" charset="-128"/>
              </a:rPr>
              <a:t>内容が推測できない</a:t>
            </a:r>
            <a:br>
              <a:rPr lang="ja-JP" altLang="en-US" sz="2400" dirty="0">
                <a:latin typeface="ＭＳ Ｐゴシック" panose="020B0600070205080204" pitchFamily="50" charset="-128"/>
              </a:rPr>
            </a:br>
            <a:r>
              <a:rPr lang="ja-JP" altLang="en-US" sz="2400" dirty="0">
                <a:latin typeface="ＭＳ Ｐゴシック" panose="020B0600070205080204" pitchFamily="50" charset="-128"/>
              </a:rPr>
              <a:t>タイトルでは意味がない</a:t>
            </a:r>
          </a:p>
          <a:p>
            <a:pPr eaLnBrk="1" hangingPunct="1">
              <a:lnSpc>
                <a:spcPct val="95000"/>
              </a:lnSpc>
            </a:pPr>
            <a:r>
              <a:rPr lang="ja-JP" altLang="en-US" sz="2800" dirty="0">
                <a:solidFill>
                  <a:srgbClr val="0000FF"/>
                </a:solidFill>
                <a:latin typeface="ＭＳ Ｐゴシック" panose="020B0600070205080204" pitchFamily="50" charset="-128"/>
              </a:rPr>
              <a:t>背景</a:t>
            </a:r>
            <a:r>
              <a:rPr lang="en-US" altLang="ja-JP" sz="2800" dirty="0">
                <a:solidFill>
                  <a:srgbClr val="0000FF"/>
                </a:solidFill>
                <a:latin typeface="ＭＳ Ｐゴシック" panose="020B0600070205080204" pitchFamily="50" charset="-128"/>
              </a:rPr>
              <a:t>(</a:t>
            </a:r>
            <a:r>
              <a:rPr lang="ja-JP" altLang="en-US" sz="2800" dirty="0">
                <a:solidFill>
                  <a:srgbClr val="0000FF"/>
                </a:solidFill>
                <a:latin typeface="ＭＳ Ｐゴシック" panose="020B0600070205080204" pitchFamily="50" charset="-128"/>
              </a:rPr>
              <a:t>イントロダクション</a:t>
            </a:r>
            <a:r>
              <a:rPr lang="en-US" altLang="ja-JP" sz="2800" dirty="0">
                <a:solidFill>
                  <a:srgbClr val="0000FF"/>
                </a:solidFill>
                <a:latin typeface="ＭＳ Ｐゴシック" panose="020B0600070205080204" pitchFamily="50" charset="-128"/>
              </a:rPr>
              <a:t>)</a:t>
            </a:r>
          </a:p>
          <a:p>
            <a:pPr lvl="1" eaLnBrk="1" hangingPunct="1">
              <a:lnSpc>
                <a:spcPct val="95000"/>
              </a:lnSpc>
            </a:pPr>
            <a:r>
              <a:rPr lang="ja-JP" altLang="en-US" sz="2400" dirty="0">
                <a:latin typeface="ＭＳ Ｐゴシック" panose="020B0600070205080204" pitchFamily="50" charset="-128"/>
              </a:rPr>
              <a:t>あなたの研究を</a:t>
            </a:r>
            <a:br>
              <a:rPr lang="ja-JP" altLang="en-US" sz="2400" dirty="0">
                <a:latin typeface="ＭＳ Ｐゴシック" panose="020B0600070205080204" pitchFamily="50" charset="-128"/>
              </a:rPr>
            </a:br>
            <a:r>
              <a:rPr lang="ja-JP" altLang="en-US" sz="2400" dirty="0">
                <a:latin typeface="ＭＳ Ｐゴシック" panose="020B0600070205080204" pitchFamily="50" charset="-128"/>
              </a:rPr>
              <a:t>知らない人にも，</a:t>
            </a:r>
            <a:br>
              <a:rPr lang="ja-JP" altLang="en-US" sz="2400" dirty="0">
                <a:latin typeface="ＭＳ Ｐゴシック" panose="020B0600070205080204" pitchFamily="50" charset="-128"/>
              </a:rPr>
            </a:br>
            <a:r>
              <a:rPr lang="ja-JP" altLang="en-US" sz="2400" dirty="0">
                <a:latin typeface="ＭＳ Ｐゴシック" panose="020B0600070205080204" pitchFamily="50" charset="-128"/>
              </a:rPr>
              <a:t>興味がわくように書く</a:t>
            </a:r>
          </a:p>
          <a:p>
            <a:pPr lvl="1" eaLnBrk="1" hangingPunct="1">
              <a:lnSpc>
                <a:spcPct val="95000"/>
              </a:lnSpc>
            </a:pPr>
            <a:r>
              <a:rPr lang="ja-JP" altLang="en-US" sz="2400" dirty="0">
                <a:latin typeface="ＭＳ Ｐゴシック" panose="020B0600070205080204" pitchFamily="50" charset="-128"/>
              </a:rPr>
              <a:t>誰でも理解できるように</a:t>
            </a:r>
            <a:br>
              <a:rPr lang="ja-JP" altLang="en-US" sz="2400" dirty="0">
                <a:latin typeface="ＭＳ Ｐゴシック" panose="020B0600070205080204" pitchFamily="50" charset="-128"/>
              </a:rPr>
            </a:br>
            <a:r>
              <a:rPr lang="ja-JP" altLang="en-US" sz="2400" dirty="0">
                <a:latin typeface="ＭＳ Ｐゴシック" panose="020B0600070205080204" pitchFamily="50" charset="-128"/>
              </a:rPr>
              <a:t>具体例を挙げながら</a:t>
            </a:r>
            <a:br>
              <a:rPr lang="ja-JP" altLang="en-US" sz="2400" dirty="0">
                <a:latin typeface="ＭＳ Ｐゴシック" panose="020B0600070205080204" pitchFamily="50" charset="-128"/>
              </a:rPr>
            </a:br>
            <a:r>
              <a:rPr lang="ja-JP" altLang="en-US" sz="2400" dirty="0">
                <a:latin typeface="ＭＳ Ｐゴシック" panose="020B0600070205080204" pitchFamily="50" charset="-128"/>
              </a:rPr>
              <a:t>説明すること</a:t>
            </a:r>
            <a:endParaRPr lang="en-US" altLang="ja-JP" sz="2400" dirty="0">
              <a:latin typeface="ＭＳ Ｐゴシック" panose="020B0600070205080204" pitchFamily="50" charset="-128"/>
            </a:endParaRPr>
          </a:p>
          <a:p>
            <a:pPr lvl="1" eaLnBrk="1" hangingPunct="1">
              <a:lnSpc>
                <a:spcPct val="95000"/>
              </a:lnSpc>
            </a:pPr>
            <a:r>
              <a:rPr lang="ja-JP" altLang="en-US" sz="2400" dirty="0">
                <a:latin typeface="ＭＳ Ｐゴシック" panose="020B0600070205080204" pitchFamily="50" charset="-128"/>
              </a:rPr>
              <a:t>先行研究，</a:t>
            </a:r>
            <a:br>
              <a:rPr lang="en-US" altLang="ja-JP" sz="2400" dirty="0">
                <a:latin typeface="ＭＳ Ｐゴシック" panose="020B0600070205080204" pitchFamily="50" charset="-128"/>
              </a:rPr>
            </a:br>
            <a:r>
              <a:rPr lang="ja-JP" altLang="en-US" sz="2400" dirty="0">
                <a:latin typeface="ＭＳ Ｐゴシック" panose="020B0600070205080204" pitchFamily="50" charset="-128"/>
              </a:rPr>
              <a:t>先行研究の問題点も書く</a:t>
            </a:r>
          </a:p>
        </p:txBody>
      </p:sp>
      <p:sp>
        <p:nvSpPr>
          <p:cNvPr id="77836" name="Rectangle 12"/>
          <p:cNvSpPr>
            <a:spLocks noChangeArrowheads="1"/>
          </p:cNvSpPr>
          <p:nvPr/>
        </p:nvSpPr>
        <p:spPr bwMode="auto">
          <a:xfrm>
            <a:off x="179388" y="1844675"/>
            <a:ext cx="2016125" cy="143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タイトル</a:t>
            </a:r>
          </a:p>
        </p:txBody>
      </p:sp>
      <p:sp>
        <p:nvSpPr>
          <p:cNvPr id="77837" name="Rectangle 13"/>
          <p:cNvSpPr>
            <a:spLocks noChangeArrowheads="1"/>
          </p:cNvSpPr>
          <p:nvPr/>
        </p:nvSpPr>
        <p:spPr bwMode="auto">
          <a:xfrm>
            <a:off x="179388" y="3429000"/>
            <a:ext cx="2016125" cy="143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背景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180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目的</a:t>
            </a:r>
          </a:p>
        </p:txBody>
      </p:sp>
      <p:sp>
        <p:nvSpPr>
          <p:cNvPr id="77838" name="Rectangle 14"/>
          <p:cNvSpPr>
            <a:spLocks noChangeArrowheads="1"/>
          </p:cNvSpPr>
          <p:nvPr/>
        </p:nvSpPr>
        <p:spPr bwMode="auto">
          <a:xfrm>
            <a:off x="179388" y="5013325"/>
            <a:ext cx="2016125" cy="143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方法</a:t>
            </a:r>
          </a:p>
        </p:txBody>
      </p:sp>
      <p:sp>
        <p:nvSpPr>
          <p:cNvPr id="77839" name="Rectangle 15"/>
          <p:cNvSpPr>
            <a:spLocks noChangeArrowheads="1"/>
          </p:cNvSpPr>
          <p:nvPr/>
        </p:nvSpPr>
        <p:spPr bwMode="auto">
          <a:xfrm>
            <a:off x="2339975" y="1844675"/>
            <a:ext cx="2016125" cy="143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結果と考察１</a:t>
            </a:r>
          </a:p>
        </p:txBody>
      </p:sp>
      <p:sp>
        <p:nvSpPr>
          <p:cNvPr id="77840" name="Rectangle 16"/>
          <p:cNvSpPr>
            <a:spLocks noChangeArrowheads="1"/>
          </p:cNvSpPr>
          <p:nvPr/>
        </p:nvSpPr>
        <p:spPr bwMode="auto">
          <a:xfrm>
            <a:off x="2339975" y="3429000"/>
            <a:ext cx="2016125" cy="143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結果と考察２</a:t>
            </a:r>
          </a:p>
        </p:txBody>
      </p:sp>
      <p:sp>
        <p:nvSpPr>
          <p:cNvPr id="77841" name="Rectangle 17"/>
          <p:cNvSpPr>
            <a:spLocks noChangeArrowheads="1"/>
          </p:cNvSpPr>
          <p:nvPr/>
        </p:nvSpPr>
        <p:spPr bwMode="auto">
          <a:xfrm>
            <a:off x="2339975" y="5013325"/>
            <a:ext cx="2016125" cy="143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まとめ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180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今後の課題</a:t>
            </a:r>
          </a:p>
        </p:txBody>
      </p:sp>
      <p:sp>
        <p:nvSpPr>
          <p:cNvPr id="77842" name="Rectangle 18"/>
          <p:cNvSpPr>
            <a:spLocks noChangeArrowheads="1"/>
          </p:cNvSpPr>
          <p:nvPr/>
        </p:nvSpPr>
        <p:spPr bwMode="auto">
          <a:xfrm>
            <a:off x="107950" y="1700213"/>
            <a:ext cx="4319588" cy="48244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1800"/>
          </a:p>
        </p:txBody>
      </p:sp>
      <p:sp>
        <p:nvSpPr>
          <p:cNvPr id="77843" name="Rectangle 19"/>
          <p:cNvSpPr>
            <a:spLocks noChangeArrowheads="1"/>
          </p:cNvSpPr>
          <p:nvPr/>
        </p:nvSpPr>
        <p:spPr bwMode="auto">
          <a:xfrm>
            <a:off x="179388" y="1844675"/>
            <a:ext cx="2016125" cy="1439863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2800" b="1">
                <a:solidFill>
                  <a:schemeClr val="bg1"/>
                </a:solidFill>
              </a:rPr>
              <a:t>タイトル</a:t>
            </a:r>
          </a:p>
        </p:txBody>
      </p:sp>
      <p:sp>
        <p:nvSpPr>
          <p:cNvPr id="77845" name="Rectangle 21"/>
          <p:cNvSpPr>
            <a:spLocks noChangeArrowheads="1"/>
          </p:cNvSpPr>
          <p:nvPr/>
        </p:nvSpPr>
        <p:spPr bwMode="auto">
          <a:xfrm>
            <a:off x="193675" y="3429000"/>
            <a:ext cx="2016125" cy="1439863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2800" b="1" dirty="0">
                <a:solidFill>
                  <a:schemeClr val="bg1"/>
                </a:solidFill>
              </a:rPr>
              <a:t>背景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1800" dirty="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 dirty="0"/>
              <a:t>目的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36" grpId="0" animBg="1"/>
      <p:bldP spid="77837" grpId="0" animBg="1"/>
      <p:bldP spid="77838" grpId="0" animBg="1"/>
      <p:bldP spid="77839" grpId="0" animBg="1"/>
      <p:bldP spid="77840" grpId="0" animBg="1"/>
      <p:bldP spid="77841" grpId="0" animBg="1"/>
      <p:bldP spid="77842" grpId="0" animBg="1"/>
      <p:bldP spid="77843" grpId="0" animBg="1"/>
      <p:bldP spid="77843" grpId="1" animBg="1"/>
      <p:bldP spid="7784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41813" y="836613"/>
            <a:ext cx="4679950" cy="58166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ja-JP" altLang="en-US">
                <a:solidFill>
                  <a:srgbClr val="0000FF"/>
                </a:solidFill>
              </a:rPr>
              <a:t>目的</a:t>
            </a:r>
          </a:p>
          <a:p>
            <a:pPr lvl="1" eaLnBrk="1" hangingPunct="1">
              <a:lnSpc>
                <a:spcPct val="90000"/>
              </a:lnSpc>
            </a:pPr>
            <a:r>
              <a:rPr lang="ja-JP" altLang="en-US"/>
              <a:t>本当の研究なら，</a:t>
            </a:r>
            <a:br>
              <a:rPr lang="ja-JP" altLang="en-US"/>
            </a:br>
            <a:r>
              <a:rPr lang="ja-JP" altLang="en-US"/>
              <a:t>先行研究や先行研究の</a:t>
            </a:r>
            <a:br>
              <a:rPr lang="ja-JP" altLang="en-US"/>
            </a:br>
            <a:r>
              <a:rPr lang="ja-JP" altLang="en-US"/>
              <a:t>問題点を指摘してから，</a:t>
            </a:r>
            <a:br>
              <a:rPr lang="ja-JP" altLang="en-US"/>
            </a:br>
            <a:r>
              <a:rPr lang="ja-JP" altLang="en-US"/>
              <a:t>目的を書くことになる</a:t>
            </a:r>
          </a:p>
          <a:p>
            <a:pPr lvl="1" eaLnBrk="1" hangingPunct="1">
              <a:lnSpc>
                <a:spcPct val="90000"/>
              </a:lnSpc>
            </a:pPr>
            <a:r>
              <a:rPr lang="ja-JP" altLang="en-US"/>
              <a:t>この研究で</a:t>
            </a:r>
            <a:br>
              <a:rPr lang="ja-JP" altLang="en-US"/>
            </a:br>
            <a:r>
              <a:rPr lang="ja-JP" altLang="en-US"/>
              <a:t>明らかにしたいことを書く</a:t>
            </a:r>
          </a:p>
          <a:p>
            <a:pPr lvl="1" eaLnBrk="1" hangingPunct="1">
              <a:lnSpc>
                <a:spcPct val="90000"/>
              </a:lnSpc>
            </a:pPr>
            <a:r>
              <a:rPr lang="ja-JP" altLang="en-US"/>
              <a:t>例：</a:t>
            </a:r>
          </a:p>
          <a:p>
            <a:pPr lvl="1" eaLnBrk="1" hangingPunct="1">
              <a:lnSpc>
                <a:spcPct val="90000"/>
              </a:lnSpc>
            </a:pPr>
            <a:r>
              <a:rPr lang="ja-JP" altLang="en-US"/>
              <a:t>本研究では，</a:t>
            </a:r>
            <a:br>
              <a:rPr lang="ja-JP" altLang="en-US"/>
            </a:br>
            <a:r>
              <a:rPr lang="ja-JP" altLang="en-US"/>
              <a:t>○が</a:t>
            </a:r>
            <a:r>
              <a:rPr lang="en-US" altLang="ja-JP"/>
              <a:t>×</a:t>
            </a:r>
            <a:r>
              <a:rPr lang="ja-JP" altLang="en-US"/>
              <a:t>に及ぼす影響</a:t>
            </a:r>
            <a:br>
              <a:rPr lang="ja-JP" altLang="en-US"/>
            </a:br>
            <a:r>
              <a:rPr lang="ja-JP" altLang="en-US"/>
              <a:t>について明らかにする</a:t>
            </a:r>
          </a:p>
          <a:p>
            <a:pPr lvl="1" eaLnBrk="1" hangingPunct="1">
              <a:lnSpc>
                <a:spcPct val="90000"/>
              </a:lnSpc>
            </a:pPr>
            <a:r>
              <a:rPr lang="ja-JP" altLang="en-US"/>
              <a:t>□□と△△との関連性</a:t>
            </a:r>
            <a:br>
              <a:rPr lang="ja-JP" altLang="en-US"/>
            </a:br>
            <a:r>
              <a:rPr lang="ja-JP" altLang="en-US"/>
              <a:t>について検討する</a:t>
            </a:r>
          </a:p>
        </p:txBody>
      </p:sp>
      <p:sp>
        <p:nvSpPr>
          <p:cNvPr id="12291" name="Rectangle 4"/>
          <p:cNvSpPr>
            <a:spLocks noChangeArrowheads="1"/>
          </p:cNvSpPr>
          <p:nvPr/>
        </p:nvSpPr>
        <p:spPr bwMode="auto">
          <a:xfrm>
            <a:off x="179388" y="1844675"/>
            <a:ext cx="2016125" cy="143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タイトル</a:t>
            </a:r>
          </a:p>
        </p:txBody>
      </p:sp>
      <p:sp>
        <p:nvSpPr>
          <p:cNvPr id="12292" name="Rectangle 5"/>
          <p:cNvSpPr>
            <a:spLocks noChangeArrowheads="1"/>
          </p:cNvSpPr>
          <p:nvPr/>
        </p:nvSpPr>
        <p:spPr bwMode="auto">
          <a:xfrm>
            <a:off x="179388" y="3429000"/>
            <a:ext cx="2016125" cy="143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背景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180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目的</a:t>
            </a:r>
          </a:p>
        </p:txBody>
      </p:sp>
      <p:sp>
        <p:nvSpPr>
          <p:cNvPr id="12293" name="Rectangle 6"/>
          <p:cNvSpPr>
            <a:spLocks noChangeArrowheads="1"/>
          </p:cNvSpPr>
          <p:nvPr/>
        </p:nvSpPr>
        <p:spPr bwMode="auto">
          <a:xfrm>
            <a:off x="179388" y="5013325"/>
            <a:ext cx="2016125" cy="143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方法</a:t>
            </a:r>
          </a:p>
        </p:txBody>
      </p:sp>
      <p:sp>
        <p:nvSpPr>
          <p:cNvPr id="12294" name="Rectangle 7"/>
          <p:cNvSpPr>
            <a:spLocks noChangeArrowheads="1"/>
          </p:cNvSpPr>
          <p:nvPr/>
        </p:nvSpPr>
        <p:spPr bwMode="auto">
          <a:xfrm>
            <a:off x="2339975" y="1844675"/>
            <a:ext cx="2016125" cy="143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結果と考察１</a:t>
            </a:r>
          </a:p>
        </p:txBody>
      </p:sp>
      <p:sp>
        <p:nvSpPr>
          <p:cNvPr id="12295" name="Rectangle 8"/>
          <p:cNvSpPr>
            <a:spLocks noChangeArrowheads="1"/>
          </p:cNvSpPr>
          <p:nvPr/>
        </p:nvSpPr>
        <p:spPr bwMode="auto">
          <a:xfrm>
            <a:off x="2339975" y="3429000"/>
            <a:ext cx="2016125" cy="143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結果と考察２</a:t>
            </a:r>
          </a:p>
        </p:txBody>
      </p:sp>
      <p:sp>
        <p:nvSpPr>
          <p:cNvPr id="12296" name="Rectangle 9"/>
          <p:cNvSpPr>
            <a:spLocks noChangeArrowheads="1"/>
          </p:cNvSpPr>
          <p:nvPr/>
        </p:nvSpPr>
        <p:spPr bwMode="auto">
          <a:xfrm>
            <a:off x="2339975" y="5013325"/>
            <a:ext cx="2016125" cy="143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まとめ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180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今後の課題</a:t>
            </a:r>
          </a:p>
        </p:txBody>
      </p:sp>
      <p:sp>
        <p:nvSpPr>
          <p:cNvPr id="12297" name="Rectangle 10"/>
          <p:cNvSpPr>
            <a:spLocks noChangeArrowheads="1"/>
          </p:cNvSpPr>
          <p:nvPr/>
        </p:nvSpPr>
        <p:spPr bwMode="auto">
          <a:xfrm>
            <a:off x="107950" y="1700213"/>
            <a:ext cx="4319588" cy="48244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1800"/>
          </a:p>
        </p:txBody>
      </p:sp>
      <p:sp>
        <p:nvSpPr>
          <p:cNvPr id="78860" name="Rectangle 12"/>
          <p:cNvSpPr>
            <a:spLocks noChangeArrowheads="1"/>
          </p:cNvSpPr>
          <p:nvPr/>
        </p:nvSpPr>
        <p:spPr bwMode="auto">
          <a:xfrm>
            <a:off x="179388" y="3429000"/>
            <a:ext cx="2016125" cy="1439863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/>
              <a:t>背景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2800" b="1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2800" b="1">
                <a:solidFill>
                  <a:schemeClr val="bg1"/>
                </a:solidFill>
              </a:rPr>
              <a:t>目的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build="p" bldLvl="3" autoUpdateAnimBg="0"/>
      <p:bldP spid="7886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24300" y="765175"/>
            <a:ext cx="5148263" cy="5888038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ja-JP" altLang="en-US">
                <a:solidFill>
                  <a:srgbClr val="0000FF"/>
                </a:solidFill>
                <a:latin typeface="ＭＳ Ｐゴシック" panose="020B0600070205080204" pitchFamily="50" charset="-128"/>
              </a:rPr>
              <a:t>方法</a:t>
            </a:r>
          </a:p>
          <a:p>
            <a:pPr lvl="1" eaLnBrk="1" hangingPunct="1">
              <a:lnSpc>
                <a:spcPct val="90000"/>
              </a:lnSpc>
            </a:pPr>
            <a:r>
              <a:rPr lang="ja-JP" altLang="en-US">
                <a:latin typeface="ＭＳ Ｐゴシック" panose="020B0600070205080204" pitchFamily="50" charset="-128"/>
              </a:rPr>
              <a:t>あなたの研究を</a:t>
            </a:r>
            <a:br>
              <a:rPr lang="ja-JP" altLang="en-US">
                <a:latin typeface="ＭＳ Ｐゴシック" panose="020B0600070205080204" pitchFamily="50" charset="-128"/>
              </a:rPr>
            </a:br>
            <a:r>
              <a:rPr lang="ja-JP" altLang="en-US">
                <a:latin typeface="ＭＳ Ｐゴシック" panose="020B0600070205080204" pitchFamily="50" charset="-128"/>
              </a:rPr>
              <a:t>再現できるように書くこと</a:t>
            </a:r>
          </a:p>
          <a:p>
            <a:pPr lvl="1" eaLnBrk="1" hangingPunct="1">
              <a:lnSpc>
                <a:spcPct val="90000"/>
              </a:lnSpc>
            </a:pPr>
            <a:r>
              <a:rPr lang="ja-JP" altLang="en-US">
                <a:solidFill>
                  <a:srgbClr val="0000FF"/>
                </a:solidFill>
                <a:latin typeface="ＭＳ Ｐゴシック" panose="020B0600070205080204" pitchFamily="50" charset="-128"/>
              </a:rPr>
              <a:t>質問紙法の場合</a:t>
            </a:r>
          </a:p>
          <a:p>
            <a:pPr lvl="2" eaLnBrk="1" hangingPunct="1">
              <a:lnSpc>
                <a:spcPct val="90000"/>
              </a:lnSpc>
            </a:pPr>
            <a:r>
              <a:rPr lang="ja-JP" altLang="en-US">
                <a:latin typeface="ＭＳ Ｐゴシック" panose="020B0600070205080204" pitchFamily="50" charset="-128"/>
              </a:rPr>
              <a:t>使用した項目</a:t>
            </a:r>
          </a:p>
          <a:p>
            <a:pPr lvl="3" eaLnBrk="1" hangingPunct="1">
              <a:lnSpc>
                <a:spcPct val="90000"/>
              </a:lnSpc>
            </a:pPr>
            <a:r>
              <a:rPr lang="ja-JP" altLang="en-US" sz="2400">
                <a:latin typeface="ＭＳ Ｐゴシック" panose="020B0600070205080204" pitchFamily="50" charset="-128"/>
              </a:rPr>
              <a:t>何段階で評定したかも書く</a:t>
            </a:r>
          </a:p>
          <a:p>
            <a:pPr lvl="4" eaLnBrk="1" hangingPunct="1">
              <a:lnSpc>
                <a:spcPct val="90000"/>
              </a:lnSpc>
            </a:pPr>
            <a:r>
              <a:rPr lang="en-US" altLang="ja-JP" sz="2400">
                <a:latin typeface="ＭＳ Ｐゴシック" panose="020B0600070205080204" pitchFamily="50" charset="-128"/>
              </a:rPr>
              <a:t>5</a:t>
            </a:r>
            <a:r>
              <a:rPr lang="ja-JP" altLang="en-US" sz="2400">
                <a:latin typeface="ＭＳ Ｐゴシック" panose="020B0600070205080204" pitchFamily="50" charset="-128"/>
              </a:rPr>
              <a:t>段階評定</a:t>
            </a:r>
          </a:p>
          <a:p>
            <a:pPr lvl="2" eaLnBrk="1" hangingPunct="1">
              <a:lnSpc>
                <a:spcPct val="90000"/>
              </a:lnSpc>
            </a:pPr>
            <a:r>
              <a:rPr lang="ja-JP" altLang="en-US">
                <a:latin typeface="ＭＳ Ｐゴシック" panose="020B0600070205080204" pitchFamily="50" charset="-128"/>
              </a:rPr>
              <a:t>調査対象者</a:t>
            </a:r>
          </a:p>
          <a:p>
            <a:pPr lvl="3" eaLnBrk="1" hangingPunct="1">
              <a:lnSpc>
                <a:spcPct val="90000"/>
              </a:lnSpc>
            </a:pPr>
            <a:r>
              <a:rPr lang="ja-JP" altLang="en-US" sz="2400">
                <a:latin typeface="ＭＳ Ｐゴシック" panose="020B0600070205080204" pitchFamily="50" charset="-128"/>
              </a:rPr>
              <a:t>調査対象者の内訳</a:t>
            </a:r>
          </a:p>
          <a:p>
            <a:pPr lvl="4" eaLnBrk="1" hangingPunct="1">
              <a:lnSpc>
                <a:spcPct val="90000"/>
              </a:lnSpc>
            </a:pPr>
            <a:r>
              <a:rPr lang="ja-JP" altLang="en-US" sz="2400">
                <a:latin typeface="ＭＳ Ｐゴシック" panose="020B0600070205080204" pitchFamily="50" charset="-128"/>
              </a:rPr>
              <a:t>調査対象者</a:t>
            </a:r>
            <a:r>
              <a:rPr lang="en-US" altLang="ja-JP" sz="2400">
                <a:latin typeface="ＭＳ Ｐゴシック" panose="020B0600070205080204" pitchFamily="50" charset="-128"/>
              </a:rPr>
              <a:t>00</a:t>
            </a:r>
            <a:r>
              <a:rPr lang="ja-JP" altLang="en-US" sz="2400">
                <a:latin typeface="ＭＳ Ｐゴシック" panose="020B0600070205080204" pitchFamily="50" charset="-128"/>
              </a:rPr>
              <a:t>人</a:t>
            </a:r>
            <a:br>
              <a:rPr lang="ja-JP" altLang="en-US" sz="2400">
                <a:latin typeface="ＭＳ Ｐゴシック" panose="020B0600070205080204" pitchFamily="50" charset="-128"/>
              </a:rPr>
            </a:br>
            <a:r>
              <a:rPr lang="ja-JP" altLang="en-US" sz="2400">
                <a:latin typeface="ＭＳ Ｐゴシック" panose="020B0600070205080204" pitchFamily="50" charset="-128"/>
              </a:rPr>
              <a:t>（男性</a:t>
            </a:r>
            <a:r>
              <a:rPr lang="en-US" altLang="ja-JP" sz="2400">
                <a:latin typeface="ＭＳ Ｐゴシック" panose="020B0600070205080204" pitchFamily="50" charset="-128"/>
              </a:rPr>
              <a:t>X</a:t>
            </a:r>
            <a:r>
              <a:rPr lang="ja-JP" altLang="en-US" sz="2400">
                <a:latin typeface="ＭＳ Ｐゴシック" panose="020B0600070205080204" pitchFamily="50" charset="-128"/>
              </a:rPr>
              <a:t>人，女性</a:t>
            </a:r>
            <a:r>
              <a:rPr lang="en-US" altLang="ja-JP" sz="2400">
                <a:latin typeface="ＭＳ Ｐゴシック" panose="020B0600070205080204" pitchFamily="50" charset="-128"/>
              </a:rPr>
              <a:t>Y</a:t>
            </a:r>
            <a:r>
              <a:rPr lang="ja-JP" altLang="en-US" sz="2400">
                <a:latin typeface="ＭＳ Ｐゴシック" panose="020B0600070205080204" pitchFamily="50" charset="-128"/>
              </a:rPr>
              <a:t>人）</a:t>
            </a:r>
          </a:p>
        </p:txBody>
      </p:sp>
      <p:sp>
        <p:nvSpPr>
          <p:cNvPr id="13315" name="Rectangle 4"/>
          <p:cNvSpPr>
            <a:spLocks noChangeArrowheads="1"/>
          </p:cNvSpPr>
          <p:nvPr/>
        </p:nvSpPr>
        <p:spPr bwMode="auto">
          <a:xfrm>
            <a:off x="179388" y="1844675"/>
            <a:ext cx="2016125" cy="143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タイトル</a:t>
            </a:r>
          </a:p>
        </p:txBody>
      </p:sp>
      <p:sp>
        <p:nvSpPr>
          <p:cNvPr id="13316" name="Rectangle 5"/>
          <p:cNvSpPr>
            <a:spLocks noChangeArrowheads="1"/>
          </p:cNvSpPr>
          <p:nvPr/>
        </p:nvSpPr>
        <p:spPr bwMode="auto">
          <a:xfrm>
            <a:off x="179388" y="3429000"/>
            <a:ext cx="2016125" cy="143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背景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180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目的</a:t>
            </a:r>
          </a:p>
        </p:txBody>
      </p:sp>
      <p:sp>
        <p:nvSpPr>
          <p:cNvPr id="13317" name="Rectangle 6"/>
          <p:cNvSpPr>
            <a:spLocks noChangeArrowheads="1"/>
          </p:cNvSpPr>
          <p:nvPr/>
        </p:nvSpPr>
        <p:spPr bwMode="auto">
          <a:xfrm>
            <a:off x="179388" y="5013325"/>
            <a:ext cx="2016125" cy="143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方法</a:t>
            </a:r>
          </a:p>
        </p:txBody>
      </p:sp>
      <p:sp>
        <p:nvSpPr>
          <p:cNvPr id="13318" name="Rectangle 7"/>
          <p:cNvSpPr>
            <a:spLocks noChangeArrowheads="1"/>
          </p:cNvSpPr>
          <p:nvPr/>
        </p:nvSpPr>
        <p:spPr bwMode="auto">
          <a:xfrm>
            <a:off x="2339975" y="1844675"/>
            <a:ext cx="2016125" cy="143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結果と考察１</a:t>
            </a:r>
          </a:p>
        </p:txBody>
      </p:sp>
      <p:sp>
        <p:nvSpPr>
          <p:cNvPr id="13319" name="Rectangle 8"/>
          <p:cNvSpPr>
            <a:spLocks noChangeArrowheads="1"/>
          </p:cNvSpPr>
          <p:nvPr/>
        </p:nvSpPr>
        <p:spPr bwMode="auto">
          <a:xfrm>
            <a:off x="2339975" y="3429000"/>
            <a:ext cx="2016125" cy="143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結果と考察２</a:t>
            </a:r>
          </a:p>
        </p:txBody>
      </p:sp>
      <p:sp>
        <p:nvSpPr>
          <p:cNvPr id="13320" name="Rectangle 9"/>
          <p:cNvSpPr>
            <a:spLocks noChangeArrowheads="1"/>
          </p:cNvSpPr>
          <p:nvPr/>
        </p:nvSpPr>
        <p:spPr bwMode="auto">
          <a:xfrm>
            <a:off x="2339975" y="5013325"/>
            <a:ext cx="2016125" cy="143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まとめ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180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今後の課題</a:t>
            </a:r>
          </a:p>
        </p:txBody>
      </p:sp>
      <p:sp>
        <p:nvSpPr>
          <p:cNvPr id="13321" name="Rectangle 10"/>
          <p:cNvSpPr>
            <a:spLocks noChangeArrowheads="1"/>
          </p:cNvSpPr>
          <p:nvPr/>
        </p:nvSpPr>
        <p:spPr bwMode="auto">
          <a:xfrm>
            <a:off x="107950" y="1700213"/>
            <a:ext cx="4319588" cy="48244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1800"/>
          </a:p>
        </p:txBody>
      </p:sp>
      <p:sp>
        <p:nvSpPr>
          <p:cNvPr id="79884" name="Rectangle 12"/>
          <p:cNvSpPr>
            <a:spLocks noChangeArrowheads="1"/>
          </p:cNvSpPr>
          <p:nvPr/>
        </p:nvSpPr>
        <p:spPr bwMode="auto">
          <a:xfrm>
            <a:off x="179388" y="5013325"/>
            <a:ext cx="2016125" cy="1439863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2800">
                <a:solidFill>
                  <a:schemeClr val="bg1"/>
                </a:solidFill>
              </a:rPr>
              <a:t>方法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 build="p" bldLvl="5" autoUpdateAnimBg="0"/>
      <p:bldP spid="7988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0" y="908050"/>
            <a:ext cx="4449763" cy="5745163"/>
          </a:xfrm>
          <a:noFill/>
        </p:spPr>
        <p:txBody>
          <a:bodyPr/>
          <a:lstStyle/>
          <a:p>
            <a:pPr eaLnBrk="1" hangingPunct="1">
              <a:lnSpc>
                <a:spcPct val="95000"/>
              </a:lnSpc>
            </a:pPr>
            <a:r>
              <a:rPr lang="ja-JP" altLang="en-US">
                <a:solidFill>
                  <a:srgbClr val="0000FF"/>
                </a:solidFill>
                <a:latin typeface="ＭＳ Ｐゴシック" panose="020B0600070205080204" pitchFamily="50" charset="-128"/>
              </a:rPr>
              <a:t>結果と考察</a:t>
            </a:r>
          </a:p>
          <a:p>
            <a:pPr lvl="1" eaLnBrk="1" hangingPunct="1">
              <a:lnSpc>
                <a:spcPct val="95000"/>
              </a:lnSpc>
            </a:pPr>
            <a:r>
              <a:rPr lang="ja-JP" altLang="en-US">
                <a:solidFill>
                  <a:srgbClr val="FF0066"/>
                </a:solidFill>
                <a:latin typeface="ＭＳ Ｐゴシック" panose="020B0600070205080204" pitchFamily="50" charset="-128"/>
              </a:rPr>
              <a:t>図や表</a:t>
            </a:r>
            <a:r>
              <a:rPr lang="ja-JP" altLang="en-US">
                <a:latin typeface="ＭＳ Ｐゴシック" panose="020B0600070205080204" pitchFamily="50" charset="-128"/>
              </a:rPr>
              <a:t>で結果を示す</a:t>
            </a:r>
          </a:p>
          <a:p>
            <a:pPr lvl="1" eaLnBrk="1" hangingPunct="1">
              <a:lnSpc>
                <a:spcPct val="95000"/>
              </a:lnSpc>
            </a:pPr>
            <a:r>
              <a:rPr lang="ja-JP" altLang="en-US">
                <a:latin typeface="ＭＳ Ｐゴシック" panose="020B0600070205080204" pitchFamily="50" charset="-128"/>
              </a:rPr>
              <a:t>そして，図表の下に</a:t>
            </a:r>
            <a:br>
              <a:rPr lang="ja-JP" altLang="en-US">
                <a:latin typeface="ＭＳ Ｐゴシック" panose="020B0600070205080204" pitchFamily="50" charset="-128"/>
              </a:rPr>
            </a:br>
            <a:r>
              <a:rPr lang="ja-JP" altLang="en-US">
                <a:latin typeface="ＭＳ Ｐゴシック" panose="020B0600070205080204" pitchFamily="50" charset="-128"/>
              </a:rPr>
              <a:t>その結果の内容を</a:t>
            </a:r>
            <a:br>
              <a:rPr lang="ja-JP" altLang="en-US">
                <a:latin typeface="ＭＳ Ｐゴシック" panose="020B0600070205080204" pitchFamily="50" charset="-128"/>
              </a:rPr>
            </a:br>
            <a:r>
              <a:rPr lang="ja-JP" altLang="en-US">
                <a:solidFill>
                  <a:srgbClr val="FF0066"/>
                </a:solidFill>
                <a:latin typeface="ＭＳ Ｐゴシック" panose="020B0600070205080204" pitchFamily="50" charset="-128"/>
              </a:rPr>
              <a:t>文で書く</a:t>
            </a:r>
            <a:r>
              <a:rPr lang="ja-JP" altLang="en-US">
                <a:latin typeface="ＭＳ Ｐゴシック" panose="020B0600070205080204" pitchFamily="50" charset="-128"/>
              </a:rPr>
              <a:t>こと</a:t>
            </a:r>
          </a:p>
          <a:p>
            <a:pPr lvl="2" eaLnBrk="1" hangingPunct="1">
              <a:lnSpc>
                <a:spcPct val="95000"/>
              </a:lnSpc>
            </a:pPr>
            <a:r>
              <a:rPr lang="ja-JP" altLang="en-US" sz="2800">
                <a:latin typeface="ＭＳ Ｐゴシック" panose="020B0600070205080204" pitchFamily="50" charset="-128"/>
              </a:rPr>
              <a:t>例</a:t>
            </a:r>
          </a:p>
          <a:p>
            <a:pPr lvl="2" eaLnBrk="1" hangingPunct="1">
              <a:lnSpc>
                <a:spcPct val="95000"/>
              </a:lnSpc>
            </a:pPr>
            <a:r>
              <a:rPr lang="ja-JP" altLang="en-US" sz="2800">
                <a:latin typeface="ＭＳ Ｐゴシック" panose="020B0600070205080204" pitchFamily="50" charset="-128"/>
              </a:rPr>
              <a:t>○○であるほど，</a:t>
            </a:r>
            <a:br>
              <a:rPr lang="ja-JP" altLang="en-US" sz="2800">
                <a:latin typeface="ＭＳ Ｐゴシック" panose="020B0600070205080204" pitchFamily="50" charset="-128"/>
              </a:rPr>
            </a:br>
            <a:r>
              <a:rPr lang="en-US" altLang="ja-JP" sz="2800">
                <a:latin typeface="ＭＳ Ｐゴシック" panose="020B0600070205080204" pitchFamily="50" charset="-128"/>
              </a:rPr>
              <a:t>××</a:t>
            </a:r>
            <a:r>
              <a:rPr lang="ja-JP" altLang="en-US" sz="2800">
                <a:latin typeface="ＭＳ Ｐゴシック" panose="020B0600070205080204" pitchFamily="50" charset="-128"/>
              </a:rPr>
              <a:t>の傾向あり</a:t>
            </a:r>
          </a:p>
          <a:p>
            <a:pPr lvl="2" eaLnBrk="1" hangingPunct="1">
              <a:lnSpc>
                <a:spcPct val="95000"/>
              </a:lnSpc>
            </a:pPr>
            <a:r>
              <a:rPr lang="ja-JP" altLang="en-US" sz="2800">
                <a:latin typeface="ＭＳ Ｐゴシック" panose="020B0600070205080204" pitchFamily="50" charset="-128"/>
              </a:rPr>
              <a:t>そうしないと</a:t>
            </a:r>
            <a:br>
              <a:rPr lang="ja-JP" altLang="en-US" sz="2800">
                <a:latin typeface="ＭＳ Ｐゴシック" panose="020B0600070205080204" pitchFamily="50" charset="-128"/>
              </a:rPr>
            </a:br>
            <a:r>
              <a:rPr lang="ja-JP" altLang="en-US" sz="2800">
                <a:latin typeface="ＭＳ Ｐゴシック" panose="020B0600070205080204" pitchFamily="50" charset="-128"/>
              </a:rPr>
              <a:t>図表を見ただけでは，</a:t>
            </a:r>
            <a:br>
              <a:rPr lang="ja-JP" altLang="en-US" sz="2800">
                <a:latin typeface="ＭＳ Ｐゴシック" panose="020B0600070205080204" pitchFamily="50" charset="-128"/>
              </a:rPr>
            </a:br>
            <a:r>
              <a:rPr lang="ja-JP" altLang="en-US" sz="2800">
                <a:latin typeface="ＭＳ Ｐゴシック" panose="020B0600070205080204" pitchFamily="50" charset="-128"/>
              </a:rPr>
              <a:t>この結果から</a:t>
            </a:r>
            <a:br>
              <a:rPr lang="ja-JP" altLang="en-US" sz="2800">
                <a:latin typeface="ＭＳ Ｐゴシック" panose="020B0600070205080204" pitchFamily="50" charset="-128"/>
              </a:rPr>
            </a:br>
            <a:r>
              <a:rPr lang="ja-JP" altLang="en-US" sz="2800">
                <a:latin typeface="ＭＳ Ｐゴシック" panose="020B0600070205080204" pitchFamily="50" charset="-128"/>
              </a:rPr>
              <a:t>何が言えるかが</a:t>
            </a:r>
            <a:br>
              <a:rPr lang="ja-JP" altLang="en-US" sz="2800">
                <a:latin typeface="ＭＳ Ｐゴシック" panose="020B0600070205080204" pitchFamily="50" charset="-128"/>
              </a:rPr>
            </a:br>
            <a:r>
              <a:rPr lang="ja-JP" altLang="en-US" sz="2800">
                <a:latin typeface="ＭＳ Ｐゴシック" panose="020B0600070205080204" pitchFamily="50" charset="-128"/>
              </a:rPr>
              <a:t>わからないから</a:t>
            </a:r>
          </a:p>
        </p:txBody>
      </p:sp>
      <p:sp>
        <p:nvSpPr>
          <p:cNvPr id="14339" name="Rectangle 4"/>
          <p:cNvSpPr>
            <a:spLocks noChangeArrowheads="1"/>
          </p:cNvSpPr>
          <p:nvPr/>
        </p:nvSpPr>
        <p:spPr bwMode="auto">
          <a:xfrm>
            <a:off x="179388" y="1844675"/>
            <a:ext cx="2016125" cy="143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タイトル</a:t>
            </a:r>
          </a:p>
        </p:txBody>
      </p:sp>
      <p:sp>
        <p:nvSpPr>
          <p:cNvPr id="14340" name="Rectangle 5"/>
          <p:cNvSpPr>
            <a:spLocks noChangeArrowheads="1"/>
          </p:cNvSpPr>
          <p:nvPr/>
        </p:nvSpPr>
        <p:spPr bwMode="auto">
          <a:xfrm>
            <a:off x="179388" y="3429000"/>
            <a:ext cx="2016125" cy="143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背景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180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目的</a:t>
            </a:r>
          </a:p>
        </p:txBody>
      </p:sp>
      <p:sp>
        <p:nvSpPr>
          <p:cNvPr id="14341" name="Rectangle 6"/>
          <p:cNvSpPr>
            <a:spLocks noChangeArrowheads="1"/>
          </p:cNvSpPr>
          <p:nvPr/>
        </p:nvSpPr>
        <p:spPr bwMode="auto">
          <a:xfrm>
            <a:off x="179388" y="5013325"/>
            <a:ext cx="2016125" cy="143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方法</a:t>
            </a:r>
          </a:p>
        </p:txBody>
      </p:sp>
      <p:sp>
        <p:nvSpPr>
          <p:cNvPr id="14342" name="Rectangle 7"/>
          <p:cNvSpPr>
            <a:spLocks noChangeArrowheads="1"/>
          </p:cNvSpPr>
          <p:nvPr/>
        </p:nvSpPr>
        <p:spPr bwMode="auto">
          <a:xfrm>
            <a:off x="2339975" y="1844675"/>
            <a:ext cx="2016125" cy="143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結果と考察１</a:t>
            </a:r>
          </a:p>
        </p:txBody>
      </p:sp>
      <p:sp>
        <p:nvSpPr>
          <p:cNvPr id="14343" name="Rectangle 8"/>
          <p:cNvSpPr>
            <a:spLocks noChangeArrowheads="1"/>
          </p:cNvSpPr>
          <p:nvPr/>
        </p:nvSpPr>
        <p:spPr bwMode="auto">
          <a:xfrm>
            <a:off x="2339975" y="3429000"/>
            <a:ext cx="2016125" cy="143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結果と考察２</a:t>
            </a:r>
          </a:p>
        </p:txBody>
      </p:sp>
      <p:sp>
        <p:nvSpPr>
          <p:cNvPr id="14344" name="Rectangle 9"/>
          <p:cNvSpPr>
            <a:spLocks noChangeArrowheads="1"/>
          </p:cNvSpPr>
          <p:nvPr/>
        </p:nvSpPr>
        <p:spPr bwMode="auto">
          <a:xfrm>
            <a:off x="2339975" y="5013325"/>
            <a:ext cx="2016125" cy="143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まとめ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180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今後の課題</a:t>
            </a:r>
          </a:p>
        </p:txBody>
      </p:sp>
      <p:sp>
        <p:nvSpPr>
          <p:cNvPr id="14345" name="Rectangle 10"/>
          <p:cNvSpPr>
            <a:spLocks noChangeArrowheads="1"/>
          </p:cNvSpPr>
          <p:nvPr/>
        </p:nvSpPr>
        <p:spPr bwMode="auto">
          <a:xfrm>
            <a:off x="107950" y="1700213"/>
            <a:ext cx="4319588" cy="48244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1800"/>
          </a:p>
        </p:txBody>
      </p:sp>
      <p:sp>
        <p:nvSpPr>
          <p:cNvPr id="80908" name="Rectangle 12"/>
          <p:cNvSpPr>
            <a:spLocks noChangeArrowheads="1"/>
          </p:cNvSpPr>
          <p:nvPr/>
        </p:nvSpPr>
        <p:spPr bwMode="auto">
          <a:xfrm>
            <a:off x="2339975" y="1844675"/>
            <a:ext cx="2016125" cy="1439863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2800" b="1">
                <a:solidFill>
                  <a:schemeClr val="bg1"/>
                </a:solidFill>
              </a:rPr>
              <a:t>結果と考察１</a:t>
            </a:r>
          </a:p>
        </p:txBody>
      </p:sp>
      <p:sp>
        <p:nvSpPr>
          <p:cNvPr id="80909" name="Rectangle 13"/>
          <p:cNvSpPr>
            <a:spLocks noChangeArrowheads="1"/>
          </p:cNvSpPr>
          <p:nvPr/>
        </p:nvSpPr>
        <p:spPr bwMode="auto">
          <a:xfrm>
            <a:off x="2339975" y="3429000"/>
            <a:ext cx="2016125" cy="1439863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2800" b="1">
                <a:solidFill>
                  <a:schemeClr val="bg1"/>
                </a:solidFill>
              </a:rPr>
              <a:t>結果と考察２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build="p" bldLvl="5" autoUpdateAnimBg="0"/>
      <p:bldP spid="80908" grpId="0" animBg="1"/>
      <p:bldP spid="8090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27538" y="333375"/>
            <a:ext cx="4608512" cy="6319838"/>
          </a:xfrm>
          <a:noFill/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ja-JP" altLang="en-US">
                <a:solidFill>
                  <a:srgbClr val="0000FF"/>
                </a:solidFill>
                <a:latin typeface="ＭＳ Ｐゴシック" panose="020B0600070205080204" pitchFamily="50" charset="-128"/>
              </a:rPr>
              <a:t>まとめ</a:t>
            </a:r>
          </a:p>
          <a:p>
            <a:pPr lvl="1" eaLnBrk="1" hangingPunct="1">
              <a:lnSpc>
                <a:spcPct val="85000"/>
              </a:lnSpc>
            </a:pPr>
            <a:r>
              <a:rPr lang="ja-JP" altLang="en-US">
                <a:latin typeface="ＭＳ Ｐゴシック" panose="020B0600070205080204" pitchFamily="50" charset="-128"/>
              </a:rPr>
              <a:t>結果を簡単に要約する</a:t>
            </a:r>
          </a:p>
          <a:p>
            <a:pPr lvl="2" eaLnBrk="1" hangingPunct="1">
              <a:lnSpc>
                <a:spcPct val="85000"/>
              </a:lnSpc>
            </a:pPr>
            <a:r>
              <a:rPr lang="ja-JP" altLang="en-US">
                <a:latin typeface="ＭＳ Ｐゴシック" panose="020B0600070205080204" pitchFamily="50" charset="-128"/>
              </a:rPr>
              <a:t>目的とまとめは</a:t>
            </a:r>
            <a:br>
              <a:rPr lang="ja-JP" altLang="en-US">
                <a:latin typeface="ＭＳ Ｐゴシック" panose="020B0600070205080204" pitchFamily="50" charset="-128"/>
              </a:rPr>
            </a:br>
            <a:r>
              <a:rPr lang="ja-JP" altLang="en-US">
                <a:latin typeface="ＭＳ Ｐゴシック" panose="020B0600070205080204" pitchFamily="50" charset="-128"/>
              </a:rPr>
              <a:t>一致する必要がある</a:t>
            </a:r>
          </a:p>
          <a:p>
            <a:pPr lvl="3" eaLnBrk="1" hangingPunct="1">
              <a:lnSpc>
                <a:spcPct val="85000"/>
              </a:lnSpc>
            </a:pPr>
            <a:r>
              <a:rPr lang="ja-JP" altLang="en-US" sz="2400">
                <a:latin typeface="ＭＳ Ｐゴシック" panose="020B0600070205080204" pitchFamily="50" charset="-128"/>
              </a:rPr>
              <a:t>目的</a:t>
            </a:r>
          </a:p>
          <a:p>
            <a:pPr lvl="4" eaLnBrk="1" hangingPunct="1">
              <a:lnSpc>
                <a:spcPct val="85000"/>
              </a:lnSpc>
            </a:pPr>
            <a:r>
              <a:rPr lang="ja-JP" altLang="en-US" sz="2400">
                <a:latin typeface="ＭＳ Ｐゴシック" panose="020B0600070205080204" pitchFamily="50" charset="-128"/>
              </a:rPr>
              <a:t>○○を検討する</a:t>
            </a:r>
          </a:p>
          <a:p>
            <a:pPr lvl="3" eaLnBrk="1" hangingPunct="1">
              <a:lnSpc>
                <a:spcPct val="85000"/>
              </a:lnSpc>
            </a:pPr>
            <a:r>
              <a:rPr lang="ja-JP" altLang="en-US" sz="2400">
                <a:latin typeface="ＭＳ Ｐゴシック" panose="020B0600070205080204" pitchFamily="50" charset="-128"/>
              </a:rPr>
              <a:t>まとめ</a:t>
            </a:r>
          </a:p>
          <a:p>
            <a:pPr lvl="4" eaLnBrk="1" hangingPunct="1">
              <a:lnSpc>
                <a:spcPct val="85000"/>
              </a:lnSpc>
            </a:pPr>
            <a:r>
              <a:rPr lang="ja-JP" altLang="en-US" sz="2400">
                <a:latin typeface="ＭＳ Ｐゴシック" panose="020B0600070205080204" pitchFamily="50" charset="-128"/>
              </a:rPr>
              <a:t>○○であることが</a:t>
            </a:r>
            <a:br>
              <a:rPr lang="ja-JP" altLang="en-US" sz="2400">
                <a:latin typeface="ＭＳ Ｐゴシック" panose="020B0600070205080204" pitchFamily="50" charset="-128"/>
              </a:rPr>
            </a:br>
            <a:r>
              <a:rPr lang="ja-JP" altLang="en-US" sz="2400">
                <a:latin typeface="ＭＳ Ｐゴシック" panose="020B0600070205080204" pitchFamily="50" charset="-128"/>
              </a:rPr>
              <a:t>明らかとなった</a:t>
            </a:r>
          </a:p>
          <a:p>
            <a:pPr eaLnBrk="1" hangingPunct="1">
              <a:lnSpc>
                <a:spcPct val="85000"/>
              </a:lnSpc>
            </a:pPr>
            <a:r>
              <a:rPr lang="ja-JP" altLang="en-US">
                <a:solidFill>
                  <a:srgbClr val="0000FF"/>
                </a:solidFill>
                <a:latin typeface="ＭＳ Ｐゴシック" panose="020B0600070205080204" pitchFamily="50" charset="-128"/>
              </a:rPr>
              <a:t>今後の課題</a:t>
            </a:r>
          </a:p>
          <a:p>
            <a:pPr lvl="1" eaLnBrk="1" hangingPunct="1">
              <a:lnSpc>
                <a:spcPct val="85000"/>
              </a:lnSpc>
            </a:pPr>
            <a:r>
              <a:rPr lang="ja-JP" altLang="en-US">
                <a:latin typeface="ＭＳ Ｐゴシック" panose="020B0600070205080204" pitchFamily="50" charset="-128"/>
              </a:rPr>
              <a:t>必ず必要</a:t>
            </a:r>
          </a:p>
          <a:p>
            <a:pPr lvl="2" eaLnBrk="1" hangingPunct="1">
              <a:lnSpc>
                <a:spcPct val="85000"/>
              </a:lnSpc>
            </a:pPr>
            <a:r>
              <a:rPr lang="ja-JP" altLang="en-US">
                <a:latin typeface="ＭＳ Ｐゴシック" panose="020B0600070205080204" pitchFamily="50" charset="-128"/>
              </a:rPr>
              <a:t>これが無いとこの研究は完璧なものになってしまう</a:t>
            </a:r>
          </a:p>
          <a:p>
            <a:pPr lvl="2" eaLnBrk="1" hangingPunct="1">
              <a:lnSpc>
                <a:spcPct val="85000"/>
              </a:lnSpc>
            </a:pPr>
            <a:r>
              <a:rPr lang="ja-JP" altLang="en-US">
                <a:latin typeface="ＭＳ Ｐゴシック" panose="020B0600070205080204" pitchFamily="50" charset="-128"/>
              </a:rPr>
              <a:t>例</a:t>
            </a:r>
          </a:p>
          <a:p>
            <a:pPr lvl="3" eaLnBrk="1" hangingPunct="1">
              <a:lnSpc>
                <a:spcPct val="85000"/>
              </a:lnSpc>
            </a:pPr>
            <a:r>
              <a:rPr lang="ja-JP" altLang="en-US">
                <a:latin typeface="ＭＳ Ｐゴシック" panose="020B0600070205080204" pitchFamily="50" charset="-128"/>
              </a:rPr>
              <a:t>実験する必要がある</a:t>
            </a:r>
          </a:p>
          <a:p>
            <a:pPr lvl="3" eaLnBrk="1" hangingPunct="1">
              <a:lnSpc>
                <a:spcPct val="85000"/>
              </a:lnSpc>
            </a:pPr>
            <a:r>
              <a:rPr lang="ja-JP" altLang="en-US">
                <a:latin typeface="ＭＳ Ｐゴシック" panose="020B0600070205080204" pitchFamily="50" charset="-128"/>
              </a:rPr>
              <a:t>時系列データを取る</a:t>
            </a:r>
            <a:br>
              <a:rPr lang="ja-JP" altLang="en-US">
                <a:latin typeface="ＭＳ Ｐゴシック" panose="020B0600070205080204" pitchFamily="50" charset="-128"/>
              </a:rPr>
            </a:br>
            <a:r>
              <a:rPr lang="ja-JP" altLang="en-US">
                <a:latin typeface="ＭＳ Ｐゴシック" panose="020B0600070205080204" pitchFamily="50" charset="-128"/>
              </a:rPr>
              <a:t>必要がある</a:t>
            </a:r>
          </a:p>
        </p:txBody>
      </p:sp>
      <p:sp>
        <p:nvSpPr>
          <p:cNvPr id="15363" name="Rectangle 4"/>
          <p:cNvSpPr>
            <a:spLocks noChangeArrowheads="1"/>
          </p:cNvSpPr>
          <p:nvPr/>
        </p:nvSpPr>
        <p:spPr bwMode="auto">
          <a:xfrm>
            <a:off x="179388" y="1844675"/>
            <a:ext cx="2016125" cy="143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タイトル</a:t>
            </a:r>
          </a:p>
        </p:txBody>
      </p:sp>
      <p:sp>
        <p:nvSpPr>
          <p:cNvPr id="15364" name="Rectangle 5"/>
          <p:cNvSpPr>
            <a:spLocks noChangeArrowheads="1"/>
          </p:cNvSpPr>
          <p:nvPr/>
        </p:nvSpPr>
        <p:spPr bwMode="auto">
          <a:xfrm>
            <a:off x="179388" y="3429000"/>
            <a:ext cx="2016125" cy="143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背景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180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目的</a:t>
            </a:r>
          </a:p>
        </p:txBody>
      </p:sp>
      <p:sp>
        <p:nvSpPr>
          <p:cNvPr id="15365" name="Rectangle 6"/>
          <p:cNvSpPr>
            <a:spLocks noChangeArrowheads="1"/>
          </p:cNvSpPr>
          <p:nvPr/>
        </p:nvSpPr>
        <p:spPr bwMode="auto">
          <a:xfrm>
            <a:off x="179388" y="5013325"/>
            <a:ext cx="2016125" cy="143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方法</a:t>
            </a:r>
          </a:p>
        </p:txBody>
      </p:sp>
      <p:sp>
        <p:nvSpPr>
          <p:cNvPr id="15366" name="Rectangle 7"/>
          <p:cNvSpPr>
            <a:spLocks noChangeArrowheads="1"/>
          </p:cNvSpPr>
          <p:nvPr/>
        </p:nvSpPr>
        <p:spPr bwMode="auto">
          <a:xfrm>
            <a:off x="2339975" y="1844675"/>
            <a:ext cx="2016125" cy="143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結果と考察１</a:t>
            </a:r>
          </a:p>
        </p:txBody>
      </p:sp>
      <p:sp>
        <p:nvSpPr>
          <p:cNvPr id="15367" name="Rectangle 8"/>
          <p:cNvSpPr>
            <a:spLocks noChangeArrowheads="1"/>
          </p:cNvSpPr>
          <p:nvPr/>
        </p:nvSpPr>
        <p:spPr bwMode="auto">
          <a:xfrm>
            <a:off x="2339975" y="3429000"/>
            <a:ext cx="2016125" cy="143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結果と考察２</a:t>
            </a:r>
          </a:p>
        </p:txBody>
      </p:sp>
      <p:sp>
        <p:nvSpPr>
          <p:cNvPr id="15368" name="Rectangle 9"/>
          <p:cNvSpPr>
            <a:spLocks noChangeArrowheads="1"/>
          </p:cNvSpPr>
          <p:nvPr/>
        </p:nvSpPr>
        <p:spPr bwMode="auto">
          <a:xfrm>
            <a:off x="2339975" y="5013325"/>
            <a:ext cx="2016125" cy="14398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まとめ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180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今後の課題</a:t>
            </a:r>
          </a:p>
        </p:txBody>
      </p:sp>
      <p:sp>
        <p:nvSpPr>
          <p:cNvPr id="15369" name="Rectangle 10"/>
          <p:cNvSpPr>
            <a:spLocks noChangeArrowheads="1"/>
          </p:cNvSpPr>
          <p:nvPr/>
        </p:nvSpPr>
        <p:spPr bwMode="auto">
          <a:xfrm>
            <a:off x="107950" y="1700213"/>
            <a:ext cx="4319588" cy="482441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1800"/>
          </a:p>
        </p:txBody>
      </p:sp>
      <p:sp>
        <p:nvSpPr>
          <p:cNvPr id="81932" name="Rectangle 12"/>
          <p:cNvSpPr>
            <a:spLocks noChangeArrowheads="1"/>
          </p:cNvSpPr>
          <p:nvPr/>
        </p:nvSpPr>
        <p:spPr bwMode="auto">
          <a:xfrm>
            <a:off x="2339975" y="5013325"/>
            <a:ext cx="2016125" cy="1439863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2800" b="1">
                <a:solidFill>
                  <a:schemeClr val="bg1"/>
                </a:solidFill>
              </a:rPr>
              <a:t>まとめ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180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solidFill>
                  <a:schemeClr val="tx2"/>
                </a:solidFill>
              </a:rPr>
              <a:t>今後の課題</a:t>
            </a:r>
          </a:p>
        </p:txBody>
      </p:sp>
      <p:sp>
        <p:nvSpPr>
          <p:cNvPr id="81933" name="Rectangle 13"/>
          <p:cNvSpPr>
            <a:spLocks noChangeArrowheads="1"/>
          </p:cNvSpPr>
          <p:nvPr/>
        </p:nvSpPr>
        <p:spPr bwMode="auto">
          <a:xfrm>
            <a:off x="2339975" y="5013325"/>
            <a:ext cx="2016125" cy="1439863"/>
          </a:xfrm>
          <a:prstGeom prst="rect">
            <a:avLst/>
          </a:prstGeom>
          <a:solidFill>
            <a:srgbClr val="0066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/>
              <a:t>まとめ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20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2800">
                <a:solidFill>
                  <a:schemeClr val="bg1"/>
                </a:solidFill>
              </a:rPr>
              <a:t>今後の課題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32" grpId="0" animBg="1"/>
      <p:bldP spid="81932" grpId="1" animBg="1"/>
      <p:bldP spid="819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 descr="ブーケ"/>
          <p:cNvSpPr>
            <a:spLocks noGrp="1" noChangeArrowheads="1"/>
          </p:cNvSpPr>
          <p:nvPr>
            <p:ph type="ctrTitle"/>
          </p:nvPr>
        </p:nvSpPr>
        <p:spPr>
          <a:xfrm>
            <a:off x="179388" y="1881188"/>
            <a:ext cx="8785225" cy="2195512"/>
          </a:xfrm>
          <a:blipFill dpi="0" rotWithShape="1">
            <a:blip r:embed="rId2"/>
            <a:srcRect/>
            <a:tile tx="0" ty="0" sx="100000" sy="100000" flip="none" algn="tl"/>
          </a:blipFill>
          <a:ln w="57150">
            <a:solidFill>
              <a:srgbClr val="FAF3EA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05000"/>
              </a:lnSpc>
            </a:pPr>
            <a:r>
              <a:rPr lang="ja-JP" altLang="en-US" b="1">
                <a:solidFill>
                  <a:srgbClr val="000000"/>
                </a:solidFill>
                <a:latin typeface="ＭＳ Ｐゴシック" panose="020B0600070205080204" pitchFamily="50" charset="-128"/>
              </a:rPr>
              <a:t>大学生の犯罪被害内容と</a:t>
            </a:r>
            <a:br>
              <a:rPr lang="ja-JP" altLang="en-US" b="1">
                <a:solidFill>
                  <a:srgbClr val="000000"/>
                </a:solidFill>
                <a:latin typeface="ＭＳ Ｐゴシック" panose="020B0600070205080204" pitchFamily="50" charset="-128"/>
              </a:rPr>
            </a:br>
            <a:r>
              <a:rPr lang="ja-JP" altLang="en-US" b="1">
                <a:solidFill>
                  <a:srgbClr val="000000"/>
                </a:solidFill>
                <a:latin typeface="ＭＳ Ｐゴシック" panose="020B0600070205080204" pitchFamily="50" charset="-128"/>
              </a:rPr>
              <a:t>被害届提出に影響を及ぼす要因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27313" y="4581525"/>
            <a:ext cx="5761037" cy="1584325"/>
          </a:xfrm>
        </p:spPr>
        <p:txBody>
          <a:bodyPr/>
          <a:lstStyle/>
          <a:p>
            <a:pPr algn="l"/>
            <a:r>
              <a:rPr lang="ja-JP" altLang="en-US" sz="2800">
                <a:solidFill>
                  <a:srgbClr val="000000"/>
                </a:solidFill>
                <a:latin typeface="ＭＳ Ｐゴシック" panose="020B0600070205080204" pitchFamily="50" charset="-128"/>
              </a:rPr>
              <a:t>所　　　属：社会工学類</a:t>
            </a:r>
          </a:p>
          <a:p>
            <a:pPr algn="l"/>
            <a:r>
              <a:rPr lang="ja-JP" altLang="en-US" sz="2800">
                <a:solidFill>
                  <a:srgbClr val="000000"/>
                </a:solidFill>
                <a:latin typeface="ＭＳ Ｐゴシック" panose="020B0600070205080204" pitchFamily="50" charset="-128"/>
              </a:rPr>
              <a:t>学籍番号：</a:t>
            </a:r>
            <a:r>
              <a:rPr lang="en-US" altLang="ja-JP" sz="2800">
                <a:solidFill>
                  <a:srgbClr val="000000"/>
                </a:solidFill>
                <a:latin typeface="ＭＳ Ｐゴシック" panose="020B0600070205080204" pitchFamily="50" charset="-128"/>
              </a:rPr>
              <a:t>XXXXXXXX</a:t>
            </a:r>
          </a:p>
          <a:p>
            <a:pPr algn="l"/>
            <a:r>
              <a:rPr lang="ja-JP" altLang="en-US" sz="2800">
                <a:solidFill>
                  <a:srgbClr val="000000"/>
                </a:solidFill>
                <a:latin typeface="ＭＳ Ｐゴシック" panose="020B0600070205080204" pitchFamily="50" charset="-128"/>
              </a:rPr>
              <a:t>氏　　　名：上市秀雄</a:t>
            </a:r>
            <a:r>
              <a:rPr lang="en-US" altLang="ja-JP" sz="2800">
                <a:solidFill>
                  <a:srgbClr val="000000"/>
                </a:solidFill>
                <a:latin typeface="ＭＳ Ｐゴシック" panose="020B0600070205080204" pitchFamily="50" charset="-128"/>
              </a:rPr>
              <a:t>(Ueichi Hideo)</a:t>
            </a:r>
          </a:p>
        </p:txBody>
      </p:sp>
      <p:sp>
        <p:nvSpPr>
          <p:cNvPr id="16388" name="Text Box 8"/>
          <p:cNvSpPr txBox="1">
            <a:spLocks noChangeArrowheads="1"/>
          </p:cNvSpPr>
          <p:nvPr/>
        </p:nvSpPr>
        <p:spPr bwMode="auto">
          <a:xfrm>
            <a:off x="323850" y="258763"/>
            <a:ext cx="2352675" cy="61753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/>
              <a:t>スライドの例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AB5348-379D-4275-AEBF-E8D91D0569F3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ja-JP" sz="1400"/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" y="1160463"/>
            <a:ext cx="8928100" cy="2413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75000"/>
              </a:lnSpc>
              <a:spcBef>
                <a:spcPct val="50000"/>
              </a:spcBef>
            </a:pPr>
            <a:r>
              <a:rPr lang="ja-JP" altLang="en-US">
                <a:solidFill>
                  <a:srgbClr val="0000FF"/>
                </a:solidFill>
                <a:latin typeface="ＭＳ Ｐゴシック" panose="020B0600070205080204" pitchFamily="50" charset="-128"/>
              </a:rPr>
              <a:t>日本の犯罪情勢</a:t>
            </a:r>
            <a:r>
              <a:rPr lang="ja-JP" altLang="en-US" sz="2400">
                <a:solidFill>
                  <a:srgbClr val="000000"/>
                </a:solidFill>
                <a:latin typeface="ＭＳ Ｐゴシック" panose="020B0600070205080204" pitchFamily="50" charset="-128"/>
              </a:rPr>
              <a:t>（法務省法務総合研究所</a:t>
            </a:r>
            <a:r>
              <a:rPr lang="en-US" altLang="ja-JP" sz="2400">
                <a:solidFill>
                  <a:srgbClr val="000000"/>
                </a:solidFill>
                <a:latin typeface="ＭＳ Ｐゴシック" panose="020B0600070205080204" pitchFamily="50" charset="-128"/>
              </a:rPr>
              <a:t>, 2006</a:t>
            </a:r>
            <a:r>
              <a:rPr lang="ja-JP" altLang="en-US" sz="2400">
                <a:solidFill>
                  <a:srgbClr val="000000"/>
                </a:solidFill>
                <a:latin typeface="ＭＳ Ｐゴシック" panose="020B0600070205080204" pitchFamily="50" charset="-128"/>
              </a:rPr>
              <a:t>）</a:t>
            </a:r>
          </a:p>
          <a:p>
            <a:pPr lvl="1">
              <a:lnSpc>
                <a:spcPct val="75000"/>
              </a:lnSpc>
              <a:spcBef>
                <a:spcPct val="50000"/>
              </a:spcBef>
            </a:pPr>
            <a:r>
              <a:rPr lang="ja-JP" altLang="en-US">
                <a:solidFill>
                  <a:srgbClr val="000000"/>
                </a:solidFill>
                <a:latin typeface="ＭＳ Ｐゴシック" panose="020B0600070205080204" pitchFamily="50" charset="-128"/>
              </a:rPr>
              <a:t>平成</a:t>
            </a:r>
            <a:r>
              <a:rPr lang="en-US" altLang="ja-JP">
                <a:solidFill>
                  <a:srgbClr val="000000"/>
                </a:solidFill>
                <a:latin typeface="ＭＳ Ｐゴシック" panose="020B0600070205080204" pitchFamily="50" charset="-128"/>
              </a:rPr>
              <a:t>17</a:t>
            </a:r>
            <a:r>
              <a:rPr lang="ja-JP" altLang="en-US">
                <a:solidFill>
                  <a:srgbClr val="000000"/>
                </a:solidFill>
                <a:latin typeface="ＭＳ Ｐゴシック" panose="020B0600070205080204" pitchFamily="50" charset="-128"/>
              </a:rPr>
              <a:t>年度刑法犯認知件数：</a:t>
            </a:r>
            <a:r>
              <a:rPr lang="en-US" altLang="ja-JP">
                <a:solidFill>
                  <a:srgbClr val="000000"/>
                </a:solidFill>
                <a:latin typeface="ＭＳ Ｐゴシック" panose="020B0600070205080204" pitchFamily="50" charset="-128"/>
              </a:rPr>
              <a:t>3,125,216</a:t>
            </a:r>
            <a:r>
              <a:rPr lang="ja-JP" altLang="en-US">
                <a:solidFill>
                  <a:srgbClr val="000000"/>
                </a:solidFill>
                <a:latin typeface="ＭＳ Ｐゴシック" panose="020B0600070205080204" pitchFamily="50" charset="-128"/>
              </a:rPr>
              <a:t>件</a:t>
            </a:r>
          </a:p>
          <a:p>
            <a:pPr lvl="1">
              <a:lnSpc>
                <a:spcPct val="75000"/>
              </a:lnSpc>
              <a:spcBef>
                <a:spcPct val="50000"/>
              </a:spcBef>
            </a:pPr>
            <a:r>
              <a:rPr lang="ja-JP" altLang="en-US">
                <a:solidFill>
                  <a:srgbClr val="0000FF"/>
                </a:solidFill>
                <a:latin typeface="ＭＳ Ｐゴシック" panose="020B0600070205080204" pitchFamily="50" charset="-128"/>
              </a:rPr>
              <a:t>犯罪被害にあう確率：年間約</a:t>
            </a:r>
            <a:r>
              <a:rPr lang="en-US" altLang="ja-JP">
                <a:solidFill>
                  <a:srgbClr val="0000FF"/>
                </a:solidFill>
                <a:latin typeface="ＭＳ Ｐゴシック" panose="020B0600070205080204" pitchFamily="50" charset="-128"/>
              </a:rPr>
              <a:t>40</a:t>
            </a:r>
            <a:r>
              <a:rPr lang="ja-JP" altLang="en-US">
                <a:solidFill>
                  <a:srgbClr val="0000FF"/>
                </a:solidFill>
                <a:latin typeface="ＭＳ Ｐゴシック" panose="020B0600070205080204" pitchFamily="50" charset="-128"/>
              </a:rPr>
              <a:t>人に</a:t>
            </a:r>
            <a:r>
              <a:rPr lang="en-US" altLang="ja-JP">
                <a:solidFill>
                  <a:srgbClr val="0000FF"/>
                </a:solidFill>
                <a:latin typeface="ＭＳ Ｐゴシック" panose="020B0600070205080204" pitchFamily="50" charset="-128"/>
              </a:rPr>
              <a:t>1</a:t>
            </a:r>
            <a:r>
              <a:rPr lang="ja-JP" altLang="en-US">
                <a:solidFill>
                  <a:srgbClr val="0000FF"/>
                </a:solidFill>
                <a:latin typeface="ＭＳ Ｐゴシック" panose="020B0600070205080204" pitchFamily="50" charset="-128"/>
              </a:rPr>
              <a:t>人と高い傾向</a:t>
            </a:r>
          </a:p>
          <a:p>
            <a:pPr lvl="1">
              <a:lnSpc>
                <a:spcPct val="75000"/>
              </a:lnSpc>
              <a:spcBef>
                <a:spcPct val="50000"/>
              </a:spcBef>
            </a:pPr>
            <a:r>
              <a:rPr lang="ja-JP" altLang="en-US">
                <a:solidFill>
                  <a:srgbClr val="FF0000"/>
                </a:solidFill>
                <a:latin typeface="ＭＳ Ｐゴシック" panose="020B0600070205080204" pitchFamily="50" charset="-128"/>
              </a:rPr>
              <a:t>しかしながら，犯罪被害にあっても</a:t>
            </a:r>
            <a:br>
              <a:rPr lang="ja-JP" altLang="en-US">
                <a:solidFill>
                  <a:srgbClr val="FF0000"/>
                </a:solidFill>
                <a:latin typeface="ＭＳ Ｐゴシック" panose="020B0600070205080204" pitchFamily="50" charset="-128"/>
              </a:rPr>
            </a:br>
            <a:r>
              <a:rPr lang="ja-JP" altLang="en-US">
                <a:solidFill>
                  <a:srgbClr val="FF0000"/>
                </a:solidFill>
                <a:latin typeface="ＭＳ Ｐゴシック" panose="020B0600070205080204" pitchFamily="50" charset="-128"/>
              </a:rPr>
              <a:t>被害届を出す人と出さない人がいる</a:t>
            </a:r>
            <a:endParaRPr lang="ja-JP" altLang="en-US" sz="2400">
              <a:solidFill>
                <a:srgbClr val="000000"/>
              </a:solidFill>
              <a:latin typeface="ＭＳ Ｐゴシック" panose="020B0600070205080204" pitchFamily="50" charset="-128"/>
            </a:endParaRPr>
          </a:p>
        </p:txBody>
      </p:sp>
      <p:sp>
        <p:nvSpPr>
          <p:cNvPr id="142344" name="Rectangle 8" descr="ブーケ"/>
          <p:cNvSpPr>
            <a:spLocks noChangeArrowheads="1"/>
          </p:cNvSpPr>
          <p:nvPr/>
        </p:nvSpPr>
        <p:spPr bwMode="auto">
          <a:xfrm>
            <a:off x="687388" y="188913"/>
            <a:ext cx="7772400" cy="863600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 w="38100">
            <a:solidFill>
              <a:srgbClr val="FAF3E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n-US" sz="4400" b="1">
                <a:solidFill>
                  <a:srgbClr val="000000"/>
                </a:solidFill>
                <a:latin typeface="Times New Roman" panose="02020603050405020304" pitchFamily="18" charset="0"/>
              </a:rPr>
              <a:t>背景</a:t>
            </a:r>
          </a:p>
        </p:txBody>
      </p:sp>
      <p:sp>
        <p:nvSpPr>
          <p:cNvPr id="142346" name="Rectangle 10"/>
          <p:cNvSpPr>
            <a:spLocks noChangeArrowheads="1"/>
          </p:cNvSpPr>
          <p:nvPr/>
        </p:nvSpPr>
        <p:spPr bwMode="auto">
          <a:xfrm>
            <a:off x="142875" y="4905375"/>
            <a:ext cx="8928100" cy="16922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tx2"/>
              </a:buClr>
              <a:buSzPct val="60000"/>
              <a:buFontTx/>
              <a:buBlip>
                <a:blip r:embed="rId5"/>
              </a:buBlip>
            </a:pPr>
            <a:r>
              <a:rPr lang="ja-JP" altLang="en-US" sz="2800" dirty="0">
                <a:solidFill>
                  <a:srgbClr val="0000FF"/>
                </a:solidFill>
                <a:latin typeface="ＭＳ Ｐゴシック" panose="020B0600070205080204" pitchFamily="50" charset="-128"/>
              </a:rPr>
              <a:t>当該分野の代表的な研究</a:t>
            </a:r>
            <a:endParaRPr lang="en-US" altLang="ja-JP" sz="2800" dirty="0">
              <a:solidFill>
                <a:srgbClr val="0000FF"/>
              </a:solidFill>
              <a:latin typeface="ＭＳ Ｐゴシック" panose="020B0600070205080204" pitchFamily="50" charset="-128"/>
            </a:endParaRP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SzPct val="60000"/>
              <a:buFontTx/>
              <a:buBlip>
                <a:blip r:embed="rId5"/>
              </a:buBlip>
            </a:pPr>
            <a:r>
              <a:rPr lang="ja-JP" altLang="en-US" sz="2800" dirty="0">
                <a:solidFill>
                  <a:srgbClr val="0000FF"/>
                </a:solidFill>
                <a:latin typeface="ＭＳ Ｐゴシック" panose="020B0600070205080204" pitchFamily="50" charset="-128"/>
              </a:rPr>
              <a:t>最新の研究（英語がよい）</a:t>
            </a:r>
            <a:endParaRPr lang="en-US" altLang="ja-JP" sz="2800" dirty="0">
              <a:solidFill>
                <a:srgbClr val="0000FF"/>
              </a:solidFill>
              <a:latin typeface="ＭＳ Ｐゴシック" panose="020B0600070205080204" pitchFamily="50" charset="-128"/>
            </a:endParaRP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SzPct val="60000"/>
              <a:buFontTx/>
              <a:buBlip>
                <a:blip r:embed="rId5"/>
              </a:buBlip>
            </a:pPr>
            <a:r>
              <a:rPr lang="ja-JP" altLang="en-US" sz="2800" dirty="0">
                <a:solidFill>
                  <a:srgbClr val="0000FF"/>
                </a:solidFill>
                <a:latin typeface="ＭＳ Ｐゴシック" panose="020B0600070205080204" pitchFamily="50" charset="-128"/>
              </a:rPr>
              <a:t>その他，重要な研究などを引用するとよい</a:t>
            </a:r>
            <a:endParaRPr lang="en-US" altLang="ja-JP" sz="2800" dirty="0">
              <a:solidFill>
                <a:srgbClr val="0000FF"/>
              </a:solidFill>
              <a:latin typeface="ＭＳ Ｐゴシック" panose="020B0600070205080204" pitchFamily="50" charset="-128"/>
            </a:endParaRPr>
          </a:p>
        </p:txBody>
      </p:sp>
      <p:sp>
        <p:nvSpPr>
          <p:cNvPr id="142347" name="Rectangle 11" descr="ブーケ"/>
          <p:cNvSpPr>
            <a:spLocks noChangeArrowheads="1"/>
          </p:cNvSpPr>
          <p:nvPr/>
        </p:nvSpPr>
        <p:spPr bwMode="auto">
          <a:xfrm>
            <a:off x="722313" y="3789363"/>
            <a:ext cx="7772400" cy="863600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 w="38100">
            <a:solidFill>
              <a:srgbClr val="FAF3E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n-US" sz="4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先行研究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44314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 build="p" bldLvl="5" animBg="1"/>
      <p:bldP spid="142344" grpId="0" animBg="1"/>
      <p:bldP spid="142346" grpId="0" build="p" animBg="1"/>
      <p:bldP spid="14234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AB5348-379D-4275-AEBF-E8D91D0569F3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ja-JP" sz="1400"/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" y="1268759"/>
            <a:ext cx="8928100" cy="2304703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2"/>
              </a:buClr>
              <a:buSzPct val="60000"/>
              <a:buFontTx/>
              <a:buBlip>
                <a:blip r:embed="rId4"/>
              </a:buBlip>
            </a:pPr>
            <a:r>
              <a:rPr lang="ja-JP" altLang="en-US" dirty="0">
                <a:solidFill>
                  <a:srgbClr val="0000FF"/>
                </a:solidFill>
                <a:latin typeface="ＭＳ Ｐゴシック" panose="020B0600070205080204" pitchFamily="50" charset="-128"/>
              </a:rPr>
              <a:t>先行研究の足りない部分を指摘する</a:t>
            </a:r>
            <a:endParaRPr lang="en-US" altLang="ja-JP" dirty="0">
              <a:solidFill>
                <a:srgbClr val="0000FF"/>
              </a:solidFill>
              <a:latin typeface="ＭＳ Ｐゴシック" panose="020B0600070205080204" pitchFamily="50" charset="-128"/>
            </a:endParaRPr>
          </a:p>
          <a:p>
            <a:pPr lvl="1" eaLnBrk="1" hangingPunct="1">
              <a:lnSpc>
                <a:spcPct val="90000"/>
              </a:lnSpc>
              <a:buClr>
                <a:schemeClr val="tx2"/>
              </a:buClr>
              <a:buSzPct val="60000"/>
              <a:buFontTx/>
              <a:buBlip>
                <a:blip r:embed="rId4"/>
              </a:buBlip>
            </a:pPr>
            <a:r>
              <a:rPr lang="ja-JP" altLang="en-US" dirty="0">
                <a:latin typeface="ＭＳ Ｐゴシック" panose="020B0600070205080204" pitchFamily="50" charset="-128"/>
              </a:rPr>
              <a:t>〇〇の影響を考慮していない</a:t>
            </a:r>
            <a:endParaRPr lang="en-US" altLang="ja-JP" dirty="0">
              <a:latin typeface="ＭＳ Ｐゴシック" panose="020B0600070205080204" pitchFamily="50" charset="-128"/>
            </a:endParaRPr>
          </a:p>
          <a:p>
            <a:pPr lvl="1" eaLnBrk="1" hangingPunct="1">
              <a:lnSpc>
                <a:spcPct val="90000"/>
              </a:lnSpc>
              <a:buClr>
                <a:schemeClr val="tx2"/>
              </a:buClr>
              <a:buSzPct val="60000"/>
              <a:buFontTx/>
              <a:buBlip>
                <a:blip r:embed="rId4"/>
              </a:buBlip>
            </a:pPr>
            <a:r>
              <a:rPr lang="ja-JP" altLang="en-US" dirty="0">
                <a:latin typeface="ＭＳ Ｐゴシック" panose="020B0600070205080204" pitchFamily="50" charset="-128"/>
              </a:rPr>
              <a:t>実験的手法で明らかにしていない</a:t>
            </a:r>
            <a:endParaRPr lang="en-US" altLang="ja-JP" dirty="0">
              <a:latin typeface="ＭＳ Ｐゴシック" panose="020B0600070205080204" pitchFamily="50" charset="-128"/>
            </a:endParaRP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SzPct val="60000"/>
              <a:buFontTx/>
              <a:buBlip>
                <a:blip r:embed="rId4"/>
              </a:buBlip>
            </a:pPr>
            <a:r>
              <a:rPr lang="ja-JP" altLang="en-US" dirty="0">
                <a:solidFill>
                  <a:srgbClr val="FF0000"/>
                </a:solidFill>
                <a:latin typeface="ＭＳ Ｐゴシック" panose="020B0600070205080204" pitchFamily="50" charset="-128"/>
              </a:rPr>
              <a:t>自分の研究目的につながるようにすること</a:t>
            </a:r>
          </a:p>
        </p:txBody>
      </p:sp>
      <p:sp>
        <p:nvSpPr>
          <p:cNvPr id="142344" name="Rectangle 8" descr="ブーケ"/>
          <p:cNvSpPr>
            <a:spLocks noChangeArrowheads="1"/>
          </p:cNvSpPr>
          <p:nvPr/>
        </p:nvSpPr>
        <p:spPr bwMode="auto">
          <a:xfrm>
            <a:off x="687388" y="188913"/>
            <a:ext cx="7772400" cy="863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38100">
            <a:solidFill>
              <a:srgbClr val="FAF3E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n-US" sz="4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先行研究の問題点</a:t>
            </a:r>
          </a:p>
        </p:txBody>
      </p:sp>
      <p:sp>
        <p:nvSpPr>
          <p:cNvPr id="142346" name="Rectangle 10"/>
          <p:cNvSpPr>
            <a:spLocks noChangeArrowheads="1"/>
          </p:cNvSpPr>
          <p:nvPr/>
        </p:nvSpPr>
        <p:spPr bwMode="auto">
          <a:xfrm>
            <a:off x="142875" y="4905375"/>
            <a:ext cx="8928100" cy="16922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tx2"/>
              </a:buClr>
              <a:buSzPct val="60000"/>
              <a:buFontTx/>
              <a:buBlip>
                <a:blip r:embed="rId4"/>
              </a:buBlip>
            </a:pPr>
            <a:r>
              <a:rPr lang="ja-JP" altLang="en-US" sz="2800" dirty="0">
                <a:solidFill>
                  <a:srgbClr val="FF0000"/>
                </a:solidFill>
                <a:latin typeface="ＭＳ Ｐゴシック" panose="020B0600070205080204" pitchFamily="50" charset="-128"/>
              </a:rPr>
              <a:t>１：大学生が実際に経験し，最もショックを受けた</a:t>
            </a:r>
            <a:br>
              <a:rPr lang="ja-JP" altLang="en-US" sz="2800" dirty="0">
                <a:solidFill>
                  <a:srgbClr val="FF0000"/>
                </a:solidFill>
                <a:latin typeface="ＭＳ Ｐゴシック" panose="020B0600070205080204" pitchFamily="50" charset="-128"/>
              </a:rPr>
            </a:br>
            <a:r>
              <a:rPr lang="ja-JP" altLang="en-US" sz="2800" dirty="0">
                <a:solidFill>
                  <a:srgbClr val="FF0000"/>
                </a:solidFill>
                <a:latin typeface="ＭＳ Ｐゴシック" panose="020B0600070205080204" pitchFamily="50" charset="-128"/>
              </a:rPr>
              <a:t>　　犯罪被害内容を明らかにした上で，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SzPct val="60000"/>
              <a:buFontTx/>
              <a:buBlip>
                <a:blip r:embed="rId4"/>
              </a:buBlip>
            </a:pPr>
            <a:r>
              <a:rPr lang="ja-JP" altLang="en-US" sz="2800" dirty="0">
                <a:solidFill>
                  <a:srgbClr val="FF0000"/>
                </a:solidFill>
                <a:latin typeface="ＭＳ Ｐゴシック" panose="020B0600070205080204" pitchFamily="50" charset="-128"/>
              </a:rPr>
              <a:t>２：犯罪被害届をだすかださないかに</a:t>
            </a:r>
            <a:br>
              <a:rPr lang="ja-JP" altLang="en-US" sz="2800" dirty="0">
                <a:solidFill>
                  <a:srgbClr val="FF0000"/>
                </a:solidFill>
                <a:latin typeface="ＭＳ Ｐゴシック" panose="020B0600070205080204" pitchFamily="50" charset="-128"/>
              </a:rPr>
            </a:br>
            <a:r>
              <a:rPr lang="ja-JP" altLang="en-US" sz="2800" dirty="0">
                <a:solidFill>
                  <a:srgbClr val="FF0000"/>
                </a:solidFill>
                <a:latin typeface="ＭＳ Ｐゴシック" panose="020B0600070205080204" pitchFamily="50" charset="-128"/>
              </a:rPr>
              <a:t>　　影響を及ぼす要因を明らかにする</a:t>
            </a:r>
          </a:p>
        </p:txBody>
      </p:sp>
      <p:sp>
        <p:nvSpPr>
          <p:cNvPr id="142347" name="Rectangle 11" descr="ブーケ"/>
          <p:cNvSpPr>
            <a:spLocks noChangeArrowheads="1"/>
          </p:cNvSpPr>
          <p:nvPr/>
        </p:nvSpPr>
        <p:spPr bwMode="auto">
          <a:xfrm>
            <a:off x="722313" y="3789363"/>
            <a:ext cx="7772400" cy="863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38100">
            <a:solidFill>
              <a:srgbClr val="FAF3E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n-US" sz="4400" b="1">
                <a:solidFill>
                  <a:srgbClr val="000000"/>
                </a:solidFill>
                <a:latin typeface="Times New Roman" panose="02020603050405020304" pitchFamily="18" charset="0"/>
              </a:rPr>
              <a:t>目的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56653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9" grpId="0" build="p" bldLvl="5" animBg="1"/>
      <p:bldP spid="142344" grpId="0" animBg="1"/>
      <p:bldP spid="142346" grpId="0" build="p" animBg="1"/>
      <p:bldP spid="14234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E9519C-6243-48CE-AA38-ABC89BC2FB12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ja-JP" sz="1400"/>
          </a:p>
        </p:txBody>
      </p:sp>
      <p:sp>
        <p:nvSpPr>
          <p:cNvPr id="199682" name="Rectangle 2"/>
          <p:cNvSpPr>
            <a:spLocks noChangeArrowheads="1"/>
          </p:cNvSpPr>
          <p:nvPr/>
        </p:nvSpPr>
        <p:spPr bwMode="auto">
          <a:xfrm>
            <a:off x="107950" y="1233488"/>
            <a:ext cx="8928100" cy="10429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tx2"/>
              </a:buClr>
              <a:buSzPct val="60000"/>
              <a:buFontTx/>
              <a:buBlip>
                <a:blip r:embed="rId4"/>
              </a:buBlip>
            </a:pPr>
            <a:r>
              <a:rPr lang="ja-JP" altLang="en-US" sz="2800">
                <a:solidFill>
                  <a:srgbClr val="0000FF"/>
                </a:solidFill>
                <a:latin typeface="ＭＳ Ｐゴシック" panose="020B0600070205080204" pitchFamily="50" charset="-128"/>
              </a:rPr>
              <a:t>調査対象</a:t>
            </a:r>
            <a:r>
              <a:rPr lang="ja-JP" altLang="en-US" sz="2800">
                <a:solidFill>
                  <a:srgbClr val="000000"/>
                </a:solidFill>
                <a:latin typeface="ＭＳ Ｐゴシック" panose="020B0600070205080204" pitchFamily="50" charset="-128"/>
              </a:rPr>
              <a:t>：大学生</a:t>
            </a:r>
            <a:r>
              <a:rPr lang="en-US" altLang="ja-JP" sz="2800">
                <a:solidFill>
                  <a:srgbClr val="000000"/>
                </a:solidFill>
                <a:latin typeface="ＭＳ Ｐゴシック" panose="020B0600070205080204" pitchFamily="50" charset="-128"/>
              </a:rPr>
              <a:t>104</a:t>
            </a:r>
            <a:r>
              <a:rPr lang="ja-JP" altLang="en-US" sz="2800">
                <a:solidFill>
                  <a:srgbClr val="000000"/>
                </a:solidFill>
                <a:latin typeface="ＭＳ Ｐゴシック" panose="020B0600070205080204" pitchFamily="50" charset="-128"/>
              </a:rPr>
              <a:t>人（男性</a:t>
            </a:r>
            <a:r>
              <a:rPr lang="en-US" altLang="ja-JP" sz="2800">
                <a:solidFill>
                  <a:srgbClr val="000000"/>
                </a:solidFill>
                <a:latin typeface="ＭＳ Ｐゴシック" panose="020B0600070205080204" pitchFamily="50" charset="-128"/>
              </a:rPr>
              <a:t>54</a:t>
            </a:r>
            <a:r>
              <a:rPr lang="ja-JP" altLang="en-US" sz="2800">
                <a:solidFill>
                  <a:srgbClr val="000000"/>
                </a:solidFill>
                <a:latin typeface="ＭＳ Ｐゴシック" panose="020B0600070205080204" pitchFamily="50" charset="-128"/>
              </a:rPr>
              <a:t>人，女性</a:t>
            </a:r>
            <a:r>
              <a:rPr lang="en-US" altLang="ja-JP" sz="2800">
                <a:solidFill>
                  <a:srgbClr val="000000"/>
                </a:solidFill>
                <a:latin typeface="ＭＳ Ｐゴシック" panose="020B0600070205080204" pitchFamily="50" charset="-128"/>
              </a:rPr>
              <a:t>50</a:t>
            </a:r>
            <a:r>
              <a:rPr lang="ja-JP" altLang="en-US" sz="2800">
                <a:solidFill>
                  <a:srgbClr val="000000"/>
                </a:solidFill>
                <a:latin typeface="ＭＳ Ｐゴシック" panose="020B0600070205080204" pitchFamily="50" charset="-128"/>
              </a:rPr>
              <a:t>人）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SzPct val="60000"/>
              <a:buFontTx/>
              <a:buBlip>
                <a:blip r:embed="rId4"/>
              </a:buBlip>
            </a:pPr>
            <a:r>
              <a:rPr lang="ja-JP" altLang="en-US" sz="2800">
                <a:solidFill>
                  <a:srgbClr val="0000FF"/>
                </a:solidFill>
                <a:latin typeface="ＭＳ Ｐゴシック" panose="020B0600070205080204" pitchFamily="50" charset="-128"/>
              </a:rPr>
              <a:t>調査時期</a:t>
            </a:r>
            <a:r>
              <a:rPr lang="ja-JP" altLang="en-US" sz="2800">
                <a:solidFill>
                  <a:srgbClr val="000000"/>
                </a:solidFill>
                <a:latin typeface="ＭＳ Ｐゴシック" panose="020B0600070205080204" pitchFamily="50" charset="-128"/>
              </a:rPr>
              <a:t>：</a:t>
            </a:r>
            <a:r>
              <a:rPr lang="en-US" altLang="ja-JP" sz="2800">
                <a:solidFill>
                  <a:srgbClr val="000000"/>
                </a:solidFill>
                <a:latin typeface="ＭＳ Ｐゴシック" panose="020B0600070205080204" pitchFamily="50" charset="-128"/>
              </a:rPr>
              <a:t>2008</a:t>
            </a:r>
            <a:r>
              <a:rPr lang="ja-JP" altLang="en-US" sz="2800">
                <a:solidFill>
                  <a:srgbClr val="000000"/>
                </a:solidFill>
                <a:latin typeface="ＭＳ Ｐゴシック" panose="020B0600070205080204" pitchFamily="50" charset="-128"/>
              </a:rPr>
              <a:t>年</a:t>
            </a:r>
            <a:r>
              <a:rPr lang="en-US" altLang="ja-JP" sz="2800">
                <a:solidFill>
                  <a:srgbClr val="000000"/>
                </a:solidFill>
                <a:latin typeface="ＭＳ Ｐゴシック" panose="020B0600070205080204" pitchFamily="50" charset="-128"/>
              </a:rPr>
              <a:t>11</a:t>
            </a:r>
            <a:r>
              <a:rPr lang="ja-JP" altLang="en-US" sz="2800">
                <a:solidFill>
                  <a:srgbClr val="000000"/>
                </a:solidFill>
                <a:latin typeface="ＭＳ Ｐゴシック" panose="020B0600070205080204" pitchFamily="50" charset="-128"/>
              </a:rPr>
              <a:t>月に質問冊子を配布回収</a:t>
            </a:r>
          </a:p>
        </p:txBody>
      </p:sp>
      <p:sp>
        <p:nvSpPr>
          <p:cNvPr id="199683" name="Rectangle 3" descr="ブーケ"/>
          <p:cNvSpPr>
            <a:spLocks noChangeArrowheads="1"/>
          </p:cNvSpPr>
          <p:nvPr/>
        </p:nvSpPr>
        <p:spPr bwMode="auto">
          <a:xfrm>
            <a:off x="687388" y="188913"/>
            <a:ext cx="7772400" cy="863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38100">
            <a:solidFill>
              <a:srgbClr val="FAF3E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n-US" sz="4400" b="1">
                <a:solidFill>
                  <a:srgbClr val="000000"/>
                </a:solidFill>
                <a:latin typeface="Times New Roman" panose="02020603050405020304" pitchFamily="18" charset="0"/>
              </a:rPr>
              <a:t>方法</a:t>
            </a:r>
          </a:p>
        </p:txBody>
      </p:sp>
      <p:sp>
        <p:nvSpPr>
          <p:cNvPr id="199685" name="Rectangle 5" descr="ブーケ"/>
          <p:cNvSpPr>
            <a:spLocks noChangeArrowheads="1"/>
          </p:cNvSpPr>
          <p:nvPr/>
        </p:nvSpPr>
        <p:spPr bwMode="auto">
          <a:xfrm>
            <a:off x="687388" y="2457450"/>
            <a:ext cx="7772400" cy="86360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tl"/>
          </a:blipFill>
          <a:ln w="38100">
            <a:solidFill>
              <a:srgbClr val="FAF3E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n-US" sz="4400" b="1">
                <a:solidFill>
                  <a:srgbClr val="000000"/>
                </a:solidFill>
                <a:latin typeface="Times New Roman" panose="02020603050405020304" pitchFamily="18" charset="0"/>
              </a:rPr>
              <a:t>質問項目</a:t>
            </a:r>
          </a:p>
        </p:txBody>
      </p:sp>
      <p:sp>
        <p:nvSpPr>
          <p:cNvPr id="199686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107950" y="3465513"/>
            <a:ext cx="8928100" cy="3276600"/>
          </a:xfrm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lnSpc>
                <a:spcPct val="80000"/>
              </a:lnSpc>
              <a:tabLst>
                <a:tab pos="457200" algn="l"/>
              </a:tabLst>
            </a:pPr>
            <a:r>
              <a:rPr lang="ja-JP" altLang="en-US">
                <a:solidFill>
                  <a:srgbClr val="0000FF"/>
                </a:solidFill>
                <a:latin typeface="ＭＳ Ｐゴシック" panose="020B0600070205080204" pitchFamily="50" charset="-128"/>
              </a:rPr>
              <a:t>今までで最もショックだった犯罪被害の内容</a:t>
            </a:r>
          </a:p>
          <a:p>
            <a:pPr marL="800100" lvl="1">
              <a:lnSpc>
                <a:spcPct val="80000"/>
              </a:lnSpc>
              <a:tabLst>
                <a:tab pos="457200" algn="l"/>
              </a:tabLst>
            </a:pPr>
            <a:r>
              <a:rPr lang="ja-JP" altLang="en-US">
                <a:solidFill>
                  <a:srgbClr val="000000"/>
                </a:solidFill>
                <a:latin typeface="ＭＳ Ｐゴシック" panose="020B0600070205080204" pitchFamily="50" charset="-128"/>
              </a:rPr>
              <a:t>時期および被害内容（自由記述）</a:t>
            </a:r>
          </a:p>
          <a:p>
            <a:pPr marL="0" indent="0">
              <a:lnSpc>
                <a:spcPct val="80000"/>
              </a:lnSpc>
              <a:tabLst>
                <a:tab pos="457200" algn="l"/>
              </a:tabLst>
            </a:pPr>
            <a:r>
              <a:rPr lang="ja-JP" altLang="en-US">
                <a:solidFill>
                  <a:srgbClr val="0000FF"/>
                </a:solidFill>
                <a:latin typeface="ＭＳ Ｐゴシック" panose="020B0600070205080204" pitchFamily="50" charset="-128"/>
              </a:rPr>
              <a:t>警察への届出</a:t>
            </a:r>
          </a:p>
          <a:p>
            <a:pPr marL="800100" lvl="1">
              <a:lnSpc>
                <a:spcPct val="80000"/>
              </a:lnSpc>
              <a:tabLst>
                <a:tab pos="457200" algn="l"/>
              </a:tabLst>
            </a:pPr>
            <a:r>
              <a:rPr lang="ja-JP" altLang="en-US">
                <a:solidFill>
                  <a:srgbClr val="000000"/>
                </a:solidFill>
                <a:latin typeface="ＭＳ Ｐゴシック" panose="020B0600070205080204" pitchFamily="50" charset="-128"/>
              </a:rPr>
              <a:t>警察に被害届を出した </a:t>
            </a:r>
            <a:r>
              <a:rPr lang="en-US" altLang="ja-JP">
                <a:solidFill>
                  <a:srgbClr val="000000"/>
                </a:solidFill>
                <a:latin typeface="ＭＳ Ｐゴシック" panose="020B0600070205080204" pitchFamily="50" charset="-128"/>
              </a:rPr>
              <a:t>or </a:t>
            </a:r>
            <a:r>
              <a:rPr lang="ja-JP" altLang="en-US">
                <a:solidFill>
                  <a:srgbClr val="000000"/>
                </a:solidFill>
                <a:latin typeface="ＭＳ Ｐゴシック" panose="020B0600070205080204" pitchFamily="50" charset="-128"/>
              </a:rPr>
              <a:t>出さなかった）</a:t>
            </a:r>
          </a:p>
          <a:p>
            <a:pPr marL="0" indent="0">
              <a:lnSpc>
                <a:spcPct val="80000"/>
              </a:lnSpc>
              <a:tabLst>
                <a:tab pos="457200" algn="l"/>
              </a:tabLst>
            </a:pPr>
            <a:r>
              <a:rPr lang="ja-JP" altLang="en-US">
                <a:solidFill>
                  <a:srgbClr val="0000FF"/>
                </a:solidFill>
                <a:latin typeface="ＭＳ Ｐゴシック" panose="020B0600070205080204" pitchFamily="50" charset="-128"/>
              </a:rPr>
              <a:t>被害時周りの人にしてほしかったこと</a:t>
            </a:r>
            <a:r>
              <a:rPr lang="ja-JP" altLang="en-US" sz="2800">
                <a:solidFill>
                  <a:srgbClr val="000000"/>
                </a:solidFill>
                <a:latin typeface="ＭＳ Ｐゴシック" panose="020B0600070205080204" pitchFamily="50" charset="-128"/>
              </a:rPr>
              <a:t>（</a:t>
            </a:r>
            <a:r>
              <a:rPr lang="en-US" altLang="ja-JP" sz="2800">
                <a:solidFill>
                  <a:srgbClr val="000000"/>
                </a:solidFill>
                <a:latin typeface="ＭＳ Ｐゴシック" panose="020B0600070205080204" pitchFamily="50" charset="-128"/>
              </a:rPr>
              <a:t>5</a:t>
            </a:r>
            <a:r>
              <a:rPr lang="ja-JP" altLang="en-US" sz="2800">
                <a:solidFill>
                  <a:srgbClr val="000000"/>
                </a:solidFill>
                <a:latin typeface="ＭＳ Ｐゴシック" panose="020B0600070205080204" pitchFamily="50" charset="-128"/>
              </a:rPr>
              <a:t>段階評定）</a:t>
            </a:r>
          </a:p>
          <a:p>
            <a:pPr marL="800100" lvl="1">
              <a:lnSpc>
                <a:spcPct val="80000"/>
              </a:lnSpc>
              <a:tabLst>
                <a:tab pos="457200" algn="l"/>
              </a:tabLst>
            </a:pPr>
            <a:r>
              <a:rPr lang="ja-JP" altLang="en-US">
                <a:solidFill>
                  <a:srgbClr val="000000"/>
                </a:solidFill>
                <a:latin typeface="ＭＳ Ｐゴシック" panose="020B0600070205080204" pitchFamily="50" charset="-128"/>
              </a:rPr>
              <a:t>自分の気持ちを理解してほしかった</a:t>
            </a:r>
          </a:p>
          <a:p>
            <a:pPr marL="800100" lvl="1">
              <a:lnSpc>
                <a:spcPct val="80000"/>
              </a:lnSpc>
              <a:tabLst>
                <a:tab pos="457200" algn="l"/>
              </a:tabLst>
            </a:pPr>
            <a:r>
              <a:rPr lang="ja-JP" altLang="en-US">
                <a:solidFill>
                  <a:srgbClr val="000000"/>
                </a:solidFill>
                <a:latin typeface="ＭＳ Ｐゴシック" panose="020B0600070205080204" pitchFamily="50" charset="-128"/>
              </a:rPr>
              <a:t>同情して慰めてほしかった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2" grpId="0" build="p" animBg="1" autoUpdateAnimBg="0"/>
      <p:bldP spid="199683" grpId="0" animBg="1"/>
      <p:bldP spid="199685" grpId="0" animBg="1"/>
      <p:bldP spid="199686" grpId="0" build="p" bldLvl="5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DF81F4-9868-44F4-8CC2-20B4AC83B28D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ja-JP" sz="1400"/>
          </a:p>
        </p:txBody>
      </p:sp>
      <p:grpSp>
        <p:nvGrpSpPr>
          <p:cNvPr id="211058" name="Group 114"/>
          <p:cNvGrpSpPr>
            <a:grpSpLocks/>
          </p:cNvGrpSpPr>
          <p:nvPr/>
        </p:nvGrpSpPr>
        <p:grpSpPr bwMode="auto">
          <a:xfrm>
            <a:off x="107950" y="1377950"/>
            <a:ext cx="8928100" cy="4211638"/>
            <a:chOff x="68" y="868"/>
            <a:chExt cx="5624" cy="2653"/>
          </a:xfrm>
        </p:grpSpPr>
        <p:sp>
          <p:nvSpPr>
            <p:cNvPr id="21518" name="Rectangle 98"/>
            <p:cNvSpPr>
              <a:spLocks noChangeArrowheads="1"/>
            </p:cNvSpPr>
            <p:nvPr/>
          </p:nvSpPr>
          <p:spPr bwMode="auto">
            <a:xfrm>
              <a:off x="68" y="868"/>
              <a:ext cx="5624" cy="265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ja-JP" altLang="en-US" sz="1800"/>
            </a:p>
          </p:txBody>
        </p:sp>
        <p:sp>
          <p:nvSpPr>
            <p:cNvPr id="21519" name="Text Box 16"/>
            <p:cNvSpPr txBox="1">
              <a:spLocks noChangeArrowheads="1"/>
            </p:cNvSpPr>
            <p:nvPr/>
          </p:nvSpPr>
          <p:spPr bwMode="auto">
            <a:xfrm>
              <a:off x="712" y="3050"/>
              <a:ext cx="599" cy="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lnSpc>
                  <a:spcPct val="70000"/>
                </a:lnSpc>
                <a:buFontTx/>
                <a:buNone/>
              </a:pPr>
              <a:r>
                <a:rPr lang="ja-JP" altLang="en-US" sz="2400" b="1">
                  <a:solidFill>
                    <a:srgbClr val="000000"/>
                  </a:solidFill>
                </a:rPr>
                <a:t>泥棒</a:t>
              </a:r>
            </a:p>
            <a:p>
              <a:pPr eaLnBrk="1" hangingPunct="1">
                <a:lnSpc>
                  <a:spcPct val="70000"/>
                </a:lnSpc>
                <a:buFontTx/>
                <a:buNone/>
              </a:pPr>
              <a:r>
                <a:rPr lang="ja-JP" altLang="en-US" sz="2400" b="1">
                  <a:solidFill>
                    <a:srgbClr val="000000"/>
                  </a:solidFill>
                </a:rPr>
                <a:t>盗難</a:t>
              </a:r>
            </a:p>
          </p:txBody>
        </p:sp>
        <p:sp>
          <p:nvSpPr>
            <p:cNvPr id="21520" name="Text Box 17"/>
            <p:cNvSpPr txBox="1">
              <a:spLocks noChangeArrowheads="1"/>
            </p:cNvSpPr>
            <p:nvPr/>
          </p:nvSpPr>
          <p:spPr bwMode="auto">
            <a:xfrm>
              <a:off x="1218" y="3050"/>
              <a:ext cx="645" cy="2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ctr" eaLnBrk="1" hangingPunct="1">
                <a:lnSpc>
                  <a:spcPct val="70000"/>
                </a:lnSpc>
                <a:buFontTx/>
                <a:buNone/>
              </a:pPr>
              <a:r>
                <a:rPr lang="ja-JP" altLang="en-US" sz="2400" b="1">
                  <a:solidFill>
                    <a:srgbClr val="000000"/>
                  </a:solidFill>
                </a:rPr>
                <a:t>痴漢</a:t>
              </a:r>
            </a:p>
          </p:txBody>
        </p:sp>
        <p:sp>
          <p:nvSpPr>
            <p:cNvPr id="21521" name="Text Box 18"/>
            <p:cNvSpPr txBox="1">
              <a:spLocks noChangeArrowheads="1"/>
            </p:cNvSpPr>
            <p:nvPr/>
          </p:nvSpPr>
          <p:spPr bwMode="auto">
            <a:xfrm>
              <a:off x="1770" y="3050"/>
              <a:ext cx="645" cy="2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ctr" eaLnBrk="1" hangingPunct="1">
                <a:lnSpc>
                  <a:spcPct val="70000"/>
                </a:lnSpc>
                <a:buFontTx/>
                <a:buNone/>
              </a:pPr>
              <a:r>
                <a:rPr lang="ja-JP" altLang="en-US" sz="2400" b="1">
                  <a:solidFill>
                    <a:srgbClr val="000000"/>
                  </a:solidFill>
                </a:rPr>
                <a:t>恐喝</a:t>
              </a:r>
            </a:p>
          </p:txBody>
        </p:sp>
        <p:sp>
          <p:nvSpPr>
            <p:cNvPr id="21522" name="Text Box 19"/>
            <p:cNvSpPr txBox="1">
              <a:spLocks noChangeArrowheads="1"/>
            </p:cNvSpPr>
            <p:nvPr/>
          </p:nvSpPr>
          <p:spPr bwMode="auto">
            <a:xfrm>
              <a:off x="2277" y="3050"/>
              <a:ext cx="644" cy="2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ctr" eaLnBrk="1" hangingPunct="1">
                <a:lnSpc>
                  <a:spcPct val="70000"/>
                </a:lnSpc>
                <a:buFontTx/>
                <a:buNone/>
              </a:pPr>
              <a:r>
                <a:rPr lang="ja-JP" altLang="en-US" sz="2400" b="1">
                  <a:solidFill>
                    <a:srgbClr val="000000"/>
                  </a:solidFill>
                </a:rPr>
                <a:t>暴行</a:t>
              </a:r>
            </a:p>
          </p:txBody>
        </p:sp>
        <p:sp>
          <p:nvSpPr>
            <p:cNvPr id="21523" name="Text Box 20"/>
            <p:cNvSpPr txBox="1">
              <a:spLocks noChangeArrowheads="1"/>
            </p:cNvSpPr>
            <p:nvPr/>
          </p:nvSpPr>
          <p:spPr bwMode="auto">
            <a:xfrm>
              <a:off x="2829" y="3050"/>
              <a:ext cx="644" cy="2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ctr" eaLnBrk="1" hangingPunct="1">
                <a:lnSpc>
                  <a:spcPct val="70000"/>
                </a:lnSpc>
                <a:buFontTx/>
                <a:buNone/>
              </a:pPr>
              <a:r>
                <a:rPr lang="ja-JP" altLang="en-US" sz="2400" b="1">
                  <a:solidFill>
                    <a:srgbClr val="000000"/>
                  </a:solidFill>
                </a:rPr>
                <a:t>物損</a:t>
              </a:r>
            </a:p>
          </p:txBody>
        </p:sp>
        <p:sp>
          <p:nvSpPr>
            <p:cNvPr id="21524" name="Text Box 21"/>
            <p:cNvSpPr txBox="1">
              <a:spLocks noChangeArrowheads="1"/>
            </p:cNvSpPr>
            <p:nvPr/>
          </p:nvSpPr>
          <p:spPr bwMode="auto">
            <a:xfrm>
              <a:off x="3382" y="3050"/>
              <a:ext cx="599" cy="2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ctr" eaLnBrk="1" hangingPunct="1">
                <a:lnSpc>
                  <a:spcPct val="70000"/>
                </a:lnSpc>
                <a:buFontTx/>
                <a:buNone/>
              </a:pPr>
              <a:r>
                <a:rPr lang="ja-JP" altLang="en-US" sz="2400" b="1">
                  <a:solidFill>
                    <a:srgbClr val="000000"/>
                  </a:solidFill>
                </a:rPr>
                <a:t>詐欺</a:t>
              </a:r>
            </a:p>
          </p:txBody>
        </p:sp>
        <p:sp>
          <p:nvSpPr>
            <p:cNvPr id="21525" name="Text Box 22"/>
            <p:cNvSpPr txBox="1">
              <a:spLocks noChangeArrowheads="1"/>
            </p:cNvSpPr>
            <p:nvPr/>
          </p:nvSpPr>
          <p:spPr bwMode="auto">
            <a:xfrm>
              <a:off x="3888" y="3050"/>
              <a:ext cx="783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ctr" eaLnBrk="1" hangingPunct="1">
                <a:lnSpc>
                  <a:spcPct val="70000"/>
                </a:lnSpc>
                <a:buFontTx/>
                <a:buNone/>
              </a:pPr>
              <a:r>
                <a:rPr lang="ja-JP" altLang="en-US" sz="2000" b="1">
                  <a:solidFill>
                    <a:srgbClr val="000000"/>
                  </a:solidFill>
                </a:rPr>
                <a:t>精神的</a:t>
              </a:r>
            </a:p>
            <a:p>
              <a:pPr algn="ctr" eaLnBrk="1" hangingPunct="1">
                <a:lnSpc>
                  <a:spcPct val="70000"/>
                </a:lnSpc>
                <a:buFontTx/>
                <a:buNone/>
              </a:pPr>
              <a:r>
                <a:rPr lang="ja-JP" altLang="en-US" sz="2000" b="1">
                  <a:solidFill>
                    <a:srgbClr val="000000"/>
                  </a:solidFill>
                </a:rPr>
                <a:t>被害</a:t>
              </a:r>
            </a:p>
          </p:txBody>
        </p:sp>
        <p:sp>
          <p:nvSpPr>
            <p:cNvPr id="21526" name="Text Box 23"/>
            <p:cNvSpPr txBox="1">
              <a:spLocks noChangeArrowheads="1"/>
            </p:cNvSpPr>
            <p:nvPr/>
          </p:nvSpPr>
          <p:spPr bwMode="auto">
            <a:xfrm>
              <a:off x="4578" y="3050"/>
              <a:ext cx="599" cy="2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ctr" eaLnBrk="1" hangingPunct="1">
                <a:lnSpc>
                  <a:spcPct val="70000"/>
                </a:lnSpc>
                <a:buFontTx/>
                <a:buNone/>
              </a:pPr>
              <a:r>
                <a:rPr lang="ja-JP" altLang="en-US" sz="2400" b="1">
                  <a:solidFill>
                    <a:srgbClr val="000000"/>
                  </a:solidFill>
                </a:rPr>
                <a:t>事故</a:t>
              </a:r>
            </a:p>
          </p:txBody>
        </p:sp>
        <p:sp>
          <p:nvSpPr>
            <p:cNvPr id="21527" name="Rectangle 27"/>
            <p:cNvSpPr>
              <a:spLocks noChangeArrowheads="1"/>
            </p:cNvSpPr>
            <p:nvPr/>
          </p:nvSpPr>
          <p:spPr bwMode="auto">
            <a:xfrm>
              <a:off x="731" y="1005"/>
              <a:ext cx="4401" cy="19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ja-JP" altLang="en-US" sz="1800"/>
            </a:p>
          </p:txBody>
        </p:sp>
        <p:sp>
          <p:nvSpPr>
            <p:cNvPr id="21528" name="Rectangle 28"/>
            <p:cNvSpPr>
              <a:spLocks noChangeArrowheads="1"/>
            </p:cNvSpPr>
            <p:nvPr/>
          </p:nvSpPr>
          <p:spPr bwMode="auto">
            <a:xfrm>
              <a:off x="817" y="1106"/>
              <a:ext cx="188" cy="1894"/>
            </a:xfrm>
            <a:prstGeom prst="rect">
              <a:avLst/>
            </a:prstGeom>
            <a:solidFill>
              <a:srgbClr val="0000FF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ja-JP" altLang="en-US" sz="1800"/>
            </a:p>
          </p:txBody>
        </p:sp>
        <p:sp>
          <p:nvSpPr>
            <p:cNvPr id="21529" name="Rectangle 29"/>
            <p:cNvSpPr>
              <a:spLocks noChangeArrowheads="1"/>
            </p:cNvSpPr>
            <p:nvPr/>
          </p:nvSpPr>
          <p:spPr bwMode="auto">
            <a:xfrm>
              <a:off x="1915" y="2704"/>
              <a:ext cx="189" cy="296"/>
            </a:xfrm>
            <a:prstGeom prst="rect">
              <a:avLst/>
            </a:prstGeom>
            <a:solidFill>
              <a:srgbClr val="0000FF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ja-JP" altLang="en-US" sz="1800"/>
            </a:p>
          </p:txBody>
        </p:sp>
        <p:sp>
          <p:nvSpPr>
            <p:cNvPr id="21530" name="Rectangle 30"/>
            <p:cNvSpPr>
              <a:spLocks noChangeArrowheads="1"/>
            </p:cNvSpPr>
            <p:nvPr/>
          </p:nvSpPr>
          <p:spPr bwMode="auto">
            <a:xfrm>
              <a:off x="2464" y="2848"/>
              <a:ext cx="189" cy="152"/>
            </a:xfrm>
            <a:prstGeom prst="rect">
              <a:avLst/>
            </a:prstGeom>
            <a:solidFill>
              <a:srgbClr val="0000FF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ja-JP" altLang="en-US" sz="1800"/>
            </a:p>
          </p:txBody>
        </p:sp>
        <p:sp>
          <p:nvSpPr>
            <p:cNvPr id="21531" name="Rectangle 31"/>
            <p:cNvSpPr>
              <a:spLocks noChangeArrowheads="1"/>
            </p:cNvSpPr>
            <p:nvPr/>
          </p:nvSpPr>
          <p:spPr bwMode="auto">
            <a:xfrm>
              <a:off x="3022" y="2898"/>
              <a:ext cx="188" cy="102"/>
            </a:xfrm>
            <a:prstGeom prst="rect">
              <a:avLst/>
            </a:prstGeom>
            <a:solidFill>
              <a:srgbClr val="0000FF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ja-JP" altLang="en-US" sz="1800"/>
            </a:p>
          </p:txBody>
        </p:sp>
        <p:sp>
          <p:nvSpPr>
            <p:cNvPr id="21532" name="Rectangle 32"/>
            <p:cNvSpPr>
              <a:spLocks noChangeArrowheads="1"/>
            </p:cNvSpPr>
            <p:nvPr/>
          </p:nvSpPr>
          <p:spPr bwMode="auto">
            <a:xfrm>
              <a:off x="3571" y="2898"/>
              <a:ext cx="188" cy="102"/>
            </a:xfrm>
            <a:prstGeom prst="rect">
              <a:avLst/>
            </a:prstGeom>
            <a:solidFill>
              <a:srgbClr val="0000FF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ja-JP" altLang="en-US" sz="1800"/>
            </a:p>
          </p:txBody>
        </p:sp>
        <p:sp>
          <p:nvSpPr>
            <p:cNvPr id="21533" name="Rectangle 33"/>
            <p:cNvSpPr>
              <a:spLocks noChangeArrowheads="1"/>
            </p:cNvSpPr>
            <p:nvPr/>
          </p:nvSpPr>
          <p:spPr bwMode="auto">
            <a:xfrm>
              <a:off x="4120" y="2949"/>
              <a:ext cx="189" cy="51"/>
            </a:xfrm>
            <a:prstGeom prst="rect">
              <a:avLst/>
            </a:prstGeom>
            <a:solidFill>
              <a:srgbClr val="0000FF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ja-JP" altLang="en-US" sz="1800"/>
            </a:p>
          </p:txBody>
        </p:sp>
        <p:sp>
          <p:nvSpPr>
            <p:cNvPr id="21534" name="Rectangle 34"/>
            <p:cNvSpPr>
              <a:spLocks noChangeArrowheads="1"/>
            </p:cNvSpPr>
            <p:nvPr/>
          </p:nvSpPr>
          <p:spPr bwMode="auto">
            <a:xfrm>
              <a:off x="4669" y="2949"/>
              <a:ext cx="189" cy="51"/>
            </a:xfrm>
            <a:prstGeom prst="rect">
              <a:avLst/>
            </a:prstGeom>
            <a:solidFill>
              <a:srgbClr val="0000FF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ja-JP" altLang="en-US" sz="1800"/>
            </a:p>
          </p:txBody>
        </p:sp>
        <p:sp>
          <p:nvSpPr>
            <p:cNvPr id="21535" name="Rectangle 35"/>
            <p:cNvSpPr>
              <a:spLocks noChangeArrowheads="1"/>
            </p:cNvSpPr>
            <p:nvPr/>
          </p:nvSpPr>
          <p:spPr bwMode="auto">
            <a:xfrm>
              <a:off x="1005" y="2399"/>
              <a:ext cx="180" cy="601"/>
            </a:xfrm>
            <a:prstGeom prst="rect">
              <a:avLst/>
            </a:prstGeom>
            <a:solidFill>
              <a:srgbClr val="FF5050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ja-JP" altLang="en-US" sz="1800"/>
            </a:p>
          </p:txBody>
        </p:sp>
        <p:sp>
          <p:nvSpPr>
            <p:cNvPr id="21536" name="Rectangle 36"/>
            <p:cNvSpPr>
              <a:spLocks noChangeArrowheads="1"/>
            </p:cNvSpPr>
            <p:nvPr/>
          </p:nvSpPr>
          <p:spPr bwMode="auto">
            <a:xfrm>
              <a:off x="1554" y="1655"/>
              <a:ext cx="181" cy="1345"/>
            </a:xfrm>
            <a:prstGeom prst="rect">
              <a:avLst/>
            </a:prstGeom>
            <a:solidFill>
              <a:srgbClr val="FF5050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ja-JP" altLang="en-US" sz="1800"/>
            </a:p>
          </p:txBody>
        </p:sp>
        <p:sp>
          <p:nvSpPr>
            <p:cNvPr id="21537" name="Rectangle 37"/>
            <p:cNvSpPr>
              <a:spLocks noChangeArrowheads="1"/>
            </p:cNvSpPr>
            <p:nvPr/>
          </p:nvSpPr>
          <p:spPr bwMode="auto">
            <a:xfrm>
              <a:off x="2653" y="2898"/>
              <a:ext cx="188" cy="102"/>
            </a:xfrm>
            <a:prstGeom prst="rect">
              <a:avLst/>
            </a:prstGeom>
            <a:solidFill>
              <a:srgbClr val="FF5050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ja-JP" altLang="en-US" sz="1800"/>
            </a:p>
          </p:txBody>
        </p:sp>
        <p:sp>
          <p:nvSpPr>
            <p:cNvPr id="21538" name="Rectangle 38"/>
            <p:cNvSpPr>
              <a:spLocks noChangeArrowheads="1"/>
            </p:cNvSpPr>
            <p:nvPr/>
          </p:nvSpPr>
          <p:spPr bwMode="auto">
            <a:xfrm>
              <a:off x="3210" y="2949"/>
              <a:ext cx="181" cy="51"/>
            </a:xfrm>
            <a:prstGeom prst="rect">
              <a:avLst/>
            </a:prstGeom>
            <a:solidFill>
              <a:srgbClr val="FF5050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ja-JP" altLang="en-US" sz="1800"/>
            </a:p>
          </p:txBody>
        </p:sp>
        <p:sp>
          <p:nvSpPr>
            <p:cNvPr id="21539" name="Rectangle 39"/>
            <p:cNvSpPr>
              <a:spLocks noChangeArrowheads="1"/>
            </p:cNvSpPr>
            <p:nvPr/>
          </p:nvSpPr>
          <p:spPr bwMode="auto">
            <a:xfrm>
              <a:off x="3759" y="2949"/>
              <a:ext cx="181" cy="51"/>
            </a:xfrm>
            <a:prstGeom prst="rect">
              <a:avLst/>
            </a:prstGeom>
            <a:solidFill>
              <a:srgbClr val="FF5050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ja-JP" altLang="en-US" sz="1800"/>
            </a:p>
          </p:txBody>
        </p:sp>
        <p:sp>
          <p:nvSpPr>
            <p:cNvPr id="21540" name="Rectangle 40"/>
            <p:cNvSpPr>
              <a:spLocks noChangeArrowheads="1"/>
            </p:cNvSpPr>
            <p:nvPr/>
          </p:nvSpPr>
          <p:spPr bwMode="auto">
            <a:xfrm>
              <a:off x="4309" y="2898"/>
              <a:ext cx="180" cy="102"/>
            </a:xfrm>
            <a:prstGeom prst="rect">
              <a:avLst/>
            </a:prstGeom>
            <a:solidFill>
              <a:srgbClr val="FF5050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ja-JP" altLang="en-US" sz="1800"/>
            </a:p>
          </p:txBody>
        </p:sp>
        <p:sp>
          <p:nvSpPr>
            <p:cNvPr id="21541" name="Rectangle 41"/>
            <p:cNvSpPr>
              <a:spLocks noChangeArrowheads="1"/>
            </p:cNvSpPr>
            <p:nvPr/>
          </p:nvSpPr>
          <p:spPr bwMode="auto">
            <a:xfrm>
              <a:off x="4858" y="2949"/>
              <a:ext cx="180" cy="51"/>
            </a:xfrm>
            <a:prstGeom prst="rect">
              <a:avLst/>
            </a:prstGeom>
            <a:solidFill>
              <a:srgbClr val="FF9900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ja-JP" altLang="en-US" sz="1800"/>
            </a:p>
          </p:txBody>
        </p:sp>
        <p:sp>
          <p:nvSpPr>
            <p:cNvPr id="21542" name="Line 42"/>
            <p:cNvSpPr>
              <a:spLocks noChangeShapeType="1"/>
            </p:cNvSpPr>
            <p:nvPr/>
          </p:nvSpPr>
          <p:spPr bwMode="auto">
            <a:xfrm>
              <a:off x="731" y="1005"/>
              <a:ext cx="0" cy="1995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43" name="Line 43"/>
            <p:cNvSpPr>
              <a:spLocks noChangeShapeType="1"/>
            </p:cNvSpPr>
            <p:nvPr/>
          </p:nvSpPr>
          <p:spPr bwMode="auto">
            <a:xfrm>
              <a:off x="731" y="3000"/>
              <a:ext cx="43" cy="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44" name="Line 44"/>
            <p:cNvSpPr>
              <a:spLocks noChangeShapeType="1"/>
            </p:cNvSpPr>
            <p:nvPr/>
          </p:nvSpPr>
          <p:spPr bwMode="auto">
            <a:xfrm>
              <a:off x="731" y="2501"/>
              <a:ext cx="43" cy="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45" name="Line 45"/>
            <p:cNvSpPr>
              <a:spLocks noChangeShapeType="1"/>
            </p:cNvSpPr>
            <p:nvPr/>
          </p:nvSpPr>
          <p:spPr bwMode="auto">
            <a:xfrm>
              <a:off x="731" y="2002"/>
              <a:ext cx="43" cy="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46" name="Line 46"/>
            <p:cNvSpPr>
              <a:spLocks noChangeShapeType="1"/>
            </p:cNvSpPr>
            <p:nvPr/>
          </p:nvSpPr>
          <p:spPr bwMode="auto">
            <a:xfrm>
              <a:off x="731" y="1503"/>
              <a:ext cx="43" cy="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47" name="Line 47"/>
            <p:cNvSpPr>
              <a:spLocks noChangeShapeType="1"/>
            </p:cNvSpPr>
            <p:nvPr/>
          </p:nvSpPr>
          <p:spPr bwMode="auto">
            <a:xfrm>
              <a:off x="731" y="1005"/>
              <a:ext cx="43" cy="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48" name="Line 48"/>
            <p:cNvSpPr>
              <a:spLocks noChangeShapeType="1"/>
            </p:cNvSpPr>
            <p:nvPr/>
          </p:nvSpPr>
          <p:spPr bwMode="auto">
            <a:xfrm>
              <a:off x="731" y="3000"/>
              <a:ext cx="4401" cy="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49" name="Line 49"/>
            <p:cNvSpPr>
              <a:spLocks noChangeShapeType="1"/>
            </p:cNvSpPr>
            <p:nvPr/>
          </p:nvSpPr>
          <p:spPr bwMode="auto">
            <a:xfrm flipV="1">
              <a:off x="731" y="2974"/>
              <a:ext cx="0" cy="2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50" name="Line 50"/>
            <p:cNvSpPr>
              <a:spLocks noChangeShapeType="1"/>
            </p:cNvSpPr>
            <p:nvPr/>
          </p:nvSpPr>
          <p:spPr bwMode="auto">
            <a:xfrm flipV="1">
              <a:off x="1280" y="2974"/>
              <a:ext cx="0" cy="2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51" name="Line 51"/>
            <p:cNvSpPr>
              <a:spLocks noChangeShapeType="1"/>
            </p:cNvSpPr>
            <p:nvPr/>
          </p:nvSpPr>
          <p:spPr bwMode="auto">
            <a:xfrm flipV="1">
              <a:off x="1829" y="2974"/>
              <a:ext cx="0" cy="2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52" name="Line 52"/>
            <p:cNvSpPr>
              <a:spLocks noChangeShapeType="1"/>
            </p:cNvSpPr>
            <p:nvPr/>
          </p:nvSpPr>
          <p:spPr bwMode="auto">
            <a:xfrm flipV="1">
              <a:off x="2378" y="2974"/>
              <a:ext cx="0" cy="2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53" name="Line 53"/>
            <p:cNvSpPr>
              <a:spLocks noChangeShapeType="1"/>
            </p:cNvSpPr>
            <p:nvPr/>
          </p:nvSpPr>
          <p:spPr bwMode="auto">
            <a:xfrm flipV="1">
              <a:off x="2936" y="2974"/>
              <a:ext cx="0" cy="2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54" name="Line 54"/>
            <p:cNvSpPr>
              <a:spLocks noChangeShapeType="1"/>
            </p:cNvSpPr>
            <p:nvPr/>
          </p:nvSpPr>
          <p:spPr bwMode="auto">
            <a:xfrm flipV="1">
              <a:off x="3485" y="2974"/>
              <a:ext cx="0" cy="2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55" name="Line 55"/>
            <p:cNvSpPr>
              <a:spLocks noChangeShapeType="1"/>
            </p:cNvSpPr>
            <p:nvPr/>
          </p:nvSpPr>
          <p:spPr bwMode="auto">
            <a:xfrm flipV="1">
              <a:off x="4034" y="2974"/>
              <a:ext cx="0" cy="2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56" name="Line 56"/>
            <p:cNvSpPr>
              <a:spLocks noChangeShapeType="1"/>
            </p:cNvSpPr>
            <p:nvPr/>
          </p:nvSpPr>
          <p:spPr bwMode="auto">
            <a:xfrm flipV="1">
              <a:off x="4583" y="2974"/>
              <a:ext cx="0" cy="2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57" name="Line 57"/>
            <p:cNvSpPr>
              <a:spLocks noChangeShapeType="1"/>
            </p:cNvSpPr>
            <p:nvPr/>
          </p:nvSpPr>
          <p:spPr bwMode="auto">
            <a:xfrm flipV="1">
              <a:off x="5132" y="2974"/>
              <a:ext cx="0" cy="2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558" name="Rectangle 58"/>
            <p:cNvSpPr>
              <a:spLocks noChangeArrowheads="1"/>
            </p:cNvSpPr>
            <p:nvPr/>
          </p:nvSpPr>
          <p:spPr bwMode="auto">
            <a:xfrm>
              <a:off x="834" y="928"/>
              <a:ext cx="136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700" b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38</a:t>
              </a:r>
              <a:endParaRPr lang="en-US" altLang="ja-JP" sz="1800"/>
            </a:p>
          </p:txBody>
        </p:sp>
        <p:sp>
          <p:nvSpPr>
            <p:cNvPr id="21559" name="Rectangle 59"/>
            <p:cNvSpPr>
              <a:spLocks noChangeArrowheads="1"/>
            </p:cNvSpPr>
            <p:nvPr/>
          </p:nvSpPr>
          <p:spPr bwMode="auto">
            <a:xfrm>
              <a:off x="1426" y="2822"/>
              <a:ext cx="69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700" b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0</a:t>
              </a:r>
              <a:endParaRPr lang="en-US" altLang="ja-JP" sz="1800">
                <a:solidFill>
                  <a:srgbClr val="000000"/>
                </a:solidFill>
              </a:endParaRPr>
            </a:p>
          </p:txBody>
        </p:sp>
        <p:sp>
          <p:nvSpPr>
            <p:cNvPr id="21560" name="Rectangle 60"/>
            <p:cNvSpPr>
              <a:spLocks noChangeArrowheads="1"/>
            </p:cNvSpPr>
            <p:nvPr/>
          </p:nvSpPr>
          <p:spPr bwMode="auto">
            <a:xfrm>
              <a:off x="1975" y="2526"/>
              <a:ext cx="69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700" b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6</a:t>
              </a:r>
              <a:endParaRPr lang="en-US" altLang="ja-JP" sz="1800"/>
            </a:p>
          </p:txBody>
        </p:sp>
        <p:sp>
          <p:nvSpPr>
            <p:cNvPr id="21561" name="Rectangle 61"/>
            <p:cNvSpPr>
              <a:spLocks noChangeArrowheads="1"/>
            </p:cNvSpPr>
            <p:nvPr/>
          </p:nvSpPr>
          <p:spPr bwMode="auto">
            <a:xfrm>
              <a:off x="2524" y="2670"/>
              <a:ext cx="69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700" b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3</a:t>
              </a:r>
              <a:endParaRPr lang="en-US" altLang="ja-JP" sz="1800"/>
            </a:p>
          </p:txBody>
        </p:sp>
        <p:sp>
          <p:nvSpPr>
            <p:cNvPr id="21562" name="Rectangle 62"/>
            <p:cNvSpPr>
              <a:spLocks noChangeArrowheads="1"/>
            </p:cNvSpPr>
            <p:nvPr/>
          </p:nvSpPr>
          <p:spPr bwMode="auto">
            <a:xfrm>
              <a:off x="3082" y="2721"/>
              <a:ext cx="69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700" b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2</a:t>
              </a:r>
              <a:endParaRPr lang="en-US" altLang="ja-JP" sz="1800"/>
            </a:p>
          </p:txBody>
        </p:sp>
        <p:sp>
          <p:nvSpPr>
            <p:cNvPr id="21563" name="Rectangle 63"/>
            <p:cNvSpPr>
              <a:spLocks noChangeArrowheads="1"/>
            </p:cNvSpPr>
            <p:nvPr/>
          </p:nvSpPr>
          <p:spPr bwMode="auto">
            <a:xfrm>
              <a:off x="3631" y="2721"/>
              <a:ext cx="69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700" b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2</a:t>
              </a:r>
              <a:endParaRPr lang="en-US" altLang="ja-JP" sz="1800"/>
            </a:p>
          </p:txBody>
        </p:sp>
        <p:sp>
          <p:nvSpPr>
            <p:cNvPr id="21564" name="Rectangle 64"/>
            <p:cNvSpPr>
              <a:spLocks noChangeArrowheads="1"/>
            </p:cNvSpPr>
            <p:nvPr/>
          </p:nvSpPr>
          <p:spPr bwMode="auto">
            <a:xfrm>
              <a:off x="4180" y="2771"/>
              <a:ext cx="69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700" b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1</a:t>
              </a:r>
              <a:endParaRPr lang="en-US" altLang="ja-JP" sz="1800"/>
            </a:p>
          </p:txBody>
        </p:sp>
        <p:sp>
          <p:nvSpPr>
            <p:cNvPr id="21565" name="Rectangle 65"/>
            <p:cNvSpPr>
              <a:spLocks noChangeArrowheads="1"/>
            </p:cNvSpPr>
            <p:nvPr/>
          </p:nvSpPr>
          <p:spPr bwMode="auto">
            <a:xfrm>
              <a:off x="4729" y="2771"/>
              <a:ext cx="69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700" b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1</a:t>
              </a:r>
              <a:endParaRPr lang="en-US" altLang="ja-JP" sz="1800"/>
            </a:p>
          </p:txBody>
        </p:sp>
        <p:sp>
          <p:nvSpPr>
            <p:cNvPr id="21566" name="Rectangle 66"/>
            <p:cNvSpPr>
              <a:spLocks noChangeArrowheads="1"/>
            </p:cNvSpPr>
            <p:nvPr/>
          </p:nvSpPr>
          <p:spPr bwMode="auto">
            <a:xfrm>
              <a:off x="1563" y="1478"/>
              <a:ext cx="136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700" b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27</a:t>
              </a:r>
              <a:endParaRPr lang="en-US" altLang="ja-JP" sz="1800"/>
            </a:p>
          </p:txBody>
        </p:sp>
        <p:sp>
          <p:nvSpPr>
            <p:cNvPr id="21567" name="Rectangle 67"/>
            <p:cNvSpPr>
              <a:spLocks noChangeArrowheads="1"/>
            </p:cNvSpPr>
            <p:nvPr/>
          </p:nvSpPr>
          <p:spPr bwMode="auto">
            <a:xfrm>
              <a:off x="2155" y="2822"/>
              <a:ext cx="69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700" b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0</a:t>
              </a:r>
              <a:endParaRPr lang="en-US" altLang="ja-JP" sz="1800">
                <a:solidFill>
                  <a:srgbClr val="000000"/>
                </a:solidFill>
              </a:endParaRPr>
            </a:p>
          </p:txBody>
        </p:sp>
        <p:sp>
          <p:nvSpPr>
            <p:cNvPr id="21568" name="Rectangle 68"/>
            <p:cNvSpPr>
              <a:spLocks noChangeArrowheads="1"/>
            </p:cNvSpPr>
            <p:nvPr/>
          </p:nvSpPr>
          <p:spPr bwMode="auto">
            <a:xfrm>
              <a:off x="2713" y="2721"/>
              <a:ext cx="69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700" b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2</a:t>
              </a:r>
              <a:endParaRPr lang="en-US" altLang="ja-JP" sz="1800"/>
            </a:p>
          </p:txBody>
        </p:sp>
        <p:sp>
          <p:nvSpPr>
            <p:cNvPr id="21569" name="Rectangle 69"/>
            <p:cNvSpPr>
              <a:spLocks noChangeArrowheads="1"/>
            </p:cNvSpPr>
            <p:nvPr/>
          </p:nvSpPr>
          <p:spPr bwMode="auto">
            <a:xfrm>
              <a:off x="3262" y="2771"/>
              <a:ext cx="69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700" b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1</a:t>
              </a:r>
              <a:endParaRPr lang="en-US" altLang="ja-JP" sz="1800"/>
            </a:p>
          </p:txBody>
        </p:sp>
        <p:sp>
          <p:nvSpPr>
            <p:cNvPr id="21570" name="Rectangle 70"/>
            <p:cNvSpPr>
              <a:spLocks noChangeArrowheads="1"/>
            </p:cNvSpPr>
            <p:nvPr/>
          </p:nvSpPr>
          <p:spPr bwMode="auto">
            <a:xfrm>
              <a:off x="3811" y="2771"/>
              <a:ext cx="69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700" b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1</a:t>
              </a:r>
              <a:endParaRPr lang="en-US" altLang="ja-JP" sz="1800"/>
            </a:p>
          </p:txBody>
        </p:sp>
        <p:sp>
          <p:nvSpPr>
            <p:cNvPr id="21571" name="Rectangle 71"/>
            <p:cNvSpPr>
              <a:spLocks noChangeArrowheads="1"/>
            </p:cNvSpPr>
            <p:nvPr/>
          </p:nvSpPr>
          <p:spPr bwMode="auto">
            <a:xfrm>
              <a:off x="4360" y="2721"/>
              <a:ext cx="69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700" b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2</a:t>
              </a:r>
              <a:endParaRPr lang="en-US" altLang="ja-JP" sz="1800"/>
            </a:p>
          </p:txBody>
        </p:sp>
        <p:sp>
          <p:nvSpPr>
            <p:cNvPr id="21572" name="Rectangle 72"/>
            <p:cNvSpPr>
              <a:spLocks noChangeArrowheads="1"/>
            </p:cNvSpPr>
            <p:nvPr/>
          </p:nvSpPr>
          <p:spPr bwMode="auto">
            <a:xfrm>
              <a:off x="4909" y="2771"/>
              <a:ext cx="69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700" b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1</a:t>
              </a:r>
              <a:endParaRPr lang="en-US" altLang="ja-JP" sz="1800"/>
            </a:p>
          </p:txBody>
        </p:sp>
        <p:sp>
          <p:nvSpPr>
            <p:cNvPr id="21573" name="Rectangle 73"/>
            <p:cNvSpPr>
              <a:spLocks noChangeArrowheads="1"/>
            </p:cNvSpPr>
            <p:nvPr/>
          </p:nvSpPr>
          <p:spPr bwMode="auto">
            <a:xfrm>
              <a:off x="1048" y="2222"/>
              <a:ext cx="136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700" b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12</a:t>
              </a:r>
              <a:endParaRPr lang="en-US" altLang="ja-JP" sz="1800"/>
            </a:p>
          </p:txBody>
        </p:sp>
        <p:sp>
          <p:nvSpPr>
            <p:cNvPr id="21574" name="Rectangle 74"/>
            <p:cNvSpPr>
              <a:spLocks noChangeArrowheads="1"/>
            </p:cNvSpPr>
            <p:nvPr/>
          </p:nvSpPr>
          <p:spPr bwMode="auto">
            <a:xfrm>
              <a:off x="533" y="2932"/>
              <a:ext cx="7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800" b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0</a:t>
              </a:r>
              <a:endParaRPr lang="en-US" altLang="ja-JP" sz="1800">
                <a:solidFill>
                  <a:srgbClr val="000000"/>
                </a:solidFill>
              </a:endParaRPr>
            </a:p>
          </p:txBody>
        </p:sp>
        <p:sp>
          <p:nvSpPr>
            <p:cNvPr id="21575" name="Rectangle 75"/>
            <p:cNvSpPr>
              <a:spLocks noChangeArrowheads="1"/>
            </p:cNvSpPr>
            <p:nvPr/>
          </p:nvSpPr>
          <p:spPr bwMode="auto">
            <a:xfrm>
              <a:off x="448" y="2433"/>
              <a:ext cx="14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800" b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10</a:t>
              </a:r>
              <a:endParaRPr lang="en-US" altLang="ja-JP" sz="1800"/>
            </a:p>
          </p:txBody>
        </p:sp>
        <p:sp>
          <p:nvSpPr>
            <p:cNvPr id="21576" name="Rectangle 76"/>
            <p:cNvSpPr>
              <a:spLocks noChangeArrowheads="1"/>
            </p:cNvSpPr>
            <p:nvPr/>
          </p:nvSpPr>
          <p:spPr bwMode="auto">
            <a:xfrm>
              <a:off x="448" y="1934"/>
              <a:ext cx="14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800" b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20</a:t>
              </a:r>
              <a:endParaRPr lang="en-US" altLang="ja-JP" sz="1800"/>
            </a:p>
          </p:txBody>
        </p:sp>
        <p:sp>
          <p:nvSpPr>
            <p:cNvPr id="21577" name="Rectangle 77"/>
            <p:cNvSpPr>
              <a:spLocks noChangeArrowheads="1"/>
            </p:cNvSpPr>
            <p:nvPr/>
          </p:nvSpPr>
          <p:spPr bwMode="auto">
            <a:xfrm>
              <a:off x="448" y="1436"/>
              <a:ext cx="14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800" b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30</a:t>
              </a:r>
              <a:endParaRPr lang="en-US" altLang="ja-JP" sz="1800"/>
            </a:p>
          </p:txBody>
        </p:sp>
        <p:sp>
          <p:nvSpPr>
            <p:cNvPr id="21578" name="Rectangle 78"/>
            <p:cNvSpPr>
              <a:spLocks noChangeArrowheads="1"/>
            </p:cNvSpPr>
            <p:nvPr/>
          </p:nvSpPr>
          <p:spPr bwMode="auto">
            <a:xfrm>
              <a:off x="448" y="937"/>
              <a:ext cx="14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800" b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40</a:t>
              </a:r>
              <a:endParaRPr lang="en-US" altLang="ja-JP" sz="1800"/>
            </a:p>
          </p:txBody>
        </p:sp>
        <p:sp>
          <p:nvSpPr>
            <p:cNvPr id="21579" name="Rectangle 87"/>
            <p:cNvSpPr>
              <a:spLocks noChangeArrowheads="1"/>
            </p:cNvSpPr>
            <p:nvPr/>
          </p:nvSpPr>
          <p:spPr bwMode="auto">
            <a:xfrm rot="-5400000">
              <a:off x="1" y="1870"/>
              <a:ext cx="44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ja-JP" altLang="en-US" sz="2800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人数</a:t>
              </a:r>
              <a:endParaRPr lang="ja-JP" altLang="en-US" sz="2800"/>
            </a:p>
          </p:txBody>
        </p:sp>
        <p:sp>
          <p:nvSpPr>
            <p:cNvPr id="21580" name="Rectangle 88"/>
            <p:cNvSpPr>
              <a:spLocks noChangeArrowheads="1"/>
            </p:cNvSpPr>
            <p:nvPr/>
          </p:nvSpPr>
          <p:spPr bwMode="auto">
            <a:xfrm>
              <a:off x="4275" y="1256"/>
              <a:ext cx="798" cy="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ja-JP" altLang="en-US" sz="1800"/>
            </a:p>
          </p:txBody>
        </p:sp>
        <p:sp>
          <p:nvSpPr>
            <p:cNvPr id="21581" name="Rectangle 89"/>
            <p:cNvSpPr>
              <a:spLocks noChangeArrowheads="1"/>
            </p:cNvSpPr>
            <p:nvPr/>
          </p:nvSpPr>
          <p:spPr bwMode="auto">
            <a:xfrm>
              <a:off x="4344" y="1357"/>
              <a:ext cx="146" cy="144"/>
            </a:xfrm>
            <a:prstGeom prst="rect">
              <a:avLst/>
            </a:prstGeom>
            <a:solidFill>
              <a:srgbClr val="0000FF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ja-JP" altLang="en-US" sz="1800"/>
            </a:p>
          </p:txBody>
        </p:sp>
        <p:sp>
          <p:nvSpPr>
            <p:cNvPr id="21582" name="Rectangle 90"/>
            <p:cNvSpPr>
              <a:spLocks noChangeArrowheads="1"/>
            </p:cNvSpPr>
            <p:nvPr/>
          </p:nvSpPr>
          <p:spPr bwMode="auto">
            <a:xfrm>
              <a:off x="4558" y="1315"/>
              <a:ext cx="46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ja-JP" altLang="en-US" sz="2900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男性</a:t>
              </a:r>
              <a:endParaRPr lang="ja-JP" altLang="en-US" sz="1800"/>
            </a:p>
          </p:txBody>
        </p:sp>
        <p:sp>
          <p:nvSpPr>
            <p:cNvPr id="21583" name="Rectangle 91"/>
            <p:cNvSpPr>
              <a:spLocks noChangeArrowheads="1"/>
            </p:cNvSpPr>
            <p:nvPr/>
          </p:nvSpPr>
          <p:spPr bwMode="auto">
            <a:xfrm>
              <a:off x="4344" y="1653"/>
              <a:ext cx="146" cy="144"/>
            </a:xfrm>
            <a:prstGeom prst="rect">
              <a:avLst/>
            </a:prstGeom>
            <a:solidFill>
              <a:srgbClr val="FF5050"/>
            </a:solidFill>
            <a:ln w="14288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ja-JP" altLang="en-US" sz="1800"/>
            </a:p>
          </p:txBody>
        </p:sp>
        <p:sp>
          <p:nvSpPr>
            <p:cNvPr id="21584" name="Rectangle 92"/>
            <p:cNvSpPr>
              <a:spLocks noChangeArrowheads="1"/>
            </p:cNvSpPr>
            <p:nvPr/>
          </p:nvSpPr>
          <p:spPr bwMode="auto">
            <a:xfrm>
              <a:off x="4558" y="1611"/>
              <a:ext cx="464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ja-JP" altLang="en-US" sz="2900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女性</a:t>
              </a:r>
              <a:endParaRPr lang="ja-JP" altLang="en-US" sz="1800"/>
            </a:p>
          </p:txBody>
        </p:sp>
      </p:grpSp>
      <p:sp>
        <p:nvSpPr>
          <p:cNvPr id="211038" name="AutoShape 94"/>
          <p:cNvSpPr>
            <a:spLocks noChangeArrowheads="1"/>
          </p:cNvSpPr>
          <p:nvPr/>
        </p:nvSpPr>
        <p:spPr bwMode="auto">
          <a:xfrm>
            <a:off x="107950" y="5697538"/>
            <a:ext cx="5759450" cy="47783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ja-JP" altLang="en-US" sz="2400" b="1">
                <a:solidFill>
                  <a:srgbClr val="0000FF"/>
                </a:solidFill>
              </a:rPr>
              <a:t>男性の最もショックだった被害：泥棒・盗難</a:t>
            </a:r>
          </a:p>
        </p:txBody>
      </p:sp>
      <p:sp>
        <p:nvSpPr>
          <p:cNvPr id="211040" name="Rectangle 96" descr="ブーケ"/>
          <p:cNvSpPr>
            <a:spLocks noChangeArrowheads="1"/>
          </p:cNvSpPr>
          <p:nvPr/>
        </p:nvSpPr>
        <p:spPr bwMode="auto">
          <a:xfrm>
            <a:off x="1781175" y="1128713"/>
            <a:ext cx="5527675" cy="608012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 w="28575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n-US" b="1">
                <a:solidFill>
                  <a:srgbClr val="000000"/>
                </a:solidFill>
              </a:rPr>
              <a:t>犯罪被害の内容と男女別人数</a:t>
            </a:r>
          </a:p>
        </p:txBody>
      </p:sp>
      <p:sp>
        <p:nvSpPr>
          <p:cNvPr id="211045" name="Rectangle 101" descr="ブーケ"/>
          <p:cNvSpPr>
            <a:spLocks noChangeArrowheads="1"/>
          </p:cNvSpPr>
          <p:nvPr/>
        </p:nvSpPr>
        <p:spPr bwMode="auto">
          <a:xfrm>
            <a:off x="687388" y="188913"/>
            <a:ext cx="7772400" cy="863600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 w="38100">
            <a:solidFill>
              <a:srgbClr val="FAF3E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n-US" sz="4400" b="1">
                <a:solidFill>
                  <a:srgbClr val="000000"/>
                </a:solidFill>
                <a:latin typeface="Times New Roman" panose="02020603050405020304" pitchFamily="18" charset="0"/>
              </a:rPr>
              <a:t>結果と考察</a:t>
            </a:r>
          </a:p>
        </p:txBody>
      </p:sp>
      <p:sp>
        <p:nvSpPr>
          <p:cNvPr id="211048" name="AutoShape 104"/>
          <p:cNvSpPr>
            <a:spLocks noChangeArrowheads="1"/>
          </p:cNvSpPr>
          <p:nvPr/>
        </p:nvSpPr>
        <p:spPr bwMode="auto">
          <a:xfrm>
            <a:off x="107950" y="6273800"/>
            <a:ext cx="5759450" cy="46831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FF505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ja-JP" altLang="en-US" sz="2400" b="1">
                <a:solidFill>
                  <a:srgbClr val="FF5050"/>
                </a:solidFill>
              </a:rPr>
              <a:t>女性の最もショックだった被害：痴漢</a:t>
            </a:r>
          </a:p>
        </p:txBody>
      </p:sp>
      <p:grpSp>
        <p:nvGrpSpPr>
          <p:cNvPr id="211060" name="Group 116"/>
          <p:cNvGrpSpPr>
            <a:grpSpLocks/>
          </p:cNvGrpSpPr>
          <p:nvPr/>
        </p:nvGrpSpPr>
        <p:grpSpPr bwMode="auto">
          <a:xfrm>
            <a:off x="6084888" y="6273800"/>
            <a:ext cx="2951162" cy="468313"/>
            <a:chOff x="3833" y="3952"/>
            <a:chExt cx="1859" cy="295"/>
          </a:xfrm>
        </p:grpSpPr>
        <p:sp>
          <p:nvSpPr>
            <p:cNvPr id="21516" name="Rectangle 109"/>
            <p:cNvSpPr>
              <a:spLocks noChangeArrowheads="1"/>
            </p:cNvSpPr>
            <p:nvPr/>
          </p:nvSpPr>
          <p:spPr bwMode="auto">
            <a:xfrm>
              <a:off x="4150" y="3952"/>
              <a:ext cx="1542" cy="295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ja-JP" altLang="en-US" sz="2400" b="1">
                  <a:solidFill>
                    <a:schemeClr val="accent1"/>
                  </a:solidFill>
                </a:rPr>
                <a:t>主に身体的被害</a:t>
              </a:r>
            </a:p>
          </p:txBody>
        </p:sp>
        <p:sp>
          <p:nvSpPr>
            <p:cNvPr id="21517" name="AutoShape 112"/>
            <p:cNvSpPr>
              <a:spLocks noChangeArrowheads="1"/>
            </p:cNvSpPr>
            <p:nvPr/>
          </p:nvSpPr>
          <p:spPr bwMode="auto">
            <a:xfrm>
              <a:off x="3833" y="3952"/>
              <a:ext cx="204" cy="295"/>
            </a:xfrm>
            <a:prstGeom prst="rightArrow">
              <a:avLst>
                <a:gd name="adj1" fmla="val 50204"/>
                <a:gd name="adj2" fmla="val 54412"/>
              </a:avLst>
            </a:prstGeom>
            <a:solidFill>
              <a:srgbClr val="FF0000"/>
            </a:solidFill>
            <a:ln w="2857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ja-JP" altLang="ja-JP" sz="1800">
                <a:solidFill>
                  <a:srgbClr val="0000FF"/>
                </a:solidFill>
              </a:endParaRPr>
            </a:p>
          </p:txBody>
        </p:sp>
      </p:grpSp>
      <p:grpSp>
        <p:nvGrpSpPr>
          <p:cNvPr id="211059" name="Group 115"/>
          <p:cNvGrpSpPr>
            <a:grpSpLocks/>
          </p:cNvGrpSpPr>
          <p:nvPr/>
        </p:nvGrpSpPr>
        <p:grpSpPr bwMode="auto">
          <a:xfrm>
            <a:off x="6084888" y="5702300"/>
            <a:ext cx="2951162" cy="468313"/>
            <a:chOff x="3833" y="3592"/>
            <a:chExt cx="1859" cy="295"/>
          </a:xfrm>
        </p:grpSpPr>
        <p:sp>
          <p:nvSpPr>
            <p:cNvPr id="21514" name="AutoShape 111"/>
            <p:cNvSpPr>
              <a:spLocks noChangeArrowheads="1"/>
            </p:cNvSpPr>
            <p:nvPr/>
          </p:nvSpPr>
          <p:spPr bwMode="auto">
            <a:xfrm>
              <a:off x="3833" y="3592"/>
              <a:ext cx="204" cy="295"/>
            </a:xfrm>
            <a:prstGeom prst="rightArrow">
              <a:avLst>
                <a:gd name="adj1" fmla="val 50204"/>
                <a:gd name="adj2" fmla="val 54412"/>
              </a:avLst>
            </a:prstGeom>
            <a:solidFill>
              <a:srgbClr val="FF0000"/>
            </a:solidFill>
            <a:ln w="2857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ja-JP" altLang="ja-JP" sz="1800">
                <a:solidFill>
                  <a:srgbClr val="0000FF"/>
                </a:solidFill>
              </a:endParaRPr>
            </a:p>
          </p:txBody>
        </p:sp>
        <p:sp>
          <p:nvSpPr>
            <p:cNvPr id="21515" name="Rectangle 113"/>
            <p:cNvSpPr>
              <a:spLocks noChangeArrowheads="1"/>
            </p:cNvSpPr>
            <p:nvPr/>
          </p:nvSpPr>
          <p:spPr bwMode="auto">
            <a:xfrm>
              <a:off x="4150" y="3592"/>
              <a:ext cx="1542" cy="295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ja-JP" altLang="en-US" sz="2400" b="1">
                  <a:solidFill>
                    <a:schemeClr val="accent1"/>
                  </a:solidFill>
                </a:rPr>
                <a:t>主に金銭的被害</a:t>
              </a:r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1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038" grpId="0" animBg="1"/>
      <p:bldP spid="211040" grpId="0" animBg="1"/>
      <p:bldP spid="211045" grpId="0" animBg="1"/>
      <p:bldP spid="21104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スライド番号プレースホルダー 8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FBC5B18-69C3-4EFC-9FC2-A998230DC081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ja-JP" sz="1400"/>
          </a:p>
        </p:txBody>
      </p:sp>
      <p:sp>
        <p:nvSpPr>
          <p:cNvPr id="213000" name="Rectangle 8" descr="ブーケ"/>
          <p:cNvSpPr>
            <a:spLocks noChangeArrowheads="1"/>
          </p:cNvSpPr>
          <p:nvPr/>
        </p:nvSpPr>
        <p:spPr bwMode="auto">
          <a:xfrm>
            <a:off x="1439863" y="228600"/>
            <a:ext cx="6264275" cy="608013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 w="28575">
            <a:solidFill>
              <a:srgbClr val="FFFF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n-US" b="1">
                <a:solidFill>
                  <a:srgbClr val="000000"/>
                </a:solidFill>
                <a:latin typeface="ＭＳ Ｐゴシック" panose="020B0600070205080204" pitchFamily="50" charset="-128"/>
              </a:rPr>
              <a:t>警察への届出と性別に及ぼす影響</a:t>
            </a:r>
          </a:p>
        </p:txBody>
      </p:sp>
      <p:grpSp>
        <p:nvGrpSpPr>
          <p:cNvPr id="213124" name="Group 132"/>
          <p:cNvGrpSpPr>
            <a:grpSpLocks/>
          </p:cNvGrpSpPr>
          <p:nvPr/>
        </p:nvGrpSpPr>
        <p:grpSpPr bwMode="auto">
          <a:xfrm>
            <a:off x="144463" y="5768975"/>
            <a:ext cx="8891587" cy="1008063"/>
            <a:chOff x="91" y="3634"/>
            <a:chExt cx="5601" cy="635"/>
          </a:xfrm>
        </p:grpSpPr>
        <p:sp>
          <p:nvSpPr>
            <p:cNvPr id="23589" name="AutoShape 99"/>
            <p:cNvSpPr>
              <a:spLocks noChangeArrowheads="1"/>
            </p:cNvSpPr>
            <p:nvPr/>
          </p:nvSpPr>
          <p:spPr bwMode="auto">
            <a:xfrm>
              <a:off x="91" y="3725"/>
              <a:ext cx="408" cy="431"/>
            </a:xfrm>
            <a:prstGeom prst="rightArrow">
              <a:avLst>
                <a:gd name="adj1" fmla="val 50204"/>
                <a:gd name="adj2" fmla="val 54412"/>
              </a:avLst>
            </a:prstGeom>
            <a:solidFill>
              <a:srgbClr val="FF0000"/>
            </a:solidFill>
            <a:ln w="2857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ja-JP" altLang="ja-JP" sz="1800">
                <a:solidFill>
                  <a:srgbClr val="0000FF"/>
                </a:solidFill>
                <a:latin typeface="ＭＳ Ｐゴシック" panose="020B0600070205080204" pitchFamily="50" charset="-128"/>
              </a:endParaRPr>
            </a:p>
          </p:txBody>
        </p:sp>
        <p:sp>
          <p:nvSpPr>
            <p:cNvPr id="23590" name="Rectangle 100"/>
            <p:cNvSpPr>
              <a:spLocks noChangeArrowheads="1"/>
            </p:cNvSpPr>
            <p:nvPr/>
          </p:nvSpPr>
          <p:spPr bwMode="auto">
            <a:xfrm>
              <a:off x="612" y="3634"/>
              <a:ext cx="5080" cy="635"/>
            </a:xfrm>
            <a:prstGeom prst="rect">
              <a:avLst/>
            </a:prstGeom>
            <a:solidFill>
              <a:srgbClr val="FF0000"/>
            </a:solidFill>
            <a:ln w="2857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ja-JP" altLang="en-US" sz="2800">
                  <a:solidFill>
                    <a:schemeClr val="bg1"/>
                  </a:solidFill>
                  <a:latin typeface="ＭＳ Ｐゴシック" panose="020B0600070205080204" pitchFamily="50" charset="-128"/>
                </a:rPr>
                <a:t>周りの人や警察がきちんと話を聞いてくれるかどうか</a:t>
              </a:r>
              <a:br>
                <a:rPr lang="ja-JP" altLang="en-US" sz="2800">
                  <a:solidFill>
                    <a:schemeClr val="bg1"/>
                  </a:solidFill>
                  <a:latin typeface="ＭＳ Ｐゴシック" panose="020B0600070205080204" pitchFamily="50" charset="-128"/>
                </a:rPr>
              </a:br>
              <a:r>
                <a:rPr lang="ja-JP" altLang="en-US" sz="2800">
                  <a:solidFill>
                    <a:schemeClr val="bg1"/>
                  </a:solidFill>
                  <a:latin typeface="ＭＳ Ｐゴシック" panose="020B0600070205080204" pitchFamily="50" charset="-128"/>
                </a:rPr>
                <a:t>心配している可能性あり</a:t>
              </a:r>
              <a:endParaRPr lang="ja-JP" altLang="en-US" sz="2800" b="1">
                <a:solidFill>
                  <a:schemeClr val="accent1"/>
                </a:solidFill>
                <a:latin typeface="ＭＳ Ｐゴシック" panose="020B0600070205080204" pitchFamily="50" charset="-128"/>
              </a:endParaRPr>
            </a:p>
          </p:txBody>
        </p:sp>
      </p:grpSp>
      <p:sp>
        <p:nvSpPr>
          <p:cNvPr id="213097" name="Rectangle 105"/>
          <p:cNvSpPr>
            <a:spLocks noChangeArrowheads="1"/>
          </p:cNvSpPr>
          <p:nvPr/>
        </p:nvSpPr>
        <p:spPr bwMode="auto">
          <a:xfrm>
            <a:off x="107950" y="4329113"/>
            <a:ext cx="8928100" cy="13668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457200" algn="l"/>
              </a:tabLst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800100" indent="-285750">
              <a:spcBef>
                <a:spcPct val="20000"/>
              </a:spcBef>
              <a:buChar char="–"/>
              <a:tabLst>
                <a:tab pos="457200" algn="l"/>
              </a:tabLst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</a:tabLs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</a:tabLs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</a:tabLs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lnSpc>
                <a:spcPct val="90000"/>
              </a:lnSpc>
              <a:buClr>
                <a:schemeClr val="tx2"/>
              </a:buClr>
              <a:buSzPct val="60000"/>
              <a:buFontTx/>
              <a:buBlip>
                <a:blip r:embed="rId5"/>
              </a:buBlip>
            </a:pPr>
            <a:r>
              <a:rPr lang="ja-JP" altLang="en-US" sz="2800">
                <a:solidFill>
                  <a:srgbClr val="000000"/>
                </a:solidFill>
                <a:latin typeface="ＭＳ Ｐゴシック" panose="020B0600070205080204" pitchFamily="50" charset="-128"/>
              </a:rPr>
              <a:t>被害者の</a:t>
            </a:r>
            <a:r>
              <a:rPr lang="en-US" altLang="ja-JP" sz="2800">
                <a:solidFill>
                  <a:srgbClr val="0000FF"/>
                </a:solidFill>
                <a:latin typeface="ＭＳ Ｐゴシック" panose="020B0600070205080204" pitchFamily="50" charset="-128"/>
              </a:rPr>
              <a:t>80%</a:t>
            </a:r>
            <a:r>
              <a:rPr lang="ja-JP" altLang="en-US" sz="2800">
                <a:solidFill>
                  <a:srgbClr val="0000FF"/>
                </a:solidFill>
                <a:latin typeface="ＭＳ Ｐゴシック" panose="020B0600070205080204" pitchFamily="50" charset="-128"/>
              </a:rPr>
              <a:t>は，警察に被害届をださない</a:t>
            </a:r>
            <a:r>
              <a:rPr lang="ja-JP" altLang="en-US" sz="2800">
                <a:solidFill>
                  <a:srgbClr val="000000"/>
                </a:solidFill>
                <a:latin typeface="ＭＳ Ｐゴシック" panose="020B0600070205080204" pitchFamily="50" charset="-128"/>
              </a:rPr>
              <a:t>傾向あり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  <a:buSzPct val="60000"/>
              <a:buFontTx/>
              <a:buBlip>
                <a:blip r:embed="rId5"/>
              </a:buBlip>
            </a:pPr>
            <a:r>
              <a:rPr lang="ja-JP" altLang="en-US" sz="2800">
                <a:solidFill>
                  <a:srgbClr val="000000"/>
                </a:solidFill>
                <a:latin typeface="ＭＳ Ｐゴシック" panose="020B0600070205080204" pitchFamily="50" charset="-128"/>
              </a:rPr>
              <a:t>女性で，警察に届け出ないひとは，</a:t>
            </a:r>
            <a:br>
              <a:rPr lang="ja-JP" altLang="en-US" sz="2800">
                <a:solidFill>
                  <a:srgbClr val="000000"/>
                </a:solidFill>
                <a:latin typeface="ＭＳ Ｐゴシック" panose="020B0600070205080204" pitchFamily="50" charset="-128"/>
              </a:rPr>
            </a:br>
            <a:r>
              <a:rPr lang="ja-JP" altLang="en-US" sz="2800">
                <a:solidFill>
                  <a:srgbClr val="000000"/>
                </a:solidFill>
                <a:latin typeface="ＭＳ Ｐゴシック" panose="020B0600070205080204" pitchFamily="50" charset="-128"/>
              </a:rPr>
              <a:t>　</a:t>
            </a:r>
            <a:r>
              <a:rPr lang="ja-JP" altLang="en-US" sz="2800">
                <a:solidFill>
                  <a:srgbClr val="0000FF"/>
                </a:solidFill>
                <a:latin typeface="ＭＳ Ｐゴシック" panose="020B0600070205080204" pitchFamily="50" charset="-128"/>
              </a:rPr>
              <a:t>自分の気持ちを理解してもらっていない</a:t>
            </a:r>
            <a:r>
              <a:rPr lang="ja-JP" altLang="en-US" sz="2800">
                <a:solidFill>
                  <a:srgbClr val="000000"/>
                </a:solidFill>
                <a:latin typeface="ＭＳ Ｐゴシック" panose="020B0600070205080204" pitchFamily="50" charset="-128"/>
              </a:rPr>
              <a:t>傾向が高い</a:t>
            </a:r>
          </a:p>
        </p:txBody>
      </p:sp>
      <p:grpSp>
        <p:nvGrpSpPr>
          <p:cNvPr id="213122" name="Group 130"/>
          <p:cNvGrpSpPr>
            <a:grpSpLocks/>
          </p:cNvGrpSpPr>
          <p:nvPr/>
        </p:nvGrpSpPr>
        <p:grpSpPr bwMode="auto">
          <a:xfrm>
            <a:off x="1187450" y="850900"/>
            <a:ext cx="6948488" cy="3441700"/>
            <a:chOff x="998" y="568"/>
            <a:chExt cx="4377" cy="1955"/>
          </a:xfrm>
        </p:grpSpPr>
        <p:sp>
          <p:nvSpPr>
            <p:cNvPr id="23559" name="AutoShape 69"/>
            <p:cNvSpPr>
              <a:spLocks noChangeAspect="1" noChangeArrowheads="1" noTextEdit="1"/>
            </p:cNvSpPr>
            <p:nvPr/>
          </p:nvSpPr>
          <p:spPr bwMode="auto">
            <a:xfrm>
              <a:off x="1632" y="568"/>
              <a:ext cx="2160" cy="1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3560" name="Rectangle 71"/>
            <p:cNvSpPr>
              <a:spLocks noChangeArrowheads="1"/>
            </p:cNvSpPr>
            <p:nvPr/>
          </p:nvSpPr>
          <p:spPr bwMode="auto">
            <a:xfrm>
              <a:off x="998" y="598"/>
              <a:ext cx="4377" cy="19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ja-JP" altLang="ja-JP" sz="1800"/>
            </a:p>
          </p:txBody>
        </p:sp>
        <p:sp>
          <p:nvSpPr>
            <p:cNvPr id="23561" name="Rectangle 90"/>
            <p:cNvSpPr>
              <a:spLocks noChangeArrowheads="1"/>
            </p:cNvSpPr>
            <p:nvPr/>
          </p:nvSpPr>
          <p:spPr bwMode="auto">
            <a:xfrm>
              <a:off x="2177" y="2217"/>
              <a:ext cx="743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ja-JP" altLang="en-US" sz="2400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届けた人</a:t>
              </a:r>
              <a:endParaRPr lang="ja-JP" altLang="en-US" sz="2400">
                <a:latin typeface="ＭＳ Ｐゴシック" panose="020B0600070205080204" pitchFamily="50" charset="-128"/>
              </a:endParaRPr>
            </a:p>
          </p:txBody>
        </p:sp>
        <p:sp>
          <p:nvSpPr>
            <p:cNvPr id="23562" name="Rectangle 91"/>
            <p:cNvSpPr>
              <a:spLocks noChangeArrowheads="1"/>
            </p:cNvSpPr>
            <p:nvPr/>
          </p:nvSpPr>
          <p:spPr bwMode="auto">
            <a:xfrm>
              <a:off x="3097" y="2217"/>
              <a:ext cx="1436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ja-JP" altLang="en-US" sz="2400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届けてなかった人</a:t>
              </a:r>
              <a:endParaRPr lang="ja-JP" altLang="en-US" sz="2400">
                <a:latin typeface="ＭＳ Ｐゴシック" panose="020B0600070205080204" pitchFamily="50" charset="-128"/>
              </a:endParaRPr>
            </a:p>
          </p:txBody>
        </p:sp>
        <p:sp>
          <p:nvSpPr>
            <p:cNvPr id="23563" name="Rectangle 92"/>
            <p:cNvSpPr>
              <a:spLocks noChangeArrowheads="1"/>
            </p:cNvSpPr>
            <p:nvPr/>
          </p:nvSpPr>
          <p:spPr bwMode="auto">
            <a:xfrm rot="-5400000">
              <a:off x="793" y="1315"/>
              <a:ext cx="1413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ja-JP" altLang="en-US" sz="2400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自分の気持ちを</a:t>
              </a:r>
              <a:br>
                <a:rPr lang="ja-JP" altLang="en-US" sz="2400">
                  <a:solidFill>
                    <a:srgbClr val="000000"/>
                  </a:solidFill>
                  <a:latin typeface="ＭＳ Ｐゴシック" panose="020B0600070205080204" pitchFamily="50" charset="-128"/>
                </a:rPr>
              </a:br>
              <a:r>
                <a:rPr lang="ja-JP" altLang="en-US" sz="2400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理解してほしかった</a:t>
              </a:r>
              <a:endParaRPr lang="ja-JP" altLang="en-US" sz="2400">
                <a:latin typeface="ＭＳ Ｐゴシック" panose="020B0600070205080204" pitchFamily="50" charset="-128"/>
              </a:endParaRPr>
            </a:p>
          </p:txBody>
        </p:sp>
        <p:sp>
          <p:nvSpPr>
            <p:cNvPr id="23564" name="Rectangle 94"/>
            <p:cNvSpPr>
              <a:spLocks noChangeArrowheads="1"/>
            </p:cNvSpPr>
            <p:nvPr/>
          </p:nvSpPr>
          <p:spPr bwMode="auto">
            <a:xfrm>
              <a:off x="4493" y="1256"/>
              <a:ext cx="134" cy="132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ja-JP" altLang="en-US" sz="1800"/>
            </a:p>
          </p:txBody>
        </p:sp>
        <p:sp>
          <p:nvSpPr>
            <p:cNvPr id="23565" name="Rectangle 95"/>
            <p:cNvSpPr>
              <a:spLocks noChangeArrowheads="1"/>
            </p:cNvSpPr>
            <p:nvPr/>
          </p:nvSpPr>
          <p:spPr bwMode="auto">
            <a:xfrm>
              <a:off x="4677" y="1205"/>
              <a:ext cx="290" cy="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ja-JP" altLang="en-US" sz="1800" b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男性</a:t>
              </a:r>
              <a:endParaRPr lang="ja-JP" altLang="en-US" sz="2400">
                <a:latin typeface="ＭＳ Ｐゴシック" panose="020B0600070205080204" pitchFamily="50" charset="-128"/>
              </a:endParaRPr>
            </a:p>
          </p:txBody>
        </p:sp>
        <p:sp>
          <p:nvSpPr>
            <p:cNvPr id="23566" name="Rectangle 96"/>
            <p:cNvSpPr>
              <a:spLocks noChangeArrowheads="1"/>
            </p:cNvSpPr>
            <p:nvPr/>
          </p:nvSpPr>
          <p:spPr bwMode="auto">
            <a:xfrm>
              <a:off x="4491" y="1502"/>
              <a:ext cx="133" cy="133"/>
            </a:xfrm>
            <a:prstGeom prst="rect">
              <a:avLst/>
            </a:prstGeom>
            <a:solidFill>
              <a:srgbClr val="FF505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ja-JP" altLang="en-US" sz="1800"/>
            </a:p>
          </p:txBody>
        </p:sp>
        <p:sp>
          <p:nvSpPr>
            <p:cNvPr id="23567" name="Rectangle 97"/>
            <p:cNvSpPr>
              <a:spLocks noChangeArrowheads="1"/>
            </p:cNvSpPr>
            <p:nvPr/>
          </p:nvSpPr>
          <p:spPr bwMode="auto">
            <a:xfrm>
              <a:off x="4677" y="1465"/>
              <a:ext cx="290" cy="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ja-JP" altLang="en-US" sz="1800" b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女性</a:t>
              </a:r>
              <a:endParaRPr lang="ja-JP" altLang="en-US" sz="2400">
                <a:latin typeface="ＭＳ Ｐゴシック" panose="020B0600070205080204" pitchFamily="50" charset="-128"/>
              </a:endParaRPr>
            </a:p>
          </p:txBody>
        </p:sp>
        <p:sp>
          <p:nvSpPr>
            <p:cNvPr id="23568" name="Text Box 98"/>
            <p:cNvSpPr txBox="1">
              <a:spLocks noChangeArrowheads="1"/>
            </p:cNvSpPr>
            <p:nvPr/>
          </p:nvSpPr>
          <p:spPr bwMode="auto">
            <a:xfrm>
              <a:off x="4150" y="646"/>
              <a:ext cx="1210" cy="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ja-JP" altLang="en-US" sz="1400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性別と届出の交互作用</a:t>
              </a:r>
              <a:br>
                <a:rPr lang="ja-JP" altLang="en-US" sz="1400">
                  <a:solidFill>
                    <a:srgbClr val="000000"/>
                  </a:solidFill>
                  <a:latin typeface="ＭＳ Ｐゴシック" panose="020B0600070205080204" pitchFamily="50" charset="-128"/>
                </a:rPr>
              </a:br>
              <a:r>
                <a:rPr lang="ja-JP" altLang="en-US" sz="1400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（</a:t>
              </a:r>
              <a:r>
                <a:rPr lang="en-US" altLang="ja-JP" sz="1400" i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F</a:t>
              </a:r>
              <a:r>
                <a:rPr lang="en-US" altLang="ja-JP" sz="1400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(1,98)=5.93, </a:t>
              </a:r>
              <a:r>
                <a:rPr lang="en-US" altLang="ja-JP" sz="1400" i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p</a:t>
              </a:r>
              <a:r>
                <a:rPr lang="en-US" altLang="ja-JP" sz="1400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=.017</a:t>
              </a:r>
              <a:r>
                <a:rPr lang="ja-JP" altLang="en-US" sz="1400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）</a:t>
              </a:r>
            </a:p>
          </p:txBody>
        </p:sp>
        <p:sp>
          <p:nvSpPr>
            <p:cNvPr id="23569" name="Rectangle 106"/>
            <p:cNvSpPr>
              <a:spLocks noChangeArrowheads="1"/>
            </p:cNvSpPr>
            <p:nvPr/>
          </p:nvSpPr>
          <p:spPr bwMode="auto">
            <a:xfrm>
              <a:off x="2171" y="1484"/>
              <a:ext cx="420" cy="646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ja-JP" altLang="en-US" sz="1800"/>
            </a:p>
          </p:txBody>
        </p:sp>
        <p:sp>
          <p:nvSpPr>
            <p:cNvPr id="23570" name="Rectangle 107"/>
            <p:cNvSpPr>
              <a:spLocks noChangeArrowheads="1"/>
            </p:cNvSpPr>
            <p:nvPr/>
          </p:nvSpPr>
          <p:spPr bwMode="auto">
            <a:xfrm>
              <a:off x="3211" y="1699"/>
              <a:ext cx="422" cy="431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ja-JP" altLang="en-US" sz="1800"/>
            </a:p>
          </p:txBody>
        </p:sp>
        <p:sp>
          <p:nvSpPr>
            <p:cNvPr id="23571" name="Rectangle 108"/>
            <p:cNvSpPr>
              <a:spLocks noChangeArrowheads="1"/>
            </p:cNvSpPr>
            <p:nvPr/>
          </p:nvSpPr>
          <p:spPr bwMode="auto">
            <a:xfrm>
              <a:off x="2585" y="1603"/>
              <a:ext cx="420" cy="527"/>
            </a:xfrm>
            <a:prstGeom prst="rect">
              <a:avLst/>
            </a:prstGeom>
            <a:solidFill>
              <a:srgbClr val="FF505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ja-JP" altLang="en-US" sz="1800"/>
            </a:p>
          </p:txBody>
        </p:sp>
        <p:sp>
          <p:nvSpPr>
            <p:cNvPr id="23572" name="Rectangle 109"/>
            <p:cNvSpPr>
              <a:spLocks noChangeArrowheads="1"/>
            </p:cNvSpPr>
            <p:nvPr/>
          </p:nvSpPr>
          <p:spPr bwMode="auto">
            <a:xfrm>
              <a:off x="3626" y="1158"/>
              <a:ext cx="420" cy="972"/>
            </a:xfrm>
            <a:prstGeom prst="rect">
              <a:avLst/>
            </a:prstGeom>
            <a:solidFill>
              <a:srgbClr val="FF505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ja-JP" altLang="en-US" sz="1800"/>
            </a:p>
          </p:txBody>
        </p:sp>
        <p:sp>
          <p:nvSpPr>
            <p:cNvPr id="23573" name="Freeform 110"/>
            <p:cNvSpPr>
              <a:spLocks/>
            </p:cNvSpPr>
            <p:nvPr/>
          </p:nvSpPr>
          <p:spPr bwMode="auto">
            <a:xfrm>
              <a:off x="2009" y="724"/>
              <a:ext cx="30" cy="1406"/>
            </a:xfrm>
            <a:custGeom>
              <a:avLst/>
              <a:gdLst>
                <a:gd name="T0" fmla="*/ 0 w 5"/>
                <a:gd name="T1" fmla="*/ 0 h 235"/>
                <a:gd name="T2" fmla="*/ 0 w 5"/>
                <a:gd name="T3" fmla="*/ 2147483646 h 235"/>
                <a:gd name="T4" fmla="*/ 2147483646 w 5"/>
                <a:gd name="T5" fmla="*/ 2147483646 h 2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235">
                  <a:moveTo>
                    <a:pt x="0" y="0"/>
                  </a:moveTo>
                  <a:lnTo>
                    <a:pt x="0" y="235"/>
                  </a:lnTo>
                  <a:lnTo>
                    <a:pt x="5" y="235"/>
                  </a:lnTo>
                </a:path>
              </a:pathLst>
            </a:custGeom>
            <a:noFill/>
            <a:ln w="3810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3574" name="Line 111"/>
            <p:cNvSpPr>
              <a:spLocks noChangeShapeType="1"/>
            </p:cNvSpPr>
            <p:nvPr/>
          </p:nvSpPr>
          <p:spPr bwMode="auto">
            <a:xfrm>
              <a:off x="2009" y="1777"/>
              <a:ext cx="3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3575" name="Line 112"/>
            <p:cNvSpPr>
              <a:spLocks noChangeShapeType="1"/>
            </p:cNvSpPr>
            <p:nvPr/>
          </p:nvSpPr>
          <p:spPr bwMode="auto">
            <a:xfrm>
              <a:off x="2009" y="1430"/>
              <a:ext cx="3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3576" name="Line 113"/>
            <p:cNvSpPr>
              <a:spLocks noChangeShapeType="1"/>
            </p:cNvSpPr>
            <p:nvPr/>
          </p:nvSpPr>
          <p:spPr bwMode="auto">
            <a:xfrm>
              <a:off x="2009" y="1077"/>
              <a:ext cx="3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3577" name="Line 114"/>
            <p:cNvSpPr>
              <a:spLocks noChangeShapeType="1"/>
            </p:cNvSpPr>
            <p:nvPr/>
          </p:nvSpPr>
          <p:spPr bwMode="auto">
            <a:xfrm>
              <a:off x="2009" y="724"/>
              <a:ext cx="3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3578" name="Line 115"/>
            <p:cNvSpPr>
              <a:spLocks noChangeShapeType="1"/>
            </p:cNvSpPr>
            <p:nvPr/>
          </p:nvSpPr>
          <p:spPr bwMode="auto">
            <a:xfrm>
              <a:off x="2009" y="2130"/>
              <a:ext cx="205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3579" name="Line 116"/>
            <p:cNvSpPr>
              <a:spLocks noChangeShapeType="1"/>
            </p:cNvSpPr>
            <p:nvPr/>
          </p:nvSpPr>
          <p:spPr bwMode="auto">
            <a:xfrm flipV="1">
              <a:off x="2009" y="2094"/>
              <a:ext cx="0" cy="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3580" name="Rectangle 119"/>
            <p:cNvSpPr>
              <a:spLocks noChangeArrowheads="1"/>
            </p:cNvSpPr>
            <p:nvPr/>
          </p:nvSpPr>
          <p:spPr bwMode="auto">
            <a:xfrm>
              <a:off x="1861" y="2008"/>
              <a:ext cx="73" cy="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800" b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1</a:t>
              </a:r>
              <a:endParaRPr lang="en-US" altLang="ja-JP" sz="1800">
                <a:latin typeface="ＭＳ Ｐゴシック" panose="020B0600070205080204" pitchFamily="50" charset="-128"/>
              </a:endParaRPr>
            </a:p>
          </p:txBody>
        </p:sp>
        <p:sp>
          <p:nvSpPr>
            <p:cNvPr id="23581" name="Rectangle 120"/>
            <p:cNvSpPr>
              <a:spLocks noChangeArrowheads="1"/>
            </p:cNvSpPr>
            <p:nvPr/>
          </p:nvSpPr>
          <p:spPr bwMode="auto">
            <a:xfrm>
              <a:off x="1861" y="1655"/>
              <a:ext cx="73" cy="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800" b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2</a:t>
              </a:r>
              <a:endParaRPr lang="en-US" altLang="ja-JP" sz="1800">
                <a:latin typeface="ＭＳ Ｐゴシック" panose="020B0600070205080204" pitchFamily="50" charset="-128"/>
              </a:endParaRPr>
            </a:p>
          </p:txBody>
        </p:sp>
        <p:sp>
          <p:nvSpPr>
            <p:cNvPr id="23582" name="Rectangle 121"/>
            <p:cNvSpPr>
              <a:spLocks noChangeArrowheads="1"/>
            </p:cNvSpPr>
            <p:nvPr/>
          </p:nvSpPr>
          <p:spPr bwMode="auto">
            <a:xfrm>
              <a:off x="1861" y="1308"/>
              <a:ext cx="73" cy="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800" b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3</a:t>
              </a:r>
              <a:endParaRPr lang="en-US" altLang="ja-JP" sz="1800">
                <a:latin typeface="ＭＳ Ｐゴシック" panose="020B0600070205080204" pitchFamily="50" charset="-128"/>
              </a:endParaRPr>
            </a:p>
          </p:txBody>
        </p:sp>
        <p:sp>
          <p:nvSpPr>
            <p:cNvPr id="23583" name="Rectangle 122"/>
            <p:cNvSpPr>
              <a:spLocks noChangeArrowheads="1"/>
            </p:cNvSpPr>
            <p:nvPr/>
          </p:nvSpPr>
          <p:spPr bwMode="auto">
            <a:xfrm>
              <a:off x="1861" y="955"/>
              <a:ext cx="73" cy="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800" b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4</a:t>
              </a:r>
              <a:endParaRPr lang="en-US" altLang="ja-JP" sz="1800">
                <a:latin typeface="ＭＳ Ｐゴシック" panose="020B0600070205080204" pitchFamily="50" charset="-128"/>
              </a:endParaRPr>
            </a:p>
          </p:txBody>
        </p:sp>
        <p:sp>
          <p:nvSpPr>
            <p:cNvPr id="23584" name="Rectangle 123"/>
            <p:cNvSpPr>
              <a:spLocks noChangeArrowheads="1"/>
            </p:cNvSpPr>
            <p:nvPr/>
          </p:nvSpPr>
          <p:spPr bwMode="auto">
            <a:xfrm>
              <a:off x="1861" y="602"/>
              <a:ext cx="73" cy="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800" b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5</a:t>
              </a:r>
              <a:endParaRPr lang="en-US" altLang="ja-JP" sz="1800">
                <a:latin typeface="ＭＳ Ｐゴシック" panose="020B0600070205080204" pitchFamily="50" charset="-128"/>
              </a:endParaRPr>
            </a:p>
          </p:txBody>
        </p:sp>
        <p:sp>
          <p:nvSpPr>
            <p:cNvPr id="23585" name="Text Box 126"/>
            <p:cNvSpPr txBox="1">
              <a:spLocks noChangeArrowheads="1"/>
            </p:cNvSpPr>
            <p:nvPr/>
          </p:nvSpPr>
          <p:spPr bwMode="auto">
            <a:xfrm>
              <a:off x="2607" y="1370"/>
              <a:ext cx="376" cy="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800" i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n</a:t>
              </a:r>
              <a:r>
                <a:rPr lang="en-US" altLang="ja-JP" sz="1800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 =6</a:t>
              </a:r>
            </a:p>
          </p:txBody>
        </p:sp>
        <p:sp>
          <p:nvSpPr>
            <p:cNvPr id="23586" name="Text Box 127"/>
            <p:cNvSpPr txBox="1">
              <a:spLocks noChangeArrowheads="1"/>
            </p:cNvSpPr>
            <p:nvPr/>
          </p:nvSpPr>
          <p:spPr bwMode="auto">
            <a:xfrm>
              <a:off x="2105" y="1202"/>
              <a:ext cx="448" cy="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800" i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n</a:t>
              </a:r>
              <a:r>
                <a:rPr lang="en-US" altLang="ja-JP" sz="1800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 =14</a:t>
              </a:r>
            </a:p>
          </p:txBody>
        </p:sp>
        <p:sp>
          <p:nvSpPr>
            <p:cNvPr id="23587" name="Text Box 128"/>
            <p:cNvSpPr txBox="1">
              <a:spLocks noChangeArrowheads="1"/>
            </p:cNvSpPr>
            <p:nvPr/>
          </p:nvSpPr>
          <p:spPr bwMode="auto">
            <a:xfrm>
              <a:off x="3155" y="1457"/>
              <a:ext cx="448" cy="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800" i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n</a:t>
              </a:r>
              <a:r>
                <a:rPr lang="en-US" altLang="ja-JP" sz="1800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 =44</a:t>
              </a:r>
            </a:p>
          </p:txBody>
        </p:sp>
        <p:sp>
          <p:nvSpPr>
            <p:cNvPr id="23588" name="Text Box 129"/>
            <p:cNvSpPr txBox="1">
              <a:spLocks noChangeArrowheads="1"/>
            </p:cNvSpPr>
            <p:nvPr/>
          </p:nvSpPr>
          <p:spPr bwMode="auto">
            <a:xfrm>
              <a:off x="3598" y="884"/>
              <a:ext cx="448" cy="2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800" i="1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n</a:t>
              </a:r>
              <a:r>
                <a:rPr lang="en-US" altLang="ja-JP" sz="1800">
                  <a:solidFill>
                    <a:srgbClr val="000000"/>
                  </a:solidFill>
                  <a:latin typeface="ＭＳ Ｐゴシック" panose="020B0600070205080204" pitchFamily="50" charset="-128"/>
                </a:rPr>
                <a:t> =40</a:t>
              </a:r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1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9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13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000" grpId="0" animBg="1"/>
      <p:bldP spid="213097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AF15C3-E3BA-4599-AAA7-6BF2969D1592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ja-JP" sz="1400"/>
          </a:p>
        </p:txBody>
      </p:sp>
      <p:sp>
        <p:nvSpPr>
          <p:cNvPr id="252931" name="Rectangle 3" descr="ブーケ"/>
          <p:cNvSpPr>
            <a:spLocks noChangeArrowheads="1"/>
          </p:cNvSpPr>
          <p:nvPr/>
        </p:nvSpPr>
        <p:spPr bwMode="auto">
          <a:xfrm>
            <a:off x="1776413" y="331788"/>
            <a:ext cx="5545137" cy="936625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38100">
            <a:solidFill>
              <a:srgbClr val="FAF3E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n-US" sz="4400" b="1">
                <a:solidFill>
                  <a:srgbClr val="000000"/>
                </a:solidFill>
                <a:latin typeface="Times New Roman" panose="02020603050405020304" pitchFamily="18" charset="0"/>
              </a:rPr>
              <a:t>まとめ</a:t>
            </a:r>
          </a:p>
        </p:txBody>
      </p:sp>
      <p:sp>
        <p:nvSpPr>
          <p:cNvPr id="252932" name="Rectangle 4"/>
          <p:cNvSpPr>
            <a:spLocks noChangeArrowheads="1"/>
          </p:cNvSpPr>
          <p:nvPr/>
        </p:nvSpPr>
        <p:spPr bwMode="auto">
          <a:xfrm>
            <a:off x="107950" y="1520825"/>
            <a:ext cx="8928100" cy="2413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buClr>
                <a:schemeClr val="tx2"/>
              </a:buClr>
              <a:buSzPct val="60000"/>
              <a:buFontTx/>
              <a:buBlip>
                <a:blip r:embed="rId4"/>
              </a:buBlip>
            </a:pPr>
            <a:r>
              <a:rPr lang="ja-JP" altLang="en-US">
                <a:solidFill>
                  <a:srgbClr val="0000FF"/>
                </a:solidFill>
                <a:latin typeface="ＭＳ Ｐゴシック" panose="020B0600070205080204" pitchFamily="50" charset="-128"/>
              </a:rPr>
              <a:t>最もショックだった犯罪被害の内容</a:t>
            </a:r>
          </a:p>
          <a:p>
            <a:pPr lvl="1" eaLnBrk="1" hangingPunct="1">
              <a:buClr>
                <a:schemeClr val="tx2"/>
              </a:buClr>
              <a:buSzPct val="40000"/>
              <a:buFontTx/>
              <a:buBlip>
                <a:blip r:embed="rId4"/>
              </a:buBlip>
            </a:pPr>
            <a:r>
              <a:rPr lang="ja-JP" altLang="en-US">
                <a:solidFill>
                  <a:srgbClr val="000000"/>
                </a:solidFill>
                <a:latin typeface="ＭＳ Ｐゴシック" panose="020B0600070205080204" pitchFamily="50" charset="-128"/>
              </a:rPr>
              <a:t>男性：金銭的被害　女性：身体的被害</a:t>
            </a:r>
          </a:p>
          <a:p>
            <a:pPr eaLnBrk="1" hangingPunct="1">
              <a:buClr>
                <a:schemeClr val="tx2"/>
              </a:buClr>
              <a:buSzPct val="60000"/>
              <a:buFontTx/>
              <a:buBlip>
                <a:blip r:embed="rId4"/>
              </a:buBlip>
            </a:pPr>
            <a:r>
              <a:rPr lang="ja-JP" altLang="en-US">
                <a:solidFill>
                  <a:srgbClr val="0000FF"/>
                </a:solidFill>
                <a:latin typeface="ＭＳ Ｐゴシック" panose="020B0600070205080204" pitchFamily="50" charset="-128"/>
              </a:rPr>
              <a:t>警察へ被害を届出するかどうか</a:t>
            </a:r>
          </a:p>
          <a:p>
            <a:pPr lvl="1" eaLnBrk="1" hangingPunct="1">
              <a:buClr>
                <a:schemeClr val="tx2"/>
              </a:buClr>
              <a:buSzPct val="40000"/>
              <a:buFontTx/>
              <a:buBlip>
                <a:blip r:embed="rId4"/>
              </a:buBlip>
            </a:pPr>
            <a:r>
              <a:rPr lang="ja-JP" altLang="en-US">
                <a:solidFill>
                  <a:srgbClr val="FF0000"/>
                </a:solidFill>
                <a:latin typeface="ＭＳ Ｐゴシック" panose="020B0600070205080204" pitchFamily="50" charset="-128"/>
              </a:rPr>
              <a:t>警察がきちんと話を聞いてくれるかどうかが重要かも</a:t>
            </a:r>
          </a:p>
        </p:txBody>
      </p:sp>
      <p:sp>
        <p:nvSpPr>
          <p:cNvPr id="252942" name="Rectangle 14" descr="ブーケ"/>
          <p:cNvSpPr>
            <a:spLocks noChangeArrowheads="1"/>
          </p:cNvSpPr>
          <p:nvPr/>
        </p:nvSpPr>
        <p:spPr bwMode="auto">
          <a:xfrm>
            <a:off x="1776413" y="4184650"/>
            <a:ext cx="5545137" cy="936625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38100">
            <a:solidFill>
              <a:srgbClr val="FAF3E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n-US" sz="4400" b="1">
                <a:solidFill>
                  <a:srgbClr val="000000"/>
                </a:solidFill>
                <a:latin typeface="Times New Roman" panose="02020603050405020304" pitchFamily="18" charset="0"/>
              </a:rPr>
              <a:t>今後の課題</a:t>
            </a:r>
          </a:p>
        </p:txBody>
      </p:sp>
      <p:sp>
        <p:nvSpPr>
          <p:cNvPr id="252943" name="Rectangle 15"/>
          <p:cNvSpPr>
            <a:spLocks noChangeArrowheads="1"/>
          </p:cNvSpPr>
          <p:nvPr/>
        </p:nvSpPr>
        <p:spPr bwMode="auto">
          <a:xfrm>
            <a:off x="107950" y="5300663"/>
            <a:ext cx="8928100" cy="12604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lnSpc>
                <a:spcPct val="115000"/>
              </a:lnSpc>
              <a:buClr>
                <a:schemeClr val="tx2"/>
              </a:buClr>
              <a:buSzPct val="60000"/>
              <a:buFontTx/>
              <a:buBlip>
                <a:blip r:embed="rId4"/>
              </a:buBlip>
            </a:pPr>
            <a:r>
              <a:rPr lang="ja-JP" altLang="en-US">
                <a:solidFill>
                  <a:srgbClr val="0000FF"/>
                </a:solidFill>
                <a:latin typeface="ＭＳ Ｐゴシック" panose="020B0600070205080204" pitchFamily="50" charset="-128"/>
              </a:rPr>
              <a:t>サンプル数を増やし，追跡調査をすることにより</a:t>
            </a:r>
            <a:br>
              <a:rPr lang="ja-JP" altLang="en-US">
                <a:solidFill>
                  <a:srgbClr val="0000FF"/>
                </a:solidFill>
                <a:latin typeface="ＭＳ Ｐゴシック" panose="020B0600070205080204" pitchFamily="50" charset="-128"/>
              </a:rPr>
            </a:br>
            <a:r>
              <a:rPr lang="ja-JP" altLang="en-US">
                <a:solidFill>
                  <a:srgbClr val="0000FF"/>
                </a:solidFill>
                <a:latin typeface="ＭＳ Ｐゴシック" panose="020B0600070205080204" pitchFamily="50" charset="-128"/>
              </a:rPr>
              <a:t>本研究の結果を一般化させる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1" grpId="0" animBg="1"/>
      <p:bldP spid="252932" grpId="0" build="p" bldLvl="2" animBg="1"/>
      <p:bldP spid="252942" grpId="0" animBg="1"/>
      <p:bldP spid="25294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5B324C-53DA-488D-8655-7EFEE7F261F0}" type="slidenum">
              <a:rPr lang="en-US" altLang="ja-JP" sz="14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ja-JP" sz="140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" y="1125538"/>
            <a:ext cx="8928100" cy="5616575"/>
          </a:xfrm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</a:pPr>
            <a:r>
              <a:rPr lang="ja-JP" altLang="en-US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法務省法務総合研究所（編著）　</a:t>
            </a:r>
            <a:r>
              <a:rPr lang="en-US" altLang="ja-JP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(2006).</a:t>
            </a:r>
            <a:r>
              <a:rPr lang="ja-JP" altLang="en-US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　</a:t>
            </a:r>
            <a:br>
              <a:rPr lang="ja-JP" altLang="en-US" sz="2000">
                <a:solidFill>
                  <a:srgbClr val="000000"/>
                </a:solidFill>
                <a:latin typeface="ＭＳ Ｐゴシック" panose="020B0600070205080204" pitchFamily="50" charset="-128"/>
              </a:rPr>
            </a:br>
            <a:r>
              <a:rPr lang="ja-JP" altLang="en-US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犯罪白書（平成</a:t>
            </a:r>
            <a:r>
              <a:rPr lang="en-US" altLang="ja-JP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18</a:t>
            </a:r>
            <a:r>
              <a:rPr lang="ja-JP" altLang="en-US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年版）－刑事政策の新たな潮流－　国立印刷局</a:t>
            </a:r>
          </a:p>
          <a:p>
            <a:pPr>
              <a:lnSpc>
                <a:spcPct val="90000"/>
              </a:lnSpc>
            </a:pPr>
            <a:r>
              <a:rPr lang="ja-JP" altLang="en-US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加藤司　</a:t>
            </a:r>
            <a:r>
              <a:rPr lang="en-US" altLang="ja-JP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(2001).</a:t>
            </a:r>
            <a:r>
              <a:rPr lang="ja-JP" altLang="en-US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　コーピングの柔軟性と抑うつ傾向との関係</a:t>
            </a:r>
            <a:br>
              <a:rPr lang="ja-JP" altLang="en-US" sz="2000">
                <a:solidFill>
                  <a:srgbClr val="000000"/>
                </a:solidFill>
                <a:latin typeface="ＭＳ Ｐゴシック" panose="020B0600070205080204" pitchFamily="50" charset="-128"/>
              </a:rPr>
            </a:br>
            <a:r>
              <a:rPr lang="ja-JP" altLang="en-US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心理学研究，</a:t>
            </a:r>
            <a:r>
              <a:rPr lang="en-US" altLang="ja-JP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72</a:t>
            </a:r>
            <a:r>
              <a:rPr lang="ja-JP" altLang="en-US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，</a:t>
            </a:r>
            <a:r>
              <a:rPr lang="en-US" altLang="ja-JP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57-6</a:t>
            </a:r>
            <a:r>
              <a:rPr lang="ja-JP" altLang="en-US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．</a:t>
            </a:r>
          </a:p>
          <a:p>
            <a:pPr>
              <a:lnSpc>
                <a:spcPct val="90000"/>
              </a:lnSpc>
            </a:pPr>
            <a:r>
              <a:rPr lang="ja-JP" altLang="en-US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小西聖子　</a:t>
            </a:r>
            <a:r>
              <a:rPr lang="en-US" altLang="ja-JP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(1996).</a:t>
            </a:r>
            <a:r>
              <a:rPr lang="ja-JP" altLang="en-US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　犯罪被害者の心の傷　白水社</a:t>
            </a:r>
          </a:p>
          <a:p>
            <a:pPr>
              <a:lnSpc>
                <a:spcPct val="90000"/>
              </a:lnSpc>
            </a:pPr>
            <a:r>
              <a:rPr lang="ja-JP" altLang="en-US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中島聡美　</a:t>
            </a:r>
            <a:r>
              <a:rPr lang="en-US" altLang="ja-JP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(1999).</a:t>
            </a:r>
            <a:r>
              <a:rPr lang="ja-JP" altLang="en-US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　打ちのめされた心を抱えて</a:t>
            </a:r>
            <a:br>
              <a:rPr lang="ja-JP" altLang="en-US" sz="2000">
                <a:solidFill>
                  <a:srgbClr val="000000"/>
                </a:solidFill>
                <a:latin typeface="ＭＳ Ｐゴシック" panose="020B0600070205080204" pitchFamily="50" charset="-128"/>
              </a:rPr>
            </a:br>
            <a:r>
              <a:rPr lang="ja-JP" altLang="en-US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（諸澤英道（編者）　トラウマから回復するために）　講談社，</a:t>
            </a:r>
            <a:r>
              <a:rPr lang="en-US" altLang="ja-JP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43-71</a:t>
            </a:r>
            <a:r>
              <a:rPr lang="ja-JP" altLang="en-US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．</a:t>
            </a:r>
          </a:p>
          <a:p>
            <a:pPr>
              <a:lnSpc>
                <a:spcPct val="90000"/>
              </a:lnSpc>
            </a:pPr>
            <a:r>
              <a:rPr lang="ja-JP" altLang="en-US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大和田攝子　</a:t>
            </a:r>
            <a:r>
              <a:rPr lang="en-US" altLang="ja-JP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(2003). </a:t>
            </a:r>
            <a:br>
              <a:rPr lang="en-US" altLang="ja-JP" sz="2000">
                <a:solidFill>
                  <a:srgbClr val="000000"/>
                </a:solidFill>
                <a:latin typeface="ＭＳ Ｐゴシック" panose="020B0600070205080204" pitchFamily="50" charset="-128"/>
              </a:rPr>
            </a:br>
            <a:r>
              <a:rPr lang="ja-JP" altLang="en-US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犯罪被害者遺族の心理と支援に関する研究　風間書房</a:t>
            </a:r>
            <a:r>
              <a:rPr lang="en-US" altLang="ja-JP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ja-JP" altLang="en-US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リチャード Ｓ．ラザルス，スーザン・フォルクマン　</a:t>
            </a:r>
            <a:r>
              <a:rPr lang="en-US" altLang="ja-JP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(1991).</a:t>
            </a:r>
            <a:br>
              <a:rPr lang="en-US" altLang="ja-JP" sz="2000">
                <a:solidFill>
                  <a:srgbClr val="000000"/>
                </a:solidFill>
                <a:latin typeface="ＭＳ Ｐゴシック" panose="020B0600070205080204" pitchFamily="50" charset="-128"/>
              </a:rPr>
            </a:br>
            <a:r>
              <a:rPr lang="ja-JP" altLang="en-US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（本明寛，春木豊，織田正美監訳）　</a:t>
            </a:r>
            <a:br>
              <a:rPr lang="ja-JP" altLang="en-US" sz="2000">
                <a:solidFill>
                  <a:srgbClr val="000000"/>
                </a:solidFill>
                <a:latin typeface="ＭＳ Ｐゴシック" panose="020B0600070205080204" pitchFamily="50" charset="-128"/>
              </a:rPr>
            </a:br>
            <a:r>
              <a:rPr lang="ja-JP" altLang="en-US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ストレスの心理学：認知的評価と対処の研究，実務教育出版 </a:t>
            </a:r>
          </a:p>
          <a:p>
            <a:pPr>
              <a:lnSpc>
                <a:spcPct val="90000"/>
              </a:lnSpc>
            </a:pPr>
            <a:r>
              <a:rPr lang="en-US" altLang="ja-JP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Ueichi, H., &amp; Oishi, M. (2008). </a:t>
            </a:r>
            <a:br>
              <a:rPr lang="en-US" altLang="ja-JP" sz="2000">
                <a:solidFill>
                  <a:srgbClr val="000000"/>
                </a:solidFill>
                <a:latin typeface="ＭＳ Ｐゴシック" panose="020B0600070205080204" pitchFamily="50" charset="-128"/>
              </a:rPr>
            </a:br>
            <a:r>
              <a:rPr lang="en-US" altLang="ja-JP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The effects of coping methods on guilt over a period of time, </a:t>
            </a:r>
            <a:br>
              <a:rPr lang="en-US" altLang="ja-JP" sz="2000">
                <a:solidFill>
                  <a:srgbClr val="000000"/>
                </a:solidFill>
                <a:latin typeface="ＭＳ Ｐゴシック" panose="020B0600070205080204" pitchFamily="50" charset="-128"/>
              </a:rPr>
            </a:br>
            <a:r>
              <a:rPr lang="en-US" altLang="ja-JP" sz="2000" i="1">
                <a:solidFill>
                  <a:srgbClr val="000000"/>
                </a:solidFill>
                <a:latin typeface="ＭＳ Ｐゴシック" panose="020B0600070205080204" pitchFamily="50" charset="-128"/>
              </a:rPr>
              <a:t>International Journal of Psychology Abstracts of the 29th International Congress of Psychology (ICP2008)(Berlin), </a:t>
            </a:r>
            <a:r>
              <a:rPr lang="en-US" altLang="ja-JP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43(3/4), 340</a:t>
            </a:r>
          </a:p>
          <a:p>
            <a:pPr>
              <a:lnSpc>
                <a:spcPct val="90000"/>
              </a:lnSpc>
            </a:pPr>
            <a:r>
              <a:rPr lang="ja-JP" altLang="en-US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上市秀雄･楠見孝　</a:t>
            </a:r>
            <a:r>
              <a:rPr lang="en-US" altLang="ja-JP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2004</a:t>
            </a:r>
            <a:r>
              <a:rPr lang="ja-JP" altLang="en-US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　後悔の時間的変化と対処方法：</a:t>
            </a:r>
            <a:br>
              <a:rPr lang="ja-JP" altLang="en-US" sz="2000">
                <a:solidFill>
                  <a:srgbClr val="000000"/>
                </a:solidFill>
                <a:latin typeface="ＭＳ Ｐゴシック" panose="020B0600070205080204" pitchFamily="50" charset="-128"/>
              </a:rPr>
            </a:br>
            <a:r>
              <a:rPr lang="ja-JP" altLang="en-US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意思決定スタイルと行動選択とのとの関連性　心理学研究</a:t>
            </a:r>
            <a:r>
              <a:rPr lang="en-US" altLang="ja-JP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, 74(6)</a:t>
            </a:r>
            <a:r>
              <a:rPr lang="ja-JP" altLang="en-US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，</a:t>
            </a:r>
            <a:r>
              <a:rPr lang="en-US" altLang="ja-JP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487-495</a:t>
            </a:r>
            <a:r>
              <a:rPr lang="ja-JP" altLang="en-US" sz="2000">
                <a:solidFill>
                  <a:srgbClr val="000000"/>
                </a:solidFill>
                <a:latin typeface="ＭＳ Ｐゴシック" panose="020B0600070205080204" pitchFamily="50" charset="-128"/>
              </a:rPr>
              <a:t>．</a:t>
            </a:r>
          </a:p>
        </p:txBody>
      </p:sp>
      <p:sp>
        <p:nvSpPr>
          <p:cNvPr id="26628" name="Rectangle 4" descr="ブーケ"/>
          <p:cNvSpPr>
            <a:spLocks noChangeArrowheads="1"/>
          </p:cNvSpPr>
          <p:nvPr/>
        </p:nvSpPr>
        <p:spPr bwMode="auto">
          <a:xfrm>
            <a:off x="1776413" y="187325"/>
            <a:ext cx="5545137" cy="72072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38100">
            <a:solidFill>
              <a:srgbClr val="FAF3EA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n-US" sz="4400" b="1">
                <a:solidFill>
                  <a:srgbClr val="000000"/>
                </a:solidFill>
                <a:latin typeface="Times New Roman" panose="02020603050405020304" pitchFamily="18" charset="0"/>
              </a:rPr>
              <a:t>参考文献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|0.8|2.4|1.3|2.3|4.9|1.8|4.6|3.9|0.4|5.5|5|7.6|1.1|1.9|13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1.2|2.5|16.9|7.2|1.1|6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6|3.4|6.2|2.5|1.5|3.3|1.7|1.7|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1.3|0.7|3|24.2|15.7|1.1|6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6|2|3.8|4.8|0.5|1.5|0.9|7.1|0.9|0.7|1.7|2.5|12.3|0.6|2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|4.3|14|6.1|8.2|5.3|4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5|4.3|14|6.1|8.2|5.3|4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2.8|0.4|4.6|7.3|1|1.2|4.1|5.9|4|6.2|4.3|2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2.6|5.2|10.3|4.7|2.3|4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5.4|3.4|0.5|8.7|10.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6|1.1|3.3|5.4|3.6|7.7|2.2"/>
</p:tagLst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1492</TotalTime>
  <Words>1214</Words>
  <Application>Microsoft Office PowerPoint</Application>
  <PresentationFormat>画面に合わせる (4:3)</PresentationFormat>
  <Paragraphs>228</Paragraphs>
  <Slides>13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ＭＳ Ｐゴシック</vt:lpstr>
      <vt:lpstr>ＭＳ Ｐ明朝</vt:lpstr>
      <vt:lpstr>Arial</vt:lpstr>
      <vt:lpstr>Times New Roman</vt:lpstr>
      <vt:lpstr>標準デザイン</vt:lpstr>
      <vt:lpstr>スライドの作り方（簡易版）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大学生の犯罪被害内容と 被害届提出に影響を及ぼす要因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Universty of Tsukuba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調査の進め方 の覚書</dc:title>
  <dc:creator>Hideo UEICHI</dc:creator>
  <cp:lastModifiedBy>上市秀雄</cp:lastModifiedBy>
  <cp:revision>115</cp:revision>
  <cp:lastPrinted>2020-05-14T01:59:13Z</cp:lastPrinted>
  <dcterms:created xsi:type="dcterms:W3CDTF">2012-05-23T05:46:10Z</dcterms:created>
  <dcterms:modified xsi:type="dcterms:W3CDTF">2023-06-15T08:48:24Z</dcterms:modified>
</cp:coreProperties>
</file>